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6" r:id="rId10"/>
    <p:sldId id="268" r:id="rId11"/>
    <p:sldId id="269" r:id="rId12"/>
    <p:sldId id="272" r:id="rId13"/>
    <p:sldId id="273" r:id="rId14"/>
    <p:sldId id="274" r:id="rId15"/>
    <p:sldId id="275" r:id="rId16"/>
    <p:sldId id="276" r:id="rId17"/>
    <p:sldId id="277" r:id="rId18"/>
    <p:sldId id="278" r:id="rId19"/>
    <p:sldId id="279" r:id="rId20"/>
    <p:sldId id="280" r:id="rId21"/>
    <p:sldId id="283"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ibkdqsFq0gPN4eXy6EWbqT153w8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91D911-3024-4AA0-82C0-92344250AFFB}">
  <a:tblStyle styleId="{BB91D911-3024-4AA0-82C0-92344250AFFB}"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558"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2" name="Google Shape;122;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9" name="Google Shape;319;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7" name="Google Shape;327;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5" name="Google Shape;33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3314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2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2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3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3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3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3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3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10;コンテンツ" type="objTx">
  <p:cSld name="OBJECT_WITH_CAPTION_TEXT">
    <p:spTree>
      <p:nvGrpSpPr>
        <p:cNvPr id="1" name="Shape 54"/>
        <p:cNvGrpSpPr/>
        <p:nvPr/>
      </p:nvGrpSpPr>
      <p:grpSpPr>
        <a:xfrm>
          <a:off x="0" y="0"/>
          <a:ext cx="0" cy="0"/>
          <a:chOff x="0" y="0"/>
          <a:chExt cx="0" cy="0"/>
        </a:xfrm>
      </p:grpSpPr>
      <p:sp>
        <p:nvSpPr>
          <p:cNvPr id="55" name="Google Shape;55;p3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3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5"/>
          <p:cNvSpPr>
            <a:spLocks noGrp="1"/>
          </p:cNvSpPr>
          <p:nvPr>
            <p:ph type="pic" idx="2"/>
          </p:nvPr>
        </p:nvSpPr>
        <p:spPr>
          <a:xfrm>
            <a:off x="1792288" y="612775"/>
            <a:ext cx="5486400" cy="4114800"/>
          </a:xfrm>
          <a:prstGeom prst="rect">
            <a:avLst/>
          </a:prstGeom>
          <a:noFill/>
          <a:ln>
            <a:noFill/>
          </a:ln>
        </p:spPr>
      </p:sp>
      <p:sp>
        <p:nvSpPr>
          <p:cNvPr id="64" name="Google Shape;64;p3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10;縦書きテキスト" type="vertTx">
  <p:cSld name="VERTICAL_TEXT">
    <p:spTree>
      <p:nvGrpSpPr>
        <p:cNvPr id="1" name="Shape 68"/>
        <p:cNvGrpSpPr/>
        <p:nvPr/>
      </p:nvGrpSpPr>
      <p:grpSpPr>
        <a:xfrm>
          <a:off x="0" y="0"/>
          <a:ext cx="0" cy="0"/>
          <a:chOff x="0" y="0"/>
          <a:chExt cx="0" cy="0"/>
        </a:xfrm>
      </p:grpSpPr>
      <p:sp>
        <p:nvSpPr>
          <p:cNvPr id="69" name="Google Shape;69;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3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image" Target="../media/image8.emf"/></Relationships>
</file>

<file path=ppt/slides/_rels/slide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899592" y="692696"/>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WebプログラミングII最終課題</a:t>
            </a:r>
            <a:endParaRPr/>
          </a:p>
        </p:txBody>
      </p:sp>
      <p:sp>
        <p:nvSpPr>
          <p:cNvPr id="85" name="Google Shape;85;p1"/>
          <p:cNvSpPr txBox="1">
            <a:spLocks noGrp="1"/>
          </p:cNvSpPr>
          <p:nvPr>
            <p:ph type="subTitle" idx="1"/>
          </p:nvPr>
        </p:nvSpPr>
        <p:spPr>
          <a:xfrm>
            <a:off x="1259632" y="4509120"/>
            <a:ext cx="6400800" cy="1752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888888"/>
              </a:buClr>
              <a:buSzPts val="3200"/>
              <a:buNone/>
            </a:pPr>
            <a:r>
              <a:rPr lang="ja-JP"/>
              <a:t>氏名：　佐々木　温</a:t>
            </a:r>
            <a:br>
              <a:rPr lang="ja-JP"/>
            </a:br>
            <a:r>
              <a:rPr lang="ja-JP"/>
              <a:t>学生番号:a23i093</a:t>
            </a:r>
            <a:endParaRPr/>
          </a:p>
        </p:txBody>
      </p:sp>
      <p:sp>
        <p:nvSpPr>
          <p:cNvPr id="86" name="Google Shape;86;p1"/>
          <p:cNvSpPr/>
          <p:nvPr/>
        </p:nvSpPr>
        <p:spPr>
          <a:xfrm>
            <a:off x="1043608" y="2492895"/>
            <a:ext cx="722665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400" b="0" i="0" u="none" strike="noStrike" cap="none">
                <a:solidFill>
                  <a:schemeClr val="dk1"/>
                </a:solidFill>
                <a:latin typeface="Calibri"/>
                <a:ea typeface="Calibri"/>
                <a:cs typeface="Calibri"/>
                <a:sym typeface="Calibri"/>
              </a:rPr>
              <a:t>プログラムのタイトル：野生動物（地方ごと）の生息分布</a:t>
            </a:r>
            <a:endParaRPr/>
          </a:p>
        </p:txBody>
      </p:sp>
      <p:sp>
        <p:nvSpPr>
          <p:cNvPr id="87" name="Google Shape;87;p1"/>
          <p:cNvSpPr txBox="1"/>
          <p:nvPr/>
        </p:nvSpPr>
        <p:spPr>
          <a:xfrm>
            <a:off x="4788024" y="3861048"/>
            <a:ext cx="3983783" cy="369332"/>
          </a:xfrm>
          <a:prstGeom prst="rect">
            <a:avLst/>
          </a:prstGeom>
          <a:solidFill>
            <a:srgbClr val="FFFF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a:solidFill>
                  <a:schemeClr val="dk1"/>
                </a:solidFill>
                <a:latin typeface="Calibri"/>
                <a:ea typeface="Calibri"/>
                <a:cs typeface="Calibri"/>
                <a:sym typeface="Calibri"/>
              </a:rPr>
              <a:t>作成の指示については、削除すること。</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dirty="0"/>
              <a:t>1. プログラムの内容</a:t>
            </a:r>
            <a:endParaRPr dirty="0"/>
          </a:p>
        </p:txBody>
      </p:sp>
      <p:sp>
        <p:nvSpPr>
          <p:cNvPr id="93" name="Google Shape;93;p2"/>
          <p:cNvSpPr txBox="1">
            <a:spLocks noGrp="1"/>
          </p:cNvSpPr>
          <p:nvPr>
            <p:ph type="body" idx="1"/>
          </p:nvPr>
        </p:nvSpPr>
        <p:spPr>
          <a:xfrm>
            <a:off x="457200" y="1600200"/>
            <a:ext cx="8229600" cy="4525963"/>
          </a:xfrm>
          <a:prstGeom prst="rect">
            <a:avLst/>
          </a:prstGeom>
          <a:solidFill>
            <a:srgbClr val="FFFF00"/>
          </a:solidFill>
          <a:ln>
            <a:noFill/>
          </a:ln>
        </p:spPr>
        <p:txBody>
          <a:bodyPr spcFirstLastPara="1" wrap="square" lIns="91425" tIns="45700" rIns="91425" bIns="45700" anchor="t" anchorCtr="0">
            <a:normAutofit fontScale="85000" lnSpcReduction="10000"/>
          </a:bodyPr>
          <a:lstStyle/>
          <a:p>
            <a:pPr marL="0" lvl="0" indent="0" algn="l" rtl="0">
              <a:spcBef>
                <a:spcPts val="0"/>
              </a:spcBef>
              <a:spcAft>
                <a:spcPts val="0"/>
              </a:spcAft>
              <a:buClr>
                <a:schemeClr val="dk1"/>
              </a:buClr>
              <a:buSzPct val="100000"/>
              <a:buNone/>
            </a:pPr>
            <a:r>
              <a:rPr lang="ja-JP" dirty="0">
                <a:latin typeface="HGSｺﾞｼｯｸM" panose="020B0600000000000000" pitchFamily="50" charset="-128"/>
                <a:ea typeface="HGSｺﾞｼｯｸM" panose="020B0600000000000000" pitchFamily="50" charset="-128"/>
              </a:rPr>
              <a:t>日本の地方ごとに野生動物(熊, 猪, 二ホンジカ, 二ホンザル)の生息分布を調べたモノをWebページ上に表で表記できるようにする。</a:t>
            </a:r>
            <a:endParaRPr dirty="0">
              <a:latin typeface="HGSｺﾞｼｯｸM" panose="020B0600000000000000" pitchFamily="50" charset="-128"/>
              <a:ea typeface="HGSｺﾞｼｯｸM" panose="020B0600000000000000" pitchFamily="50" charset="-128"/>
            </a:endParaRPr>
          </a:p>
          <a:p>
            <a:pPr marL="514350" lvl="0" indent="-514350" algn="l" rtl="0">
              <a:spcBef>
                <a:spcPts val="544"/>
              </a:spcBef>
              <a:spcAft>
                <a:spcPts val="0"/>
              </a:spcAft>
              <a:buClr>
                <a:schemeClr val="dk1"/>
              </a:buClr>
              <a:buSzPct val="100000"/>
              <a:buFont typeface="Calibri"/>
              <a:buAutoNum type="arabicPeriod"/>
            </a:pPr>
            <a:r>
              <a:rPr lang="ja-JP" dirty="0">
                <a:latin typeface="HGSｺﾞｼｯｸM" panose="020B0600000000000000" pitchFamily="50" charset="-128"/>
                <a:ea typeface="HGSｺﾞｼｯｸM" panose="020B0600000000000000" pitchFamily="50" charset="-128"/>
              </a:rPr>
              <a:t>生息地のデータは環境省、猪は「国立 研究開発法人 農業・食品産業技術総合研究機 構(NARO)」を使う。</a:t>
            </a:r>
            <a:endParaRPr dirty="0">
              <a:latin typeface="HGSｺﾞｼｯｸM" panose="020B0600000000000000" pitchFamily="50" charset="-128"/>
              <a:ea typeface="HGSｺﾞｼｯｸM" panose="020B0600000000000000" pitchFamily="50" charset="-128"/>
            </a:endParaRPr>
          </a:p>
          <a:p>
            <a:pPr marL="514350" lvl="0" indent="-514350" algn="l" rtl="0">
              <a:spcBef>
                <a:spcPts val="544"/>
              </a:spcBef>
              <a:spcAft>
                <a:spcPts val="0"/>
              </a:spcAft>
              <a:buClr>
                <a:schemeClr val="dk1"/>
              </a:buClr>
              <a:buSzPct val="100000"/>
              <a:buFont typeface="Calibri"/>
              <a:buAutoNum type="arabicPeriod"/>
            </a:pPr>
            <a:r>
              <a:rPr lang="ja-JP" dirty="0">
                <a:latin typeface="HGSｺﾞｼｯｸM" panose="020B0600000000000000" pitchFamily="50" charset="-128"/>
                <a:ea typeface="HGSｺﾞｼｯｸM" panose="020B0600000000000000" pitchFamily="50" charset="-128"/>
              </a:rPr>
              <a:t>生息の分布率は個人の目視(10%単位)の、主観的なデータ。(これは正確な生息分布を示した資料が信頼できるサイト上で確認できなかったため)　</a:t>
            </a:r>
            <a:endParaRPr dirty="0">
              <a:latin typeface="HGSｺﾞｼｯｸM" panose="020B0600000000000000" pitchFamily="50" charset="-128"/>
              <a:ea typeface="HGSｺﾞｼｯｸM" panose="020B0600000000000000" pitchFamily="50" charset="-128"/>
            </a:endParaRPr>
          </a:p>
          <a:p>
            <a:pPr marL="514350" lvl="0" indent="-514350" algn="l" rtl="0">
              <a:spcBef>
                <a:spcPts val="544"/>
              </a:spcBef>
              <a:spcAft>
                <a:spcPts val="0"/>
              </a:spcAft>
              <a:buClr>
                <a:schemeClr val="dk1"/>
              </a:buClr>
              <a:buSzPct val="100000"/>
              <a:buFont typeface="Calibri"/>
              <a:buAutoNum type="arabicPeriod"/>
            </a:pPr>
            <a:r>
              <a:rPr lang="ja-JP" dirty="0">
                <a:latin typeface="HGSｺﾞｼｯｸM" panose="020B0600000000000000" pitchFamily="50" charset="-128"/>
                <a:ea typeface="HGSｺﾞｼｯｸM" panose="020B0600000000000000" pitchFamily="50" charset="-128"/>
              </a:rPr>
              <a:t>分布の設定を終えたら、各動物に各地方ごとの表に　移動出来るようなwebページの設定をする。</a:t>
            </a:r>
            <a:endParaRPr dirty="0">
              <a:latin typeface="HGSｺﾞｼｯｸM" panose="020B0600000000000000" pitchFamily="50" charset="-128"/>
              <a:ea typeface="HGSｺﾞｼｯｸM" panose="020B0600000000000000" pitchFamily="50" charset="-128"/>
            </a:endParaRPr>
          </a:p>
          <a:p>
            <a:pPr marL="514350" lvl="0" indent="-341630" algn="l" rtl="0">
              <a:spcBef>
                <a:spcPts val="544"/>
              </a:spcBef>
              <a:spcAft>
                <a:spcPts val="0"/>
              </a:spcAft>
              <a:buClr>
                <a:schemeClr val="dk1"/>
              </a:buClr>
              <a:buSzPct val="100000"/>
              <a:buFont typeface="Calibri"/>
              <a:buNone/>
            </a:pPr>
            <a:endParaRPr dirty="0">
              <a:latin typeface="HGSｺﾞｼｯｸM" panose="020B0600000000000000" pitchFamily="50" charset="-128"/>
              <a:ea typeface="HGSｺﾞｼｯｸM" panose="020B0600000000000000" pitchFamily="50"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2. プログラムの動作</a:t>
            </a:r>
            <a:endParaRPr/>
          </a:p>
        </p:txBody>
      </p:sp>
      <p:sp>
        <p:nvSpPr>
          <p:cNvPr id="99" name="Google Shape;99;p3"/>
          <p:cNvSpPr txBox="1">
            <a:spLocks noGrp="1"/>
          </p:cNvSpPr>
          <p:nvPr>
            <p:ph type="body" idx="1"/>
          </p:nvPr>
        </p:nvSpPr>
        <p:spPr>
          <a:xfrm>
            <a:off x="0" y="1417638"/>
            <a:ext cx="9144000" cy="5440362"/>
          </a:xfrm>
          <a:prstGeom prst="rect">
            <a:avLst/>
          </a:prstGeom>
          <a:solidFill>
            <a:srgbClr val="FFFF00"/>
          </a:solidFill>
          <a:ln>
            <a:noFill/>
          </a:ln>
        </p:spPr>
        <p:txBody>
          <a:bodyPr spcFirstLastPara="1" wrap="square" lIns="91425" tIns="45700" rIns="91425" bIns="45700" anchor="ctr" anchorCtr="0">
            <a:normAutofit fontScale="92500" lnSpcReduction="20000"/>
          </a:bodyPr>
          <a:lstStyle/>
          <a:p>
            <a:pPr marL="857250" lvl="0" indent="-514350" rtl="0">
              <a:spcBef>
                <a:spcPts val="0"/>
              </a:spcBef>
              <a:spcAft>
                <a:spcPts val="0"/>
              </a:spcAft>
              <a:buFont typeface="+mj-lt"/>
              <a:buAutoNum type="arabicPeriod"/>
            </a:pP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「最終課題</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-1</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」からデータベースとテーブルの作成を行う「最終課題</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-2</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」へ「</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form action</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」で送信させる。</a:t>
            </a:r>
            <a:endPar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endParaRPr>
          </a:p>
          <a:p>
            <a:pPr marL="857250" lvl="0" indent="-514350" rtl="0">
              <a:spcBef>
                <a:spcPts val="0"/>
              </a:spcBef>
              <a:spcAft>
                <a:spcPts val="0"/>
              </a:spcAft>
              <a:buFont typeface="+mj-lt"/>
              <a:buAutoNum type="arabicPeriod"/>
            </a:pP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「最終課題</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-2</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」から「最終課題</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-3</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」へまた「</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form action</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」で送信させる。</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-3</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」は何度も戻ることになるのでデータベースとテーブルの作成を行う「</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-2</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」からもう一回移動させる必要がある。</a:t>
            </a:r>
            <a:endPar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endParaRPr>
          </a:p>
          <a:p>
            <a:pPr marL="857250" lvl="0" indent="-514350" rtl="0">
              <a:spcBef>
                <a:spcPts val="0"/>
              </a:spcBef>
              <a:spcAft>
                <a:spcPts val="0"/>
              </a:spcAft>
              <a:buFont typeface="+mj-lt"/>
              <a:buAutoNum type="arabicPeriod"/>
            </a:pP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「最終課題</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-3</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」は動物の情報の表を表示させる「最終課題</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a:t>
            </a:r>
            <a:r>
              <a:rPr lang="en-US" altLang="ja-JP" sz="2800" dirty="0" err="1">
                <a:latin typeface="HGSｺﾞｼｯｸM" panose="020B0600000000000000" pitchFamily="50" charset="-128"/>
                <a:ea typeface="HGSｺﾞｼｯｸM" panose="020B0600000000000000" pitchFamily="50" charset="-128"/>
                <a:cs typeface="Calibri" panose="020F0502020204030204" pitchFamily="34" charset="0"/>
              </a:rPr>
              <a:t>inosisi</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a:t>
            </a:r>
            <a:r>
              <a:rPr lang="en-US" altLang="ja-JP" sz="2800" dirty="0" err="1">
                <a:latin typeface="HGSｺﾞｼｯｸM" panose="020B0600000000000000" pitchFamily="50" charset="-128"/>
                <a:ea typeface="HGSｺﾞｼｯｸM" panose="020B0600000000000000" pitchFamily="50" charset="-128"/>
                <a:cs typeface="Calibri" panose="020F0502020204030204" pitchFamily="34" charset="0"/>
              </a:rPr>
              <a:t>kuma</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a:t>
            </a:r>
            <a:r>
              <a:rPr lang="en-US" altLang="ja-JP" sz="2800" dirty="0" err="1">
                <a:latin typeface="HGSｺﾞｼｯｸM" panose="020B0600000000000000" pitchFamily="50" charset="-128"/>
                <a:ea typeface="HGSｺﾞｼｯｸM" panose="020B0600000000000000" pitchFamily="50" charset="-128"/>
                <a:cs typeface="Calibri" panose="020F0502020204030204" pitchFamily="34" charset="0"/>
              </a:rPr>
              <a:t>saru</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,-sika</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」につながる各種の</a:t>
            </a:r>
            <a:r>
              <a:rPr lang="en-US" altLang="ja-JP" sz="2800" dirty="0" err="1">
                <a:latin typeface="HGSｺﾞｼｯｸM" panose="020B0600000000000000" pitchFamily="50" charset="-128"/>
                <a:ea typeface="HGSｺﾞｼｯｸM" panose="020B0600000000000000" pitchFamily="50" charset="-128"/>
                <a:cs typeface="Calibri" panose="020F0502020204030204" pitchFamily="34" charset="0"/>
              </a:rPr>
              <a:t>php</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の「</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form action</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」を置く。</a:t>
            </a:r>
            <a:endPar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endParaRPr>
          </a:p>
          <a:p>
            <a:pPr marL="857250" lvl="0" indent="-514350" rtl="0">
              <a:spcBef>
                <a:spcPts val="0"/>
              </a:spcBef>
              <a:spcAft>
                <a:spcPts val="0"/>
              </a:spcAft>
              <a:buFont typeface="+mj-lt"/>
              <a:buAutoNum type="arabicPeriod"/>
            </a:pP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移動した各種</a:t>
            </a:r>
            <a:r>
              <a:rPr lang="en-US" altLang="ja-JP" sz="2800" dirty="0" err="1">
                <a:latin typeface="HGSｺﾞｼｯｸM" panose="020B0600000000000000" pitchFamily="50" charset="-128"/>
                <a:ea typeface="HGSｺﾞｼｯｸM" panose="020B0600000000000000" pitchFamily="50" charset="-128"/>
                <a:cs typeface="Calibri" panose="020F0502020204030204" pitchFamily="34" charset="0"/>
              </a:rPr>
              <a:t>php</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はラジオボタンで地方ごとに表の表示をさせる。</a:t>
            </a:r>
            <a:endPar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endParaRPr>
          </a:p>
          <a:p>
            <a:pPr marL="857250" lvl="0" indent="-514350" rtl="0">
              <a:spcBef>
                <a:spcPts val="0"/>
              </a:spcBef>
              <a:spcAft>
                <a:spcPts val="0"/>
              </a:spcAft>
              <a:buFont typeface="+mj-lt"/>
              <a:buAutoNum type="arabicPeriod"/>
            </a:pPr>
            <a:r>
              <a:rPr lang="en-US" sz="2800" dirty="0">
                <a:latin typeface="HGSｺﾞｼｯｸM" panose="020B0600000000000000" pitchFamily="50" charset="-128"/>
                <a:ea typeface="HGSｺﾞｼｯｸM" panose="020B0600000000000000" pitchFamily="50" charset="-128"/>
                <a:cs typeface="Calibri" panose="020F0502020204030204" pitchFamily="34" charset="0"/>
              </a:rPr>
              <a:t>(4.)</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の各種</a:t>
            </a:r>
            <a:r>
              <a:rPr lang="en-US" altLang="ja-JP" sz="2800" dirty="0" err="1">
                <a:latin typeface="HGSｺﾞｼｯｸM" panose="020B0600000000000000" pitchFamily="50" charset="-128"/>
                <a:ea typeface="HGSｺﾞｼｯｸM" panose="020B0600000000000000" pitchFamily="50" charset="-128"/>
                <a:cs typeface="Calibri" panose="020F0502020204030204" pitchFamily="34" charset="0"/>
              </a:rPr>
              <a:t>php</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は最後に「</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-3</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」につながる戻る用の「</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form action</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」を置く</a:t>
            </a:r>
            <a:endPar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endParaRPr>
          </a:p>
          <a:p>
            <a:pPr marL="857250" lvl="0" indent="-514350" rtl="0">
              <a:spcBef>
                <a:spcPts val="0"/>
              </a:spcBef>
              <a:spcAft>
                <a:spcPts val="0"/>
              </a:spcAft>
              <a:buFont typeface="+mj-lt"/>
              <a:buAutoNum type="arabicPeriod"/>
            </a:pP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後は個人の思うままに「</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-3</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」と「</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 </a:t>
            </a:r>
            <a:r>
              <a:rPr lang="en-US" altLang="ja-JP" sz="2800" dirty="0" err="1">
                <a:latin typeface="HGSｺﾞｼｯｸM" panose="020B0600000000000000" pitchFamily="50" charset="-128"/>
                <a:ea typeface="HGSｺﾞｼｯｸM" panose="020B0600000000000000" pitchFamily="50" charset="-128"/>
                <a:cs typeface="Calibri" panose="020F0502020204030204" pitchFamily="34" charset="0"/>
              </a:rPr>
              <a:t>inosisi</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a:t>
            </a:r>
            <a:r>
              <a:rPr lang="en-US" altLang="ja-JP" sz="2800" dirty="0" err="1">
                <a:latin typeface="HGSｺﾞｼｯｸM" panose="020B0600000000000000" pitchFamily="50" charset="-128"/>
                <a:ea typeface="HGSｺﾞｼｯｸM" panose="020B0600000000000000" pitchFamily="50" charset="-128"/>
                <a:cs typeface="Calibri" panose="020F0502020204030204" pitchFamily="34" charset="0"/>
              </a:rPr>
              <a:t>kuma</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a:t>
            </a:r>
            <a:r>
              <a:rPr lang="en-US" altLang="ja-JP" sz="2800" dirty="0" err="1">
                <a:latin typeface="HGSｺﾞｼｯｸM" panose="020B0600000000000000" pitchFamily="50" charset="-128"/>
                <a:ea typeface="HGSｺﾞｼｯｸM" panose="020B0600000000000000" pitchFamily="50" charset="-128"/>
                <a:cs typeface="Calibri" panose="020F0502020204030204" pitchFamily="34" charset="0"/>
              </a:rPr>
              <a:t>saru</a:t>
            </a:r>
            <a:r>
              <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rPr>
              <a:t>,-sika </a:t>
            </a:r>
            <a:r>
              <a:rPr lang="ja-JP" altLang="en-US" sz="2800" dirty="0">
                <a:latin typeface="HGSｺﾞｼｯｸM" panose="020B0600000000000000" pitchFamily="50" charset="-128"/>
                <a:ea typeface="HGSｺﾞｼｯｸM" panose="020B0600000000000000" pitchFamily="50" charset="-128"/>
                <a:cs typeface="Calibri" panose="020F0502020204030204" pitchFamily="34" charset="0"/>
              </a:rPr>
              <a:t>」を往復してもらう形で完成。</a:t>
            </a:r>
            <a:endParaRPr lang="en-US" altLang="ja-JP" sz="2800" dirty="0">
              <a:latin typeface="HGSｺﾞｼｯｸM" panose="020B0600000000000000" pitchFamily="50" charset="-128"/>
              <a:ea typeface="HGSｺﾞｼｯｸM" panose="020B0600000000000000" pitchFamily="50" charset="-128"/>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3. Webページのデザイン</a:t>
            </a:r>
            <a:endParaRPr/>
          </a:p>
        </p:txBody>
      </p:sp>
      <p:sp>
        <p:nvSpPr>
          <p:cNvPr id="106" name="Google Shape;106;p4"/>
          <p:cNvSpPr/>
          <p:nvPr/>
        </p:nvSpPr>
        <p:spPr>
          <a:xfrm>
            <a:off x="683568" y="1987099"/>
            <a:ext cx="4320480" cy="4106197"/>
          </a:xfrm>
          <a:prstGeom prst="roundRect">
            <a:avLst>
              <a:gd name="adj" fmla="val 632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 name="Google Shape;107;p4"/>
          <p:cNvSpPr txBox="1"/>
          <p:nvPr/>
        </p:nvSpPr>
        <p:spPr>
          <a:xfrm>
            <a:off x="1799692" y="6093296"/>
            <a:ext cx="208823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a:solidFill>
                  <a:schemeClr val="dk1"/>
                </a:solidFill>
                <a:latin typeface="Calibri"/>
                <a:ea typeface="Calibri"/>
                <a:cs typeface="Calibri"/>
                <a:sym typeface="Calibri"/>
              </a:rPr>
              <a:t>図1:図のタイトル</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 name="Google Shape;108;p4"/>
          <p:cNvSpPr txBox="1"/>
          <p:nvPr/>
        </p:nvSpPr>
        <p:spPr>
          <a:xfrm>
            <a:off x="5364088" y="2060848"/>
            <a:ext cx="3416320" cy="4247276"/>
          </a:xfrm>
          <a:prstGeom prst="rect">
            <a:avLst/>
          </a:prstGeom>
          <a:solidFill>
            <a:srgbClr val="FFFF00"/>
          </a:solidFill>
          <a:ln>
            <a:noFill/>
          </a:ln>
        </p:spPr>
        <p:txBody>
          <a:bodyPr spcFirstLastPara="1" wrap="square" lIns="91425" tIns="45700" rIns="91425" bIns="45700" anchor="t" anchorCtr="0">
            <a:spAutoFit/>
          </a:bodyPr>
          <a:lstStyle/>
          <a:p>
            <a:pPr marR="0" lvl="0" algn="l" rtl="0">
              <a:spcBef>
                <a:spcPts val="0"/>
              </a:spcBef>
              <a:spcAft>
                <a:spcPts val="0"/>
              </a:spcAft>
            </a:pPr>
            <a:r>
              <a:rPr 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2</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ページ目の</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(1. 2.)</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に該当</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342900" marR="0" lvl="0" indent="-342900" algn="l" rtl="0">
              <a:spcBef>
                <a:spcPts val="0"/>
              </a:spcBef>
              <a:spcAft>
                <a:spcPts val="0"/>
              </a:spcAft>
              <a:buFont typeface="+mj-lt"/>
              <a:buAutoNum type="arabicPeriod"/>
            </a:pP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どちらのデザインにも閲覧者が操作できるのは「</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form action</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」で「</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-2,-3</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」に移動できる「送信」のみになる。</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342900" marR="0" lvl="0" indent="-342900" algn="l" rtl="0">
              <a:spcBef>
                <a:spcPts val="0"/>
              </a:spcBef>
              <a:spcAft>
                <a:spcPts val="0"/>
              </a:spcAft>
              <a:buFont typeface="+mj-lt"/>
              <a:buAutoNum type="arabicPeriod"/>
            </a:pP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-1</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」はデータベースとテーブルの作成を行う「</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-2</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」に移動する「送信」がある。</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342900" marR="0" lvl="0" indent="-342900" algn="l" rtl="0">
              <a:spcBef>
                <a:spcPts val="0"/>
              </a:spcBef>
              <a:spcAft>
                <a:spcPts val="0"/>
              </a:spcAft>
              <a:buFont typeface="+mj-lt"/>
              <a:buAutoNum type="arabicPeriod"/>
            </a:pP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-2</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」は</a:t>
            </a:r>
            <a:r>
              <a:rPr lang="ja-JP" altLang="en-US" sz="1800" dirty="0">
                <a:latin typeface="HGSｺﾞｼｯｸM" panose="020B0600000000000000" pitchFamily="50" charset="-128"/>
                <a:ea typeface="HGSｺﾞｼｯｸM" panose="020B0600000000000000" pitchFamily="50" charset="-128"/>
                <a:cs typeface="Calibri" panose="020F0502020204030204" pitchFamily="34" charset="0"/>
              </a:rPr>
              <a:t>動物の情報の表を表示させる「最終課題</a:t>
            </a:r>
            <a:r>
              <a:rPr lang="en-US" altLang="ja-JP" sz="1800" dirty="0">
                <a:latin typeface="HGSｺﾞｼｯｸM" panose="020B0600000000000000" pitchFamily="50" charset="-128"/>
                <a:ea typeface="HGSｺﾞｼｯｸM" panose="020B0600000000000000" pitchFamily="50" charset="-128"/>
                <a:cs typeface="Calibri" panose="020F0502020204030204" pitchFamily="34" charset="0"/>
              </a:rPr>
              <a:t>-</a:t>
            </a:r>
            <a:r>
              <a:rPr lang="en-US" altLang="ja-JP" sz="1800" dirty="0" err="1">
                <a:latin typeface="HGSｺﾞｼｯｸM" panose="020B0600000000000000" pitchFamily="50" charset="-128"/>
                <a:ea typeface="HGSｺﾞｼｯｸM" panose="020B0600000000000000" pitchFamily="50" charset="-128"/>
                <a:cs typeface="Calibri" panose="020F0502020204030204" pitchFamily="34" charset="0"/>
              </a:rPr>
              <a:t>inosisi</a:t>
            </a:r>
            <a:r>
              <a:rPr lang="en-US" altLang="ja-JP" sz="1800" dirty="0">
                <a:latin typeface="HGSｺﾞｼｯｸM" panose="020B0600000000000000" pitchFamily="50" charset="-128"/>
                <a:ea typeface="HGSｺﾞｼｯｸM" panose="020B0600000000000000" pitchFamily="50" charset="-128"/>
                <a:cs typeface="Calibri" panose="020F0502020204030204" pitchFamily="34" charset="0"/>
              </a:rPr>
              <a:t>,-</a:t>
            </a:r>
            <a:r>
              <a:rPr lang="en-US" altLang="ja-JP" sz="1800" dirty="0" err="1">
                <a:latin typeface="HGSｺﾞｼｯｸM" panose="020B0600000000000000" pitchFamily="50" charset="-128"/>
                <a:ea typeface="HGSｺﾞｼｯｸM" panose="020B0600000000000000" pitchFamily="50" charset="-128"/>
                <a:cs typeface="Calibri" panose="020F0502020204030204" pitchFamily="34" charset="0"/>
              </a:rPr>
              <a:t>kuma</a:t>
            </a:r>
            <a:r>
              <a:rPr lang="en-US" altLang="ja-JP" sz="1800" dirty="0">
                <a:latin typeface="HGSｺﾞｼｯｸM" panose="020B0600000000000000" pitchFamily="50" charset="-128"/>
                <a:ea typeface="HGSｺﾞｼｯｸM" panose="020B0600000000000000" pitchFamily="50" charset="-128"/>
                <a:cs typeface="Calibri" panose="020F0502020204030204" pitchFamily="34" charset="0"/>
              </a:rPr>
              <a:t>,-</a:t>
            </a:r>
            <a:r>
              <a:rPr lang="en-US" altLang="ja-JP" sz="1800" dirty="0" err="1">
                <a:latin typeface="HGSｺﾞｼｯｸM" panose="020B0600000000000000" pitchFamily="50" charset="-128"/>
                <a:ea typeface="HGSｺﾞｼｯｸM" panose="020B0600000000000000" pitchFamily="50" charset="-128"/>
                <a:cs typeface="Calibri" panose="020F0502020204030204" pitchFamily="34" charset="0"/>
              </a:rPr>
              <a:t>saru</a:t>
            </a:r>
            <a:r>
              <a:rPr lang="en-US" altLang="ja-JP" sz="1800" dirty="0">
                <a:latin typeface="HGSｺﾞｼｯｸM" panose="020B0600000000000000" pitchFamily="50" charset="-128"/>
                <a:ea typeface="HGSｺﾞｼｯｸM" panose="020B0600000000000000" pitchFamily="50" charset="-128"/>
                <a:cs typeface="Calibri" panose="020F0502020204030204" pitchFamily="34" charset="0"/>
              </a:rPr>
              <a:t>,-sika</a:t>
            </a:r>
            <a:r>
              <a:rPr lang="ja-JP" altLang="en-US" sz="1800" dirty="0">
                <a:latin typeface="HGSｺﾞｼｯｸM" panose="020B0600000000000000" pitchFamily="50" charset="-128"/>
                <a:ea typeface="HGSｺﾞｼｯｸM" panose="020B0600000000000000" pitchFamily="50" charset="-128"/>
                <a:cs typeface="Calibri" panose="020F0502020204030204" pitchFamily="34" charset="0"/>
              </a:rPr>
              <a:t>」につながる各種の</a:t>
            </a:r>
            <a:r>
              <a:rPr lang="en-US" altLang="ja-JP" sz="1800" dirty="0" err="1">
                <a:latin typeface="HGSｺﾞｼｯｸM" panose="020B0600000000000000" pitchFamily="50" charset="-128"/>
                <a:ea typeface="HGSｺﾞｼｯｸM" panose="020B0600000000000000" pitchFamily="50" charset="-128"/>
                <a:cs typeface="Calibri" panose="020F0502020204030204" pitchFamily="34" charset="0"/>
              </a:rPr>
              <a:t>php</a:t>
            </a:r>
            <a:r>
              <a:rPr lang="ja-JP" altLang="en-US" sz="1800" dirty="0">
                <a:latin typeface="HGSｺﾞｼｯｸM" panose="020B0600000000000000" pitchFamily="50" charset="-128"/>
                <a:ea typeface="HGSｺﾞｼｯｸM" panose="020B0600000000000000" pitchFamily="50" charset="-128"/>
                <a:cs typeface="Calibri" panose="020F0502020204030204" pitchFamily="34" charset="0"/>
              </a:rPr>
              <a:t>の「</a:t>
            </a:r>
            <a:r>
              <a:rPr lang="en-US" altLang="ja-JP" sz="1800" dirty="0">
                <a:latin typeface="HGSｺﾞｼｯｸM" panose="020B0600000000000000" pitchFamily="50" charset="-128"/>
                <a:ea typeface="HGSｺﾞｼｯｸM" panose="020B0600000000000000" pitchFamily="50" charset="-128"/>
                <a:cs typeface="Calibri" panose="020F0502020204030204" pitchFamily="34" charset="0"/>
              </a:rPr>
              <a:t>form action</a:t>
            </a:r>
            <a:r>
              <a:rPr lang="ja-JP" altLang="en-US" sz="1800" dirty="0">
                <a:latin typeface="HGSｺﾞｼｯｸM" panose="020B0600000000000000" pitchFamily="50" charset="-128"/>
                <a:ea typeface="HGSｺﾞｼｯｸM" panose="020B0600000000000000" pitchFamily="50" charset="-128"/>
                <a:cs typeface="Calibri" panose="020F0502020204030204" pitchFamily="34" charset="0"/>
              </a:rPr>
              <a:t>」を置いている「最終課題</a:t>
            </a:r>
            <a:r>
              <a:rPr lang="en-US" altLang="ja-JP" sz="1800" dirty="0">
                <a:latin typeface="HGSｺﾞｼｯｸM" panose="020B0600000000000000" pitchFamily="50" charset="-128"/>
                <a:ea typeface="HGSｺﾞｼｯｸM" panose="020B0600000000000000" pitchFamily="50" charset="-128"/>
                <a:cs typeface="Calibri" panose="020F0502020204030204" pitchFamily="34" charset="0"/>
              </a:rPr>
              <a:t>-3</a:t>
            </a:r>
            <a:r>
              <a:rPr lang="ja-JP" altLang="en-US" sz="1800" dirty="0">
                <a:latin typeface="HGSｺﾞｼｯｸM" panose="020B0600000000000000" pitchFamily="50" charset="-128"/>
                <a:ea typeface="HGSｺﾞｼｯｸM" panose="020B0600000000000000" pitchFamily="50" charset="-128"/>
                <a:cs typeface="Calibri" panose="020F0502020204030204" pitchFamily="34" charset="0"/>
              </a:rPr>
              <a:t>」に移動する「送信」がある。</a:t>
            </a:r>
            <a:endParaRPr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p:txBody>
      </p:sp>
      <p:sp>
        <p:nvSpPr>
          <p:cNvPr id="2" name="正方形/長方形 1">
            <a:extLst>
              <a:ext uri="{FF2B5EF4-FFF2-40B4-BE49-F238E27FC236}">
                <a16:creationId xmlns:a16="http://schemas.microsoft.com/office/drawing/2014/main" id="{81FC99CB-238C-0D7C-DD40-9F9648A6D44B}"/>
              </a:ext>
            </a:extLst>
          </p:cNvPr>
          <p:cNvSpPr/>
          <p:nvPr/>
        </p:nvSpPr>
        <p:spPr>
          <a:xfrm>
            <a:off x="728719" y="2390480"/>
            <a:ext cx="1753973" cy="3299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「最終課題</a:t>
            </a:r>
            <a:r>
              <a:rPr kumimoji="1" lang="en-US" altLang="ja-JP" dirty="0"/>
              <a:t>-2</a:t>
            </a:r>
            <a:r>
              <a:rPr kumimoji="1" lang="ja-JP" altLang="en-US" dirty="0"/>
              <a:t>」に移動する</a:t>
            </a:r>
          </a:p>
        </p:txBody>
      </p:sp>
      <p:sp>
        <p:nvSpPr>
          <p:cNvPr id="4" name="正方形/長方形 3">
            <a:extLst>
              <a:ext uri="{FF2B5EF4-FFF2-40B4-BE49-F238E27FC236}">
                <a16:creationId xmlns:a16="http://schemas.microsoft.com/office/drawing/2014/main" id="{B005EA83-BC7E-7FCB-B2B4-BB40459DA040}"/>
              </a:ext>
            </a:extLst>
          </p:cNvPr>
          <p:cNvSpPr/>
          <p:nvPr/>
        </p:nvSpPr>
        <p:spPr>
          <a:xfrm>
            <a:off x="3336565" y="2390480"/>
            <a:ext cx="1712634" cy="32994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dirty="0"/>
              <a:t>テーブルの作成が完了しました。</a:t>
            </a:r>
            <a:endParaRPr kumimoji="1" lang="en-US" altLang="ja-JP" dirty="0"/>
          </a:p>
          <a:p>
            <a:r>
              <a:rPr kumimoji="1" lang="ja-JP" altLang="en-US" dirty="0"/>
              <a:t>「最終課題</a:t>
            </a:r>
            <a:r>
              <a:rPr kumimoji="1" lang="en-US" altLang="ja-JP" dirty="0"/>
              <a:t>-3</a:t>
            </a:r>
            <a:r>
              <a:rPr kumimoji="1" lang="ja-JP" altLang="en-US" dirty="0"/>
              <a:t>」に移動してください。</a:t>
            </a:r>
            <a:endParaRPr kumimoji="1" lang="en-US" altLang="ja-JP" dirty="0"/>
          </a:p>
          <a:p>
            <a:endParaRPr kumimoji="1" lang="ja-JP" altLang="en-US" dirty="0"/>
          </a:p>
        </p:txBody>
      </p:sp>
      <p:sp>
        <p:nvSpPr>
          <p:cNvPr id="6" name="正方形/長方形 5">
            <a:extLst>
              <a:ext uri="{FF2B5EF4-FFF2-40B4-BE49-F238E27FC236}">
                <a16:creationId xmlns:a16="http://schemas.microsoft.com/office/drawing/2014/main" id="{08ECEBC1-2934-41A5-8390-6A9E19B8752F}"/>
              </a:ext>
            </a:extLst>
          </p:cNvPr>
          <p:cNvSpPr/>
          <p:nvPr/>
        </p:nvSpPr>
        <p:spPr>
          <a:xfrm>
            <a:off x="1582592" y="4705945"/>
            <a:ext cx="900100" cy="31648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送信</a:t>
            </a:r>
          </a:p>
        </p:txBody>
      </p:sp>
      <p:sp>
        <p:nvSpPr>
          <p:cNvPr id="7" name="正方形/長方形 6">
            <a:extLst>
              <a:ext uri="{FF2B5EF4-FFF2-40B4-BE49-F238E27FC236}">
                <a16:creationId xmlns:a16="http://schemas.microsoft.com/office/drawing/2014/main" id="{EC6033C5-57E1-ADC6-7ED1-610C076D2F20}"/>
              </a:ext>
            </a:extLst>
          </p:cNvPr>
          <p:cNvSpPr/>
          <p:nvPr/>
        </p:nvSpPr>
        <p:spPr>
          <a:xfrm>
            <a:off x="4103948" y="4624665"/>
            <a:ext cx="900100" cy="31648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送信</a:t>
            </a:r>
          </a:p>
        </p:txBody>
      </p:sp>
      <p:sp>
        <p:nvSpPr>
          <p:cNvPr id="10" name="矢印: 右 9">
            <a:extLst>
              <a:ext uri="{FF2B5EF4-FFF2-40B4-BE49-F238E27FC236}">
                <a16:creationId xmlns:a16="http://schemas.microsoft.com/office/drawing/2014/main" id="{B73A8EF2-5776-5CF0-3745-D20DC5CB606D}"/>
              </a:ext>
            </a:extLst>
          </p:cNvPr>
          <p:cNvSpPr/>
          <p:nvPr/>
        </p:nvSpPr>
        <p:spPr>
          <a:xfrm>
            <a:off x="2527843" y="3533480"/>
            <a:ext cx="774157" cy="109118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DAA1D8DB-F745-0D11-18BF-6886969A4208}"/>
              </a:ext>
            </a:extLst>
          </p:cNvPr>
          <p:cNvSpPr txBox="1"/>
          <p:nvPr/>
        </p:nvSpPr>
        <p:spPr>
          <a:xfrm>
            <a:off x="683568" y="1987099"/>
            <a:ext cx="1799124" cy="307777"/>
          </a:xfrm>
          <a:prstGeom prst="rect">
            <a:avLst/>
          </a:prstGeom>
          <a:noFill/>
        </p:spPr>
        <p:txBody>
          <a:bodyPr wrap="square" rtlCol="0">
            <a:spAutoFit/>
          </a:bodyPr>
          <a:lstStyle/>
          <a:p>
            <a:pPr algn="ctr"/>
            <a:r>
              <a:rPr kumimoji="1" lang="ja-JP" altLang="en-US" dirty="0"/>
              <a:t>「最終課題</a:t>
            </a:r>
            <a:r>
              <a:rPr kumimoji="1" lang="en-US" altLang="ja-JP" dirty="0"/>
              <a:t>-1.php</a:t>
            </a:r>
            <a:r>
              <a:rPr kumimoji="1" lang="ja-JP" altLang="en-US" dirty="0"/>
              <a:t>」</a:t>
            </a:r>
          </a:p>
        </p:txBody>
      </p:sp>
      <p:sp>
        <p:nvSpPr>
          <p:cNvPr id="12" name="テキスト ボックス 11">
            <a:extLst>
              <a:ext uri="{FF2B5EF4-FFF2-40B4-BE49-F238E27FC236}">
                <a16:creationId xmlns:a16="http://schemas.microsoft.com/office/drawing/2014/main" id="{28793A43-C75F-5265-8EA2-9524E80165F9}"/>
              </a:ext>
            </a:extLst>
          </p:cNvPr>
          <p:cNvSpPr txBox="1"/>
          <p:nvPr/>
        </p:nvSpPr>
        <p:spPr>
          <a:xfrm>
            <a:off x="3302000" y="1987097"/>
            <a:ext cx="1799124" cy="307779"/>
          </a:xfrm>
          <a:prstGeom prst="rect">
            <a:avLst/>
          </a:prstGeom>
          <a:noFill/>
        </p:spPr>
        <p:txBody>
          <a:bodyPr wrap="square" rtlCol="0">
            <a:spAutoFit/>
          </a:bodyPr>
          <a:lstStyle/>
          <a:p>
            <a:pPr algn="ctr"/>
            <a:r>
              <a:rPr kumimoji="1" lang="ja-JP" altLang="en-US" dirty="0"/>
              <a:t>「最終課題</a:t>
            </a:r>
            <a:r>
              <a:rPr kumimoji="1" lang="en-US" altLang="ja-JP" dirty="0"/>
              <a:t>-2.php</a:t>
            </a:r>
            <a:r>
              <a:rPr kumimoji="1" lang="ja-JP" altLang="en-US"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3. Webページのデザイン</a:t>
            </a:r>
            <a:endParaRPr/>
          </a:p>
        </p:txBody>
      </p:sp>
      <p:sp>
        <p:nvSpPr>
          <p:cNvPr id="116" name="Google Shape;116;p5"/>
          <p:cNvSpPr/>
          <p:nvPr/>
        </p:nvSpPr>
        <p:spPr>
          <a:xfrm>
            <a:off x="683568" y="1987099"/>
            <a:ext cx="4320480" cy="4106197"/>
          </a:xfrm>
          <a:prstGeom prst="roundRect">
            <a:avLst>
              <a:gd name="adj" fmla="val 632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7" name="Google Shape;117;p5"/>
          <p:cNvSpPr txBox="1"/>
          <p:nvPr/>
        </p:nvSpPr>
        <p:spPr>
          <a:xfrm>
            <a:off x="1619672" y="6093296"/>
            <a:ext cx="223224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a:solidFill>
                  <a:schemeClr val="dk1"/>
                </a:solidFill>
                <a:latin typeface="Calibri"/>
                <a:ea typeface="Calibri"/>
                <a:cs typeface="Calibri"/>
                <a:sym typeface="Calibri"/>
              </a:rPr>
              <a:t>図2:図のタイトル</a:t>
            </a:r>
            <a:endParaRPr sz="1800">
              <a:solidFill>
                <a:schemeClr val="dk1"/>
              </a:solidFill>
              <a:latin typeface="Calibri"/>
              <a:ea typeface="Calibri"/>
              <a:cs typeface="Calibri"/>
              <a:sym typeface="Calibri"/>
            </a:endParaRPr>
          </a:p>
        </p:txBody>
      </p:sp>
      <p:sp>
        <p:nvSpPr>
          <p:cNvPr id="118" name="Google Shape;118;p5"/>
          <p:cNvSpPr txBox="1"/>
          <p:nvPr/>
        </p:nvSpPr>
        <p:spPr>
          <a:xfrm>
            <a:off x="5364088" y="2060848"/>
            <a:ext cx="3416320" cy="4278054"/>
          </a:xfrm>
          <a:prstGeom prst="rect">
            <a:avLst/>
          </a:prstGeom>
          <a:solidFill>
            <a:srgbClr val="FFFF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1600" dirty="0">
                <a:solidFill>
                  <a:schemeClr val="dk1"/>
                </a:solidFill>
                <a:latin typeface="Calibri"/>
                <a:ea typeface="Calibri"/>
                <a:cs typeface="Calibri"/>
                <a:sym typeface="Calibri"/>
              </a:rPr>
              <a:t>２ページ目の</a:t>
            </a:r>
            <a:r>
              <a:rPr lang="en-US" altLang="ja-JP" sz="1600" dirty="0">
                <a:solidFill>
                  <a:schemeClr val="dk1"/>
                </a:solidFill>
                <a:latin typeface="Calibri"/>
                <a:ea typeface="Calibri"/>
                <a:cs typeface="Calibri"/>
                <a:sym typeface="Calibri"/>
              </a:rPr>
              <a:t>(3.</a:t>
            </a:r>
            <a:r>
              <a:rPr lang="ja-JP" altLang="en-US" sz="1600" dirty="0">
                <a:solidFill>
                  <a:schemeClr val="dk1"/>
                </a:solidFill>
                <a:latin typeface="Calibri"/>
                <a:ea typeface="Calibri"/>
                <a:cs typeface="Calibri"/>
                <a:sym typeface="Calibri"/>
              </a:rPr>
              <a:t>～</a:t>
            </a:r>
            <a:r>
              <a:rPr lang="en-US" altLang="ja-JP" sz="1600" dirty="0">
                <a:solidFill>
                  <a:schemeClr val="dk1"/>
                </a:solidFill>
                <a:latin typeface="Calibri"/>
                <a:ea typeface="Calibri"/>
                <a:cs typeface="Calibri"/>
                <a:sym typeface="Calibri"/>
              </a:rPr>
              <a:t>)</a:t>
            </a:r>
            <a:r>
              <a:rPr lang="ja-JP" altLang="en-US" sz="1600" dirty="0">
                <a:solidFill>
                  <a:schemeClr val="dk1"/>
                </a:solidFill>
                <a:latin typeface="Calibri"/>
                <a:ea typeface="Calibri"/>
                <a:cs typeface="Calibri"/>
                <a:sym typeface="Calibri"/>
              </a:rPr>
              <a:t>に該当</a:t>
            </a:r>
            <a:endParaRPr lang="en-US" altLang="ja-JP" sz="16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a:pPr>
            <a:r>
              <a:rPr lang="ja-JP" altLang="en-US" sz="1600" dirty="0">
                <a:solidFill>
                  <a:schemeClr val="dk1"/>
                </a:solidFill>
                <a:latin typeface="Calibri"/>
                <a:ea typeface="Calibri"/>
                <a:cs typeface="Calibri"/>
                <a:sym typeface="Calibri"/>
              </a:rPr>
              <a:t>「最終課題</a:t>
            </a:r>
            <a:r>
              <a:rPr lang="en-US" altLang="ja-JP" sz="1600" dirty="0">
                <a:solidFill>
                  <a:schemeClr val="dk1"/>
                </a:solidFill>
                <a:latin typeface="Calibri"/>
                <a:ea typeface="Calibri"/>
                <a:cs typeface="Calibri"/>
                <a:sym typeface="Calibri"/>
              </a:rPr>
              <a:t>-3</a:t>
            </a:r>
            <a:r>
              <a:rPr lang="ja-JP" altLang="en-US" sz="1600" dirty="0">
                <a:solidFill>
                  <a:schemeClr val="dk1"/>
                </a:solidFill>
                <a:latin typeface="Calibri"/>
                <a:ea typeface="Calibri"/>
                <a:cs typeface="Calibri"/>
                <a:sym typeface="Calibri"/>
              </a:rPr>
              <a:t>」は各動物の地方ごとの分布率の表を表示する「最終課題</a:t>
            </a:r>
            <a:r>
              <a:rPr lang="en-US" altLang="ja-JP" sz="1600" dirty="0">
                <a:solidFill>
                  <a:schemeClr val="dk1"/>
                </a:solidFill>
                <a:latin typeface="Calibri"/>
                <a:ea typeface="Calibri"/>
                <a:cs typeface="Calibri"/>
                <a:sym typeface="Calibri"/>
              </a:rPr>
              <a:t>-</a:t>
            </a:r>
            <a:r>
              <a:rPr lang="en-US" altLang="ja-JP" sz="1600" dirty="0" err="1">
                <a:solidFill>
                  <a:schemeClr val="dk1"/>
                </a:solidFill>
                <a:latin typeface="Calibri"/>
                <a:ea typeface="Calibri"/>
                <a:cs typeface="Calibri"/>
                <a:sym typeface="Calibri"/>
              </a:rPr>
              <a:t>inosisi</a:t>
            </a:r>
            <a:r>
              <a:rPr lang="en-US" altLang="ja-JP" sz="1600" dirty="0">
                <a:solidFill>
                  <a:schemeClr val="dk1"/>
                </a:solidFill>
                <a:latin typeface="Calibri"/>
                <a:ea typeface="Calibri"/>
                <a:cs typeface="Calibri"/>
                <a:sym typeface="Calibri"/>
              </a:rPr>
              <a:t>,-</a:t>
            </a:r>
            <a:r>
              <a:rPr lang="en-US" altLang="ja-JP" sz="1600" dirty="0" err="1">
                <a:solidFill>
                  <a:schemeClr val="dk1"/>
                </a:solidFill>
                <a:latin typeface="Calibri"/>
                <a:ea typeface="Calibri"/>
                <a:cs typeface="Calibri"/>
                <a:sym typeface="Calibri"/>
              </a:rPr>
              <a:t>kuma</a:t>
            </a:r>
            <a:r>
              <a:rPr lang="en-US" altLang="ja-JP" sz="1600" dirty="0">
                <a:solidFill>
                  <a:schemeClr val="dk1"/>
                </a:solidFill>
                <a:latin typeface="Calibri"/>
                <a:ea typeface="Calibri"/>
                <a:cs typeface="Calibri"/>
                <a:sym typeface="Calibri"/>
              </a:rPr>
              <a:t>,-</a:t>
            </a:r>
            <a:r>
              <a:rPr lang="en-US" altLang="ja-JP" sz="1600" dirty="0" err="1">
                <a:solidFill>
                  <a:schemeClr val="dk1"/>
                </a:solidFill>
                <a:latin typeface="Calibri"/>
                <a:ea typeface="Calibri"/>
                <a:cs typeface="Calibri"/>
                <a:sym typeface="Calibri"/>
              </a:rPr>
              <a:t>saru</a:t>
            </a:r>
            <a:r>
              <a:rPr lang="en-US" altLang="ja-JP" sz="1600" dirty="0">
                <a:solidFill>
                  <a:schemeClr val="dk1"/>
                </a:solidFill>
                <a:latin typeface="Calibri"/>
                <a:ea typeface="Calibri"/>
                <a:cs typeface="Calibri"/>
                <a:sym typeface="Calibri"/>
              </a:rPr>
              <a:t>,-sika</a:t>
            </a:r>
            <a:r>
              <a:rPr lang="ja-JP" altLang="en-US" sz="1600" dirty="0">
                <a:solidFill>
                  <a:schemeClr val="dk1"/>
                </a:solidFill>
                <a:latin typeface="Calibri"/>
                <a:ea typeface="Calibri"/>
                <a:cs typeface="Calibri"/>
                <a:sym typeface="Calibri"/>
              </a:rPr>
              <a:t>」にそれぞれ移動できる「</a:t>
            </a:r>
            <a:r>
              <a:rPr lang="en-US" altLang="ja-JP" sz="1600" dirty="0">
                <a:solidFill>
                  <a:schemeClr val="dk1"/>
                </a:solidFill>
                <a:latin typeface="Calibri"/>
                <a:ea typeface="Calibri"/>
                <a:cs typeface="Calibri"/>
                <a:sym typeface="Calibri"/>
              </a:rPr>
              <a:t>form action</a:t>
            </a:r>
            <a:r>
              <a:rPr lang="ja-JP" altLang="en-US" sz="1600" dirty="0">
                <a:solidFill>
                  <a:schemeClr val="dk1"/>
                </a:solidFill>
                <a:latin typeface="Calibri"/>
                <a:ea typeface="Calibri"/>
                <a:cs typeface="Calibri"/>
                <a:sym typeface="Calibri"/>
              </a:rPr>
              <a:t>」の「送信」を置いている。</a:t>
            </a:r>
            <a:endParaRPr lang="en-US" altLang="ja-JP" sz="16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a:pPr>
            <a:r>
              <a:rPr lang="ja-JP" altLang="en-US" sz="1600" dirty="0">
                <a:solidFill>
                  <a:schemeClr val="dk1"/>
                </a:solidFill>
                <a:latin typeface="Calibri"/>
                <a:ea typeface="Calibri"/>
                <a:cs typeface="Calibri"/>
                <a:sym typeface="Calibri"/>
              </a:rPr>
              <a:t>「最終課題</a:t>
            </a:r>
            <a:r>
              <a:rPr lang="en-US" altLang="ja-JP" sz="1600" dirty="0">
                <a:solidFill>
                  <a:schemeClr val="dk1"/>
                </a:solidFill>
                <a:latin typeface="Calibri"/>
                <a:ea typeface="Calibri"/>
                <a:cs typeface="Calibri"/>
                <a:sym typeface="Calibri"/>
              </a:rPr>
              <a:t>-</a:t>
            </a:r>
            <a:r>
              <a:rPr lang="en-US" altLang="ja-JP" sz="1600" dirty="0" err="1">
                <a:solidFill>
                  <a:schemeClr val="dk1"/>
                </a:solidFill>
                <a:latin typeface="Calibri"/>
                <a:ea typeface="Calibri"/>
                <a:cs typeface="Calibri"/>
                <a:sym typeface="Calibri"/>
              </a:rPr>
              <a:t>inosisi</a:t>
            </a:r>
            <a:r>
              <a:rPr lang="ja-JP" altLang="en-US" sz="1600" dirty="0">
                <a:solidFill>
                  <a:schemeClr val="dk1"/>
                </a:solidFill>
                <a:latin typeface="Calibri"/>
                <a:ea typeface="Calibri"/>
                <a:cs typeface="Calibri"/>
                <a:sym typeface="Calibri"/>
              </a:rPr>
              <a:t>」はラジオボタンで地方ごとの表が表示できる「</a:t>
            </a:r>
            <a:r>
              <a:rPr lang="en-US" altLang="ja-JP" sz="1600" dirty="0">
                <a:solidFill>
                  <a:schemeClr val="dk1"/>
                </a:solidFill>
                <a:latin typeface="Calibri"/>
                <a:ea typeface="Calibri"/>
                <a:cs typeface="Calibri"/>
                <a:sym typeface="Calibri"/>
              </a:rPr>
              <a:t>name/precent</a:t>
            </a:r>
            <a:r>
              <a:rPr lang="ja-JP" altLang="en-US" sz="1600" dirty="0">
                <a:solidFill>
                  <a:schemeClr val="dk1"/>
                </a:solidFill>
                <a:latin typeface="Calibri"/>
                <a:ea typeface="Calibri"/>
                <a:cs typeface="Calibri"/>
                <a:sym typeface="Calibri"/>
              </a:rPr>
              <a:t>」は表のデザインの例。</a:t>
            </a:r>
            <a:endParaRPr lang="en-US" altLang="ja-JP" sz="16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a:pPr>
            <a:r>
              <a:rPr lang="ja-JP" altLang="en-US" sz="1600" dirty="0">
                <a:solidFill>
                  <a:schemeClr val="dk1"/>
                </a:solidFill>
                <a:latin typeface="Calibri"/>
                <a:ea typeface="Calibri"/>
                <a:cs typeface="Calibri"/>
                <a:sym typeface="Calibri"/>
              </a:rPr>
              <a:t>ほかの「</a:t>
            </a:r>
            <a:r>
              <a:rPr lang="en-US" altLang="ja-JP" sz="1600" dirty="0">
                <a:solidFill>
                  <a:schemeClr val="dk1"/>
                </a:solidFill>
                <a:latin typeface="Calibri"/>
                <a:ea typeface="Calibri"/>
                <a:cs typeface="Calibri"/>
                <a:sym typeface="Calibri"/>
              </a:rPr>
              <a:t>-</a:t>
            </a:r>
            <a:r>
              <a:rPr lang="en-US" altLang="ja-JP" sz="1600" dirty="0" err="1">
                <a:solidFill>
                  <a:schemeClr val="dk1"/>
                </a:solidFill>
                <a:latin typeface="Calibri"/>
                <a:ea typeface="Calibri"/>
                <a:cs typeface="Calibri"/>
                <a:sym typeface="Calibri"/>
              </a:rPr>
              <a:t>kuma</a:t>
            </a:r>
            <a:r>
              <a:rPr lang="en-US" altLang="ja-JP" sz="1600" dirty="0">
                <a:solidFill>
                  <a:schemeClr val="dk1"/>
                </a:solidFill>
                <a:latin typeface="Calibri"/>
                <a:ea typeface="Calibri"/>
                <a:cs typeface="Calibri"/>
                <a:sym typeface="Calibri"/>
              </a:rPr>
              <a:t>,-</a:t>
            </a:r>
            <a:r>
              <a:rPr lang="en-US" altLang="ja-JP" sz="1600" dirty="0" err="1">
                <a:solidFill>
                  <a:schemeClr val="dk1"/>
                </a:solidFill>
                <a:latin typeface="Calibri"/>
                <a:ea typeface="Calibri"/>
                <a:cs typeface="Calibri"/>
                <a:sym typeface="Calibri"/>
              </a:rPr>
              <a:t>saru</a:t>
            </a:r>
            <a:r>
              <a:rPr lang="en-US" altLang="ja-JP" sz="1600" dirty="0">
                <a:solidFill>
                  <a:schemeClr val="dk1"/>
                </a:solidFill>
                <a:latin typeface="Calibri"/>
                <a:ea typeface="Calibri"/>
                <a:cs typeface="Calibri"/>
                <a:sym typeface="Calibri"/>
              </a:rPr>
              <a:t>,-sika</a:t>
            </a:r>
            <a:r>
              <a:rPr lang="ja-JP" altLang="en-US" sz="1600" dirty="0">
                <a:solidFill>
                  <a:schemeClr val="dk1"/>
                </a:solidFill>
                <a:latin typeface="Calibri"/>
                <a:ea typeface="Calibri"/>
                <a:cs typeface="Calibri"/>
                <a:sym typeface="Calibri"/>
              </a:rPr>
              <a:t>」も「</a:t>
            </a:r>
            <a:r>
              <a:rPr lang="en-US" altLang="ja-JP" sz="1600" dirty="0">
                <a:solidFill>
                  <a:schemeClr val="dk1"/>
                </a:solidFill>
                <a:latin typeface="Calibri"/>
                <a:ea typeface="Calibri"/>
                <a:cs typeface="Calibri"/>
                <a:sym typeface="Calibri"/>
              </a:rPr>
              <a:t>-</a:t>
            </a:r>
            <a:r>
              <a:rPr lang="en-US" altLang="ja-JP" sz="1600" dirty="0" err="1">
                <a:solidFill>
                  <a:schemeClr val="dk1"/>
                </a:solidFill>
                <a:latin typeface="Calibri"/>
                <a:ea typeface="Calibri"/>
                <a:cs typeface="Calibri"/>
                <a:sym typeface="Calibri"/>
              </a:rPr>
              <a:t>inosisi</a:t>
            </a:r>
            <a:r>
              <a:rPr lang="ja-JP" altLang="en-US" sz="1600" dirty="0">
                <a:solidFill>
                  <a:schemeClr val="dk1"/>
                </a:solidFill>
                <a:latin typeface="Calibri"/>
                <a:ea typeface="Calibri"/>
                <a:cs typeface="Calibri"/>
                <a:sym typeface="Calibri"/>
              </a:rPr>
              <a:t>」と同じようなデザインにもある。</a:t>
            </a:r>
            <a:endParaRPr lang="en-US" altLang="ja-JP" sz="16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a:pPr>
            <a:r>
              <a:rPr lang="ja-JP" altLang="en-US" sz="1600" dirty="0">
                <a:solidFill>
                  <a:schemeClr val="dk1"/>
                </a:solidFill>
                <a:latin typeface="Calibri"/>
                <a:ea typeface="Calibri"/>
                <a:cs typeface="Calibri"/>
                <a:sym typeface="Calibri"/>
              </a:rPr>
              <a:t>「</a:t>
            </a:r>
            <a:r>
              <a:rPr lang="en-US" altLang="ja-JP" sz="1600" dirty="0">
                <a:solidFill>
                  <a:schemeClr val="dk1"/>
                </a:solidFill>
                <a:latin typeface="Calibri"/>
                <a:ea typeface="Calibri"/>
                <a:cs typeface="Calibri"/>
                <a:sym typeface="Calibri"/>
              </a:rPr>
              <a:t>-</a:t>
            </a:r>
            <a:r>
              <a:rPr lang="en-US" altLang="ja-JP" sz="1600" dirty="0" err="1">
                <a:solidFill>
                  <a:schemeClr val="dk1"/>
                </a:solidFill>
                <a:latin typeface="Calibri"/>
                <a:ea typeface="Calibri"/>
                <a:cs typeface="Calibri"/>
                <a:sym typeface="Calibri"/>
              </a:rPr>
              <a:t>inosisi</a:t>
            </a:r>
            <a:r>
              <a:rPr lang="ja-JP" altLang="en-US" sz="1600" dirty="0">
                <a:solidFill>
                  <a:schemeClr val="dk1"/>
                </a:solidFill>
                <a:latin typeface="Calibri"/>
                <a:ea typeface="Calibri"/>
                <a:cs typeface="Calibri"/>
                <a:sym typeface="Calibri"/>
              </a:rPr>
              <a:t>」の一番下にある「戻る」は「</a:t>
            </a:r>
            <a:r>
              <a:rPr lang="en-US" altLang="ja-JP" sz="1600" dirty="0">
                <a:solidFill>
                  <a:schemeClr val="dk1"/>
                </a:solidFill>
                <a:latin typeface="Calibri"/>
                <a:ea typeface="Calibri"/>
                <a:cs typeface="Calibri"/>
                <a:sym typeface="Calibri"/>
              </a:rPr>
              <a:t>-3</a:t>
            </a:r>
            <a:r>
              <a:rPr lang="ja-JP" altLang="en-US" sz="1600" dirty="0">
                <a:solidFill>
                  <a:schemeClr val="dk1"/>
                </a:solidFill>
                <a:latin typeface="Calibri"/>
                <a:ea typeface="Calibri"/>
                <a:cs typeface="Calibri"/>
                <a:sym typeface="Calibri"/>
              </a:rPr>
              <a:t>」の</a:t>
            </a:r>
            <a:r>
              <a:rPr lang="en-US" altLang="ja-JP" sz="1600" dirty="0">
                <a:solidFill>
                  <a:schemeClr val="dk1"/>
                </a:solidFill>
                <a:latin typeface="Calibri"/>
                <a:ea typeface="Calibri"/>
                <a:cs typeface="Calibri"/>
                <a:sym typeface="Calibri"/>
              </a:rPr>
              <a:t>web</a:t>
            </a:r>
            <a:r>
              <a:rPr lang="ja-JP" altLang="en-US" sz="1600" dirty="0">
                <a:solidFill>
                  <a:schemeClr val="dk1"/>
                </a:solidFill>
                <a:latin typeface="Calibri"/>
                <a:ea typeface="Calibri"/>
                <a:cs typeface="Calibri"/>
                <a:sym typeface="Calibri"/>
              </a:rPr>
              <a:t>ページに戻るように設定してあるので各種動物のデータを往復できる構想。</a:t>
            </a:r>
            <a:endParaRPr sz="1600" dirty="0">
              <a:solidFill>
                <a:schemeClr val="dk1"/>
              </a:solidFill>
              <a:latin typeface="Calibri"/>
              <a:ea typeface="Calibri"/>
              <a:cs typeface="Calibri"/>
              <a:sym typeface="Calibri"/>
            </a:endParaRPr>
          </a:p>
        </p:txBody>
      </p:sp>
      <p:sp>
        <p:nvSpPr>
          <p:cNvPr id="2" name="正方形/長方形 1">
            <a:extLst>
              <a:ext uri="{FF2B5EF4-FFF2-40B4-BE49-F238E27FC236}">
                <a16:creationId xmlns:a16="http://schemas.microsoft.com/office/drawing/2014/main" id="{AEDC89E4-5E2C-4A28-86FC-E92E3DD9D7C5}"/>
              </a:ext>
            </a:extLst>
          </p:cNvPr>
          <p:cNvSpPr/>
          <p:nvPr/>
        </p:nvSpPr>
        <p:spPr>
          <a:xfrm>
            <a:off x="683568" y="2310154"/>
            <a:ext cx="1653232" cy="34600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dirty="0"/>
              <a:t>「最終課題</a:t>
            </a:r>
            <a:r>
              <a:rPr kumimoji="1" lang="en-US" altLang="ja-JP" dirty="0"/>
              <a:t>-</a:t>
            </a:r>
            <a:r>
              <a:rPr kumimoji="1" lang="en-US" altLang="ja-JP" dirty="0" err="1"/>
              <a:t>inosisi</a:t>
            </a:r>
            <a:r>
              <a:rPr kumimoji="1" lang="ja-JP" altLang="en-US" dirty="0"/>
              <a:t>に移動」</a:t>
            </a:r>
            <a:endParaRPr kumimoji="1" lang="en-US" altLang="ja-JP" dirty="0"/>
          </a:p>
          <a:p>
            <a:endParaRPr kumimoji="1" lang="en-US" altLang="ja-JP" dirty="0"/>
          </a:p>
          <a:p>
            <a:endParaRPr kumimoji="1" lang="en-US" altLang="ja-JP" dirty="0"/>
          </a:p>
          <a:p>
            <a:r>
              <a:rPr kumimoji="1" lang="ja-JP" altLang="en-US" dirty="0"/>
              <a:t>「最終課題</a:t>
            </a:r>
            <a:r>
              <a:rPr kumimoji="1" lang="en-US" altLang="ja-JP" dirty="0"/>
              <a:t>-</a:t>
            </a:r>
            <a:r>
              <a:rPr kumimoji="1" lang="en-US" altLang="ja-JP" dirty="0" err="1"/>
              <a:t>kuma</a:t>
            </a:r>
            <a:r>
              <a:rPr kumimoji="1" lang="ja-JP" altLang="en-US" dirty="0"/>
              <a:t>」に移動」</a:t>
            </a:r>
          </a:p>
        </p:txBody>
      </p:sp>
      <p:sp>
        <p:nvSpPr>
          <p:cNvPr id="3" name="正方形/長方形 2">
            <a:extLst>
              <a:ext uri="{FF2B5EF4-FFF2-40B4-BE49-F238E27FC236}">
                <a16:creationId xmlns:a16="http://schemas.microsoft.com/office/drawing/2014/main" id="{0B38BBBE-C3E3-79D0-15A2-03E123AB5AEB}"/>
              </a:ext>
            </a:extLst>
          </p:cNvPr>
          <p:cNvSpPr/>
          <p:nvPr/>
        </p:nvSpPr>
        <p:spPr>
          <a:xfrm>
            <a:off x="3331776" y="2327800"/>
            <a:ext cx="1653232" cy="34600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dirty="0"/>
          </a:p>
        </p:txBody>
      </p:sp>
      <p:sp>
        <p:nvSpPr>
          <p:cNvPr id="4" name="正方形/長方形 3">
            <a:extLst>
              <a:ext uri="{FF2B5EF4-FFF2-40B4-BE49-F238E27FC236}">
                <a16:creationId xmlns:a16="http://schemas.microsoft.com/office/drawing/2014/main" id="{68A2A510-FA23-7637-254E-06668C1A33D5}"/>
              </a:ext>
            </a:extLst>
          </p:cNvPr>
          <p:cNvSpPr/>
          <p:nvPr/>
        </p:nvSpPr>
        <p:spPr>
          <a:xfrm>
            <a:off x="1436700" y="3768449"/>
            <a:ext cx="900100" cy="31648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送信</a:t>
            </a:r>
          </a:p>
        </p:txBody>
      </p:sp>
      <p:sp>
        <p:nvSpPr>
          <p:cNvPr id="5" name="正方形/長方形 4">
            <a:extLst>
              <a:ext uri="{FF2B5EF4-FFF2-40B4-BE49-F238E27FC236}">
                <a16:creationId xmlns:a16="http://schemas.microsoft.com/office/drawing/2014/main" id="{62ECD876-54D4-B369-2B58-8B4EB8A641A5}"/>
              </a:ext>
            </a:extLst>
          </p:cNvPr>
          <p:cNvSpPr/>
          <p:nvPr/>
        </p:nvSpPr>
        <p:spPr>
          <a:xfrm>
            <a:off x="1455476" y="4599806"/>
            <a:ext cx="900100" cy="31648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送信</a:t>
            </a:r>
          </a:p>
        </p:txBody>
      </p:sp>
      <p:sp>
        <p:nvSpPr>
          <p:cNvPr id="6" name="矢印: 右 5">
            <a:extLst>
              <a:ext uri="{FF2B5EF4-FFF2-40B4-BE49-F238E27FC236}">
                <a16:creationId xmlns:a16="http://schemas.microsoft.com/office/drawing/2014/main" id="{300B402F-DFC8-6F2A-60C4-2CEEE648F70D}"/>
              </a:ext>
            </a:extLst>
          </p:cNvPr>
          <p:cNvSpPr/>
          <p:nvPr/>
        </p:nvSpPr>
        <p:spPr>
          <a:xfrm>
            <a:off x="2447595" y="3625783"/>
            <a:ext cx="900100" cy="934720"/>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71A50C37-B386-E172-C59C-AFC0B23E9ACE}"/>
              </a:ext>
            </a:extLst>
          </p:cNvPr>
          <p:cNvSpPr txBox="1"/>
          <p:nvPr/>
        </p:nvSpPr>
        <p:spPr>
          <a:xfrm>
            <a:off x="3347695" y="2594645"/>
            <a:ext cx="1656353" cy="954107"/>
          </a:xfrm>
          <a:prstGeom prst="rect">
            <a:avLst/>
          </a:prstGeom>
          <a:noFill/>
        </p:spPr>
        <p:txBody>
          <a:bodyPr wrap="square" rtlCol="0">
            <a:spAutoFit/>
          </a:bodyPr>
          <a:lstStyle/>
          <a:p>
            <a:r>
              <a:rPr kumimoji="1" lang="ja-JP" altLang="en-US" dirty="0"/>
              <a:t>〇</a:t>
            </a:r>
            <a:r>
              <a:rPr kumimoji="1" lang="en-US" altLang="ja-JP" dirty="0" err="1"/>
              <a:t>inisisi</a:t>
            </a:r>
            <a:r>
              <a:rPr kumimoji="1" lang="en-US" altLang="ja-JP" dirty="0"/>
              <a:t> _</a:t>
            </a:r>
            <a:r>
              <a:rPr kumimoji="1" lang="ja-JP" altLang="en-US" dirty="0"/>
              <a:t>北海・東北</a:t>
            </a:r>
            <a:endParaRPr kumimoji="1" lang="en-US" altLang="ja-JP" dirty="0"/>
          </a:p>
          <a:p>
            <a:endParaRPr kumimoji="1" lang="en-US" altLang="ja-JP" dirty="0"/>
          </a:p>
          <a:p>
            <a:r>
              <a:rPr kumimoji="1" lang="ja-JP" altLang="en-US" dirty="0"/>
              <a:t>〇</a:t>
            </a:r>
            <a:r>
              <a:rPr kumimoji="1" lang="en-US" altLang="ja-JP" dirty="0" err="1"/>
              <a:t>inosisi</a:t>
            </a:r>
            <a:r>
              <a:rPr kumimoji="1" lang="en-US" altLang="ja-JP" dirty="0"/>
              <a:t>_</a:t>
            </a:r>
            <a:r>
              <a:rPr kumimoji="1" lang="ja-JP" altLang="en-US" dirty="0"/>
              <a:t>関東</a:t>
            </a:r>
            <a:endParaRPr kumimoji="1" lang="en-US" altLang="ja-JP" dirty="0"/>
          </a:p>
        </p:txBody>
      </p:sp>
      <p:sp>
        <p:nvSpPr>
          <p:cNvPr id="8" name="正方形/長方形 7">
            <a:extLst>
              <a:ext uri="{FF2B5EF4-FFF2-40B4-BE49-F238E27FC236}">
                <a16:creationId xmlns:a16="http://schemas.microsoft.com/office/drawing/2014/main" id="{55AFF29C-06C3-355B-681F-A16F22BBE2CA}"/>
              </a:ext>
            </a:extLst>
          </p:cNvPr>
          <p:cNvSpPr/>
          <p:nvPr/>
        </p:nvSpPr>
        <p:spPr>
          <a:xfrm>
            <a:off x="4015632" y="2894987"/>
            <a:ext cx="900100" cy="31648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送信</a:t>
            </a:r>
          </a:p>
        </p:txBody>
      </p:sp>
      <p:sp>
        <p:nvSpPr>
          <p:cNvPr id="9" name="正方形/長方形 8">
            <a:extLst>
              <a:ext uri="{FF2B5EF4-FFF2-40B4-BE49-F238E27FC236}">
                <a16:creationId xmlns:a16="http://schemas.microsoft.com/office/drawing/2014/main" id="{72E40E92-15DA-7190-C366-0276D739F090}"/>
              </a:ext>
            </a:extLst>
          </p:cNvPr>
          <p:cNvSpPr/>
          <p:nvPr/>
        </p:nvSpPr>
        <p:spPr>
          <a:xfrm>
            <a:off x="4015632" y="3525829"/>
            <a:ext cx="900100" cy="31648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送信</a:t>
            </a:r>
          </a:p>
        </p:txBody>
      </p:sp>
      <p:graphicFrame>
        <p:nvGraphicFramePr>
          <p:cNvPr id="10" name="表 9">
            <a:extLst>
              <a:ext uri="{FF2B5EF4-FFF2-40B4-BE49-F238E27FC236}">
                <a16:creationId xmlns:a16="http://schemas.microsoft.com/office/drawing/2014/main" id="{1CC3986B-1644-CF3B-EBE8-5C29C938DBDB}"/>
              </a:ext>
            </a:extLst>
          </p:cNvPr>
          <p:cNvGraphicFramePr>
            <a:graphicFrameLocks noGrp="1"/>
          </p:cNvGraphicFramePr>
          <p:nvPr>
            <p:extLst>
              <p:ext uri="{D42A27DB-BD31-4B8C-83A1-F6EECF244321}">
                <p14:modId xmlns:p14="http://schemas.microsoft.com/office/powerpoint/2010/main" val="1212341613"/>
              </p:ext>
            </p:extLst>
          </p:nvPr>
        </p:nvGraphicFramePr>
        <p:xfrm>
          <a:off x="3347694" y="4015115"/>
          <a:ext cx="1656354" cy="1808980"/>
        </p:xfrm>
        <a:graphic>
          <a:graphicData uri="http://schemas.openxmlformats.org/drawingml/2006/table">
            <a:tbl>
              <a:tblPr firstRow="1" bandRow="1">
                <a:tableStyleId>{3C2FFA5D-87B4-456A-9821-1D502468CF0F}</a:tableStyleId>
              </a:tblPr>
              <a:tblGrid>
                <a:gridCol w="828177">
                  <a:extLst>
                    <a:ext uri="{9D8B030D-6E8A-4147-A177-3AD203B41FA5}">
                      <a16:colId xmlns:a16="http://schemas.microsoft.com/office/drawing/2014/main" val="2538159801"/>
                    </a:ext>
                  </a:extLst>
                </a:gridCol>
                <a:gridCol w="828177">
                  <a:extLst>
                    <a:ext uri="{9D8B030D-6E8A-4147-A177-3AD203B41FA5}">
                      <a16:colId xmlns:a16="http://schemas.microsoft.com/office/drawing/2014/main" val="885488326"/>
                    </a:ext>
                  </a:extLst>
                </a:gridCol>
              </a:tblGrid>
              <a:tr h="322705">
                <a:tc>
                  <a:txBody>
                    <a:bodyPr/>
                    <a:lstStyle/>
                    <a:p>
                      <a:r>
                        <a:rPr kumimoji="1" lang="en-US" altLang="ja-JP" dirty="0"/>
                        <a:t>name</a:t>
                      </a:r>
                      <a:endParaRPr kumimoji="1" lang="ja-JP" altLang="en-US" dirty="0"/>
                    </a:p>
                  </a:txBody>
                  <a:tcPr>
                    <a:solidFill>
                      <a:schemeClr val="accent5"/>
                    </a:solidFill>
                  </a:tcPr>
                </a:tc>
                <a:tc>
                  <a:txBody>
                    <a:bodyPr/>
                    <a:lstStyle/>
                    <a:p>
                      <a:r>
                        <a:rPr kumimoji="1" lang="en-US" altLang="ja-JP" dirty="0"/>
                        <a:t>Precent</a:t>
                      </a:r>
                      <a:endParaRPr kumimoji="1" lang="ja-JP" altLang="en-US" dirty="0"/>
                    </a:p>
                  </a:txBody>
                  <a:tcPr>
                    <a:solidFill>
                      <a:schemeClr val="accent5"/>
                    </a:solidFill>
                  </a:tcPr>
                </a:tc>
                <a:extLst>
                  <a:ext uri="{0D108BD9-81ED-4DB2-BD59-A6C34878D82A}">
                    <a16:rowId xmlns:a16="http://schemas.microsoft.com/office/drawing/2014/main" val="304534986"/>
                  </a:ext>
                </a:extLst>
              </a:tr>
              <a:tr h="322705">
                <a:tc>
                  <a:txBody>
                    <a:bodyPr/>
                    <a:lstStyle/>
                    <a:p>
                      <a:r>
                        <a:rPr kumimoji="1" lang="ja-JP" altLang="en-US" dirty="0"/>
                        <a:t>北海</a:t>
                      </a:r>
                    </a:p>
                  </a:txBody>
                  <a:tcPr/>
                </a:tc>
                <a:tc>
                  <a:txBody>
                    <a:bodyPr/>
                    <a:lstStyle/>
                    <a:p>
                      <a:r>
                        <a:rPr kumimoji="1" lang="ja-JP" altLang="en-US" dirty="0"/>
                        <a:t>０</a:t>
                      </a:r>
                    </a:p>
                  </a:txBody>
                  <a:tcPr/>
                </a:tc>
                <a:extLst>
                  <a:ext uri="{0D108BD9-81ED-4DB2-BD59-A6C34878D82A}">
                    <a16:rowId xmlns:a16="http://schemas.microsoft.com/office/drawing/2014/main" val="223364166"/>
                  </a:ext>
                </a:extLst>
              </a:tr>
              <a:tr h="322705">
                <a:tc>
                  <a:txBody>
                    <a:bodyPr/>
                    <a:lstStyle/>
                    <a:p>
                      <a:r>
                        <a:rPr kumimoji="1" lang="ja-JP" altLang="en-US" dirty="0"/>
                        <a:t>青森</a:t>
                      </a:r>
                    </a:p>
                  </a:txBody>
                  <a:tcPr/>
                </a:tc>
                <a:tc>
                  <a:txBody>
                    <a:bodyPr/>
                    <a:lstStyle/>
                    <a:p>
                      <a:r>
                        <a:rPr kumimoji="1" lang="ja-JP" altLang="en-US" dirty="0"/>
                        <a:t>２０</a:t>
                      </a:r>
                    </a:p>
                  </a:txBody>
                  <a:tcPr/>
                </a:tc>
                <a:extLst>
                  <a:ext uri="{0D108BD9-81ED-4DB2-BD59-A6C34878D82A}">
                    <a16:rowId xmlns:a16="http://schemas.microsoft.com/office/drawing/2014/main" val="3254158164"/>
                  </a:ext>
                </a:extLst>
              </a:tr>
              <a:tr h="322705">
                <a:tc>
                  <a:txBody>
                    <a:bodyPr/>
                    <a:lstStyle/>
                    <a:p>
                      <a:r>
                        <a:rPr kumimoji="1" lang="ja-JP" altLang="en-US" dirty="0"/>
                        <a:t>岩手</a:t>
                      </a:r>
                    </a:p>
                  </a:txBody>
                  <a:tcPr/>
                </a:tc>
                <a:tc>
                  <a:txBody>
                    <a:bodyPr/>
                    <a:lstStyle/>
                    <a:p>
                      <a:r>
                        <a:rPr kumimoji="1" lang="ja-JP" altLang="en-US" dirty="0"/>
                        <a:t>３０</a:t>
                      </a:r>
                    </a:p>
                  </a:txBody>
                  <a:tcPr/>
                </a:tc>
                <a:extLst>
                  <a:ext uri="{0D108BD9-81ED-4DB2-BD59-A6C34878D82A}">
                    <a16:rowId xmlns:a16="http://schemas.microsoft.com/office/drawing/2014/main" val="2567755969"/>
                  </a:ext>
                </a:extLst>
              </a:tr>
              <a:tr h="322705">
                <a:tc>
                  <a:txBody>
                    <a:bodyPr/>
                    <a:lstStyle/>
                    <a:p>
                      <a:r>
                        <a:rPr kumimoji="1" lang="ja-JP" altLang="en-US" dirty="0"/>
                        <a:t>・・・</a:t>
                      </a:r>
                    </a:p>
                  </a:txBody>
                  <a:tcPr/>
                </a:tc>
                <a:tc>
                  <a:txBody>
                    <a:bodyPr/>
                    <a:lstStyle/>
                    <a:p>
                      <a:r>
                        <a:rPr kumimoji="1" lang="ja-JP" altLang="en-US" dirty="0"/>
                        <a:t>・・・</a:t>
                      </a:r>
                    </a:p>
                  </a:txBody>
                  <a:tcPr/>
                </a:tc>
                <a:extLst>
                  <a:ext uri="{0D108BD9-81ED-4DB2-BD59-A6C34878D82A}">
                    <a16:rowId xmlns:a16="http://schemas.microsoft.com/office/drawing/2014/main" val="2149872971"/>
                  </a:ext>
                </a:extLst>
              </a:tr>
            </a:tbl>
          </a:graphicData>
        </a:graphic>
      </p:graphicFrame>
      <p:sp>
        <p:nvSpPr>
          <p:cNvPr id="11" name="正方形/長方形 10">
            <a:extLst>
              <a:ext uri="{FF2B5EF4-FFF2-40B4-BE49-F238E27FC236}">
                <a16:creationId xmlns:a16="http://schemas.microsoft.com/office/drawing/2014/main" id="{192ED5B4-AA00-0BAE-28D9-39FA63745FBF}"/>
              </a:ext>
            </a:extLst>
          </p:cNvPr>
          <p:cNvSpPr/>
          <p:nvPr/>
        </p:nvSpPr>
        <p:spPr>
          <a:xfrm>
            <a:off x="3331776" y="5851753"/>
            <a:ext cx="900100" cy="31648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戻る</a:t>
            </a:r>
          </a:p>
        </p:txBody>
      </p:sp>
      <p:sp>
        <p:nvSpPr>
          <p:cNvPr id="12" name="テキスト ボックス 11">
            <a:extLst>
              <a:ext uri="{FF2B5EF4-FFF2-40B4-BE49-F238E27FC236}">
                <a16:creationId xmlns:a16="http://schemas.microsoft.com/office/drawing/2014/main" id="{874ED608-F6AB-FB1D-CF37-D4EED6A67EA8}"/>
              </a:ext>
            </a:extLst>
          </p:cNvPr>
          <p:cNvSpPr txBox="1"/>
          <p:nvPr/>
        </p:nvSpPr>
        <p:spPr>
          <a:xfrm>
            <a:off x="683568" y="1993671"/>
            <a:ext cx="1672008" cy="316483"/>
          </a:xfrm>
          <a:prstGeom prst="rect">
            <a:avLst/>
          </a:prstGeom>
          <a:noFill/>
        </p:spPr>
        <p:txBody>
          <a:bodyPr wrap="square" rtlCol="0">
            <a:spAutoFit/>
          </a:bodyPr>
          <a:lstStyle/>
          <a:p>
            <a:pPr algn="ctr"/>
            <a:r>
              <a:rPr kumimoji="1" lang="ja-JP" altLang="en-US" dirty="0"/>
              <a:t>最終課題</a:t>
            </a:r>
            <a:r>
              <a:rPr kumimoji="1" lang="en-US" altLang="ja-JP" dirty="0"/>
              <a:t>-3</a:t>
            </a:r>
            <a:endParaRPr kumimoji="1" lang="ja-JP" altLang="en-US" dirty="0"/>
          </a:p>
        </p:txBody>
      </p:sp>
      <p:sp>
        <p:nvSpPr>
          <p:cNvPr id="13" name="テキスト ボックス 12">
            <a:extLst>
              <a:ext uri="{FF2B5EF4-FFF2-40B4-BE49-F238E27FC236}">
                <a16:creationId xmlns:a16="http://schemas.microsoft.com/office/drawing/2014/main" id="{F2647F7A-B43C-69E3-5761-1A2884E529B7}"/>
              </a:ext>
            </a:extLst>
          </p:cNvPr>
          <p:cNvSpPr txBox="1"/>
          <p:nvPr/>
        </p:nvSpPr>
        <p:spPr>
          <a:xfrm>
            <a:off x="3395872" y="2002272"/>
            <a:ext cx="1589136" cy="307777"/>
          </a:xfrm>
          <a:prstGeom prst="rect">
            <a:avLst/>
          </a:prstGeom>
          <a:noFill/>
        </p:spPr>
        <p:txBody>
          <a:bodyPr wrap="square" rtlCol="0">
            <a:spAutoFit/>
          </a:bodyPr>
          <a:lstStyle/>
          <a:p>
            <a:pPr algn="ctr"/>
            <a:r>
              <a:rPr kumimoji="1" lang="ja-JP" altLang="en-US" dirty="0"/>
              <a:t>最終課題</a:t>
            </a:r>
            <a:r>
              <a:rPr kumimoji="1" lang="en-US" altLang="ja-JP" dirty="0"/>
              <a:t>-</a:t>
            </a:r>
            <a:r>
              <a:rPr kumimoji="1" lang="en-US" altLang="ja-JP" dirty="0" err="1"/>
              <a:t>inosisi</a:t>
            </a:r>
            <a:endParaRPr kumimoji="1" lang="ja-JP" altLang="en-US" dirty="0"/>
          </a:p>
        </p:txBody>
      </p:sp>
      <p:cxnSp>
        <p:nvCxnSpPr>
          <p:cNvPr id="15" name="コネクタ: 曲線 14">
            <a:extLst>
              <a:ext uri="{FF2B5EF4-FFF2-40B4-BE49-F238E27FC236}">
                <a16:creationId xmlns:a16="http://schemas.microsoft.com/office/drawing/2014/main" id="{87FF41E3-087D-859D-5F5F-D5DEF02A4654}"/>
              </a:ext>
            </a:extLst>
          </p:cNvPr>
          <p:cNvCxnSpPr>
            <a:endCxn id="12" idx="3"/>
          </p:cNvCxnSpPr>
          <p:nvPr/>
        </p:nvCxnSpPr>
        <p:spPr>
          <a:xfrm rot="16200000" flipV="1">
            <a:off x="936342" y="3571148"/>
            <a:ext cx="3941383" cy="110291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dirty="0"/>
              <a:t>4. プログラムの説明</a:t>
            </a:r>
            <a:endParaRPr dirty="0"/>
          </a:p>
        </p:txBody>
      </p:sp>
      <p:sp>
        <p:nvSpPr>
          <p:cNvPr id="125" name="Google Shape;125;p6"/>
          <p:cNvSpPr txBox="1">
            <a:spLocks noGrp="1"/>
          </p:cNvSpPr>
          <p:nvPr>
            <p:ph type="body" idx="1"/>
          </p:nvPr>
        </p:nvSpPr>
        <p:spPr>
          <a:xfrm>
            <a:off x="457200" y="1600201"/>
            <a:ext cx="8229600" cy="74868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ja-JP"/>
              <a:t>4.1 プログラムの構成</a:t>
            </a:r>
            <a:endParaRPr/>
          </a:p>
        </p:txBody>
      </p:sp>
      <p:sp>
        <p:nvSpPr>
          <p:cNvPr id="127" name="Google Shape;127;p6"/>
          <p:cNvSpPr/>
          <p:nvPr/>
        </p:nvSpPr>
        <p:spPr>
          <a:xfrm>
            <a:off x="467544" y="2852936"/>
            <a:ext cx="4752528" cy="3346922"/>
          </a:xfrm>
          <a:prstGeom prst="roundRect">
            <a:avLst>
              <a:gd name="adj" fmla="val 632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 name="Google Shape;128;p6"/>
          <p:cNvSpPr txBox="1"/>
          <p:nvPr/>
        </p:nvSpPr>
        <p:spPr>
          <a:xfrm>
            <a:off x="410207" y="2926415"/>
            <a:ext cx="3315914"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Calibri"/>
                <a:ea typeface="Calibri"/>
                <a:cs typeface="Calibri"/>
                <a:sym typeface="Calibri"/>
              </a:rPr>
              <a:t>A23i093</a:t>
            </a:r>
            <a:r>
              <a:rPr lang="ja-JP" altLang="en-US" sz="1000" dirty="0">
                <a:solidFill>
                  <a:schemeClr val="dk1"/>
                </a:solidFill>
                <a:latin typeface="Calibri"/>
                <a:ea typeface="Calibri"/>
                <a:cs typeface="Calibri"/>
                <a:sym typeface="Calibri"/>
              </a:rPr>
              <a:t>最終課題</a:t>
            </a:r>
            <a:r>
              <a:rPr lang="en-US" altLang="ja-JP" sz="1000" dirty="0">
                <a:solidFill>
                  <a:schemeClr val="dk1"/>
                </a:solidFill>
                <a:latin typeface="Calibri"/>
                <a:ea typeface="Calibri"/>
                <a:cs typeface="Calibri"/>
                <a:sym typeface="Calibri"/>
              </a:rPr>
              <a:t>-1.php</a:t>
            </a:r>
            <a:endParaRPr sz="1000" dirty="0">
              <a:solidFill>
                <a:schemeClr val="dk1"/>
              </a:solidFill>
              <a:latin typeface="Calibri"/>
              <a:ea typeface="Calibri"/>
              <a:cs typeface="Calibri"/>
              <a:sym typeface="Calibri"/>
            </a:endParaRPr>
          </a:p>
        </p:txBody>
      </p:sp>
      <p:pic>
        <p:nvPicPr>
          <p:cNvPr id="129" name="Google Shape;129;p6"/>
          <p:cNvPicPr preferRelativeResize="0"/>
          <p:nvPr/>
        </p:nvPicPr>
        <p:blipFill rotWithShape="1">
          <a:blip r:embed="rId3">
            <a:alphaModFix/>
          </a:blip>
          <a:srcRect/>
          <a:stretch/>
        </p:blipFill>
        <p:spPr>
          <a:xfrm>
            <a:off x="706053" y="3251217"/>
            <a:ext cx="718829" cy="1114426"/>
          </a:xfrm>
          <a:prstGeom prst="rect">
            <a:avLst/>
          </a:prstGeom>
          <a:noFill/>
          <a:ln>
            <a:noFill/>
          </a:ln>
        </p:spPr>
      </p:pic>
      <p:pic>
        <p:nvPicPr>
          <p:cNvPr id="131" name="Google Shape;131;p6"/>
          <p:cNvPicPr preferRelativeResize="0"/>
          <p:nvPr/>
        </p:nvPicPr>
        <p:blipFill rotWithShape="1">
          <a:blip r:embed="rId3">
            <a:alphaModFix/>
          </a:blip>
          <a:srcRect/>
          <a:stretch/>
        </p:blipFill>
        <p:spPr>
          <a:xfrm>
            <a:off x="2096833" y="3245919"/>
            <a:ext cx="718829" cy="1114426"/>
          </a:xfrm>
          <a:prstGeom prst="rect">
            <a:avLst/>
          </a:prstGeom>
          <a:noFill/>
          <a:ln>
            <a:noFill/>
          </a:ln>
        </p:spPr>
      </p:pic>
      <p:sp>
        <p:nvSpPr>
          <p:cNvPr id="132" name="Google Shape;132;p6"/>
          <p:cNvSpPr/>
          <p:nvPr/>
        </p:nvSpPr>
        <p:spPr>
          <a:xfrm>
            <a:off x="1424882" y="3592406"/>
            <a:ext cx="671951" cy="432048"/>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3" name="Google Shape;133;p6"/>
          <p:cNvSpPr txBox="1"/>
          <p:nvPr/>
        </p:nvSpPr>
        <p:spPr>
          <a:xfrm>
            <a:off x="5364088" y="3021785"/>
            <a:ext cx="3672408" cy="3416279"/>
          </a:xfrm>
          <a:prstGeom prst="rect">
            <a:avLst/>
          </a:prstGeom>
          <a:solidFill>
            <a:srgbClr val="FFFF00"/>
          </a:solidFill>
          <a:ln>
            <a:noFill/>
          </a:ln>
        </p:spPr>
        <p:txBody>
          <a:bodyPr spcFirstLastPara="1" wrap="square" lIns="91425" tIns="45700" rIns="91425" bIns="45700" anchor="t" anchorCtr="0">
            <a:spAutoFit/>
          </a:bodyPr>
          <a:lstStyle/>
          <a:p>
            <a:pPr marL="342900" marR="0" lvl="0" indent="-342900" algn="l" rtl="0">
              <a:spcBef>
                <a:spcPts val="0"/>
              </a:spcBef>
              <a:spcAft>
                <a:spcPts val="0"/>
              </a:spcAft>
              <a:buFont typeface="+mj-lt"/>
              <a:buAutoNum type="arabicPeriod"/>
            </a:pPr>
            <a:r>
              <a:rPr lang="ja-JP" altLang="en-US" sz="1800" dirty="0">
                <a:solidFill>
                  <a:schemeClr val="dk1"/>
                </a:solidFill>
                <a:latin typeface="Calibri"/>
                <a:ea typeface="Calibri"/>
                <a:cs typeface="Calibri"/>
                <a:sym typeface="Calibri"/>
              </a:rPr>
              <a:t>最初に「最終課題</a:t>
            </a:r>
            <a:r>
              <a:rPr lang="en-US" altLang="ja-JP" sz="1800" dirty="0">
                <a:solidFill>
                  <a:schemeClr val="dk1"/>
                </a:solidFill>
                <a:latin typeface="Calibri"/>
                <a:ea typeface="Calibri"/>
                <a:cs typeface="Calibri"/>
                <a:sym typeface="Calibri"/>
              </a:rPr>
              <a:t>-1</a:t>
            </a:r>
            <a:r>
              <a:rPr lang="ja-JP" altLang="en-US" sz="1800" dirty="0">
                <a:solidFill>
                  <a:schemeClr val="dk1"/>
                </a:solidFill>
                <a:latin typeface="Calibri"/>
                <a:ea typeface="Calibri"/>
                <a:cs typeface="Calibri"/>
                <a:sym typeface="Calibri"/>
              </a:rPr>
              <a:t>」から始まって矢印のとうりに「</a:t>
            </a:r>
            <a:r>
              <a:rPr lang="en-US" altLang="ja-JP" sz="1800" dirty="0">
                <a:solidFill>
                  <a:schemeClr val="dk1"/>
                </a:solidFill>
                <a:latin typeface="Calibri"/>
                <a:ea typeface="Calibri"/>
                <a:cs typeface="Calibri"/>
                <a:sym typeface="Calibri"/>
              </a:rPr>
              <a:t>form action</a:t>
            </a:r>
            <a:r>
              <a:rPr lang="ja-JP" altLang="en-US" sz="1800" dirty="0">
                <a:solidFill>
                  <a:schemeClr val="dk1"/>
                </a:solidFill>
                <a:latin typeface="Calibri"/>
                <a:ea typeface="Calibri"/>
                <a:cs typeface="Calibri"/>
                <a:sym typeface="Calibri"/>
              </a:rPr>
              <a:t>」の「送信」を使って「最終課題</a:t>
            </a:r>
            <a:r>
              <a:rPr lang="en-US" altLang="ja-JP" sz="1800" dirty="0">
                <a:solidFill>
                  <a:schemeClr val="dk1"/>
                </a:solidFill>
                <a:latin typeface="Calibri"/>
                <a:ea typeface="Calibri"/>
                <a:cs typeface="Calibri"/>
                <a:sym typeface="Calibri"/>
              </a:rPr>
              <a:t>-2</a:t>
            </a:r>
            <a:r>
              <a:rPr lang="ja-JP" altLang="en-US" sz="1800" dirty="0">
                <a:solidFill>
                  <a:schemeClr val="dk1"/>
                </a:solidFill>
                <a:latin typeface="Calibri"/>
                <a:ea typeface="Calibri"/>
                <a:cs typeface="Calibri"/>
                <a:sym typeface="Calibri"/>
              </a:rPr>
              <a:t>」を経由して「最終課題</a:t>
            </a:r>
            <a:r>
              <a:rPr lang="en-US" altLang="ja-JP" sz="1800" dirty="0">
                <a:solidFill>
                  <a:schemeClr val="dk1"/>
                </a:solidFill>
                <a:latin typeface="Calibri"/>
                <a:ea typeface="Calibri"/>
                <a:cs typeface="Calibri"/>
                <a:sym typeface="Calibri"/>
              </a:rPr>
              <a:t>-3</a:t>
            </a:r>
            <a:r>
              <a:rPr lang="ja-JP" altLang="en-US" sz="1800" dirty="0">
                <a:solidFill>
                  <a:schemeClr val="dk1"/>
                </a:solidFill>
                <a:latin typeface="Calibri"/>
                <a:ea typeface="Calibri"/>
                <a:cs typeface="Calibri"/>
                <a:sym typeface="Calibri"/>
              </a:rPr>
              <a:t>」に移動。</a:t>
            </a: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a:pPr>
            <a:r>
              <a:rPr lang="ja-JP" altLang="en-US" sz="1800" dirty="0">
                <a:solidFill>
                  <a:schemeClr val="dk1"/>
                </a:solidFill>
                <a:latin typeface="Calibri"/>
                <a:ea typeface="Calibri"/>
                <a:cs typeface="Calibri"/>
                <a:sym typeface="Calibri"/>
              </a:rPr>
              <a:t>「</a:t>
            </a:r>
            <a:r>
              <a:rPr lang="en-US" altLang="ja-JP" sz="1800" dirty="0">
                <a:solidFill>
                  <a:schemeClr val="dk1"/>
                </a:solidFill>
                <a:latin typeface="Calibri"/>
                <a:ea typeface="Calibri"/>
                <a:cs typeface="Calibri"/>
                <a:sym typeface="Calibri"/>
              </a:rPr>
              <a:t>-3</a:t>
            </a:r>
            <a:r>
              <a:rPr lang="ja-JP" altLang="en-US" sz="1800" dirty="0">
                <a:solidFill>
                  <a:schemeClr val="dk1"/>
                </a:solidFill>
                <a:latin typeface="Calibri"/>
                <a:ea typeface="Calibri"/>
                <a:cs typeface="Calibri"/>
                <a:sym typeface="Calibri"/>
              </a:rPr>
              <a:t>」からは「</a:t>
            </a:r>
            <a:r>
              <a:rPr lang="en-US" altLang="ja-JP" sz="1800" dirty="0">
                <a:solidFill>
                  <a:schemeClr val="dk1"/>
                </a:solidFill>
                <a:latin typeface="Calibri"/>
                <a:ea typeface="Calibri"/>
                <a:cs typeface="Calibri"/>
                <a:sym typeface="Calibri"/>
              </a:rPr>
              <a:t>form action</a:t>
            </a:r>
            <a:r>
              <a:rPr lang="ja-JP" altLang="en-US" sz="1800" dirty="0">
                <a:solidFill>
                  <a:schemeClr val="dk1"/>
                </a:solidFill>
                <a:latin typeface="Calibri"/>
                <a:ea typeface="Calibri"/>
                <a:cs typeface="Calibri"/>
                <a:sym typeface="Calibri"/>
              </a:rPr>
              <a:t>」の「送信」で「最終課題</a:t>
            </a: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inosisi</a:t>
            </a: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kuma</a:t>
            </a: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saru</a:t>
            </a:r>
            <a:r>
              <a:rPr lang="en-US" altLang="ja-JP" sz="1800" dirty="0">
                <a:solidFill>
                  <a:schemeClr val="dk1"/>
                </a:solidFill>
                <a:latin typeface="Calibri"/>
                <a:ea typeface="Calibri"/>
                <a:cs typeface="Calibri"/>
                <a:sym typeface="Calibri"/>
              </a:rPr>
              <a:t>,-sika</a:t>
            </a:r>
            <a:r>
              <a:rPr lang="ja-JP" altLang="en-US" sz="1800" dirty="0">
                <a:solidFill>
                  <a:schemeClr val="dk1"/>
                </a:solidFill>
                <a:latin typeface="Calibri"/>
                <a:ea typeface="Calibri"/>
                <a:cs typeface="Calibri"/>
                <a:sym typeface="Calibri"/>
              </a:rPr>
              <a:t>」に移動して、「</a:t>
            </a: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inosisi</a:t>
            </a: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kuma</a:t>
            </a: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saru</a:t>
            </a:r>
            <a:r>
              <a:rPr lang="en-US" altLang="ja-JP" sz="1800" dirty="0">
                <a:solidFill>
                  <a:schemeClr val="dk1"/>
                </a:solidFill>
                <a:latin typeface="Calibri"/>
                <a:ea typeface="Calibri"/>
                <a:cs typeface="Calibri"/>
                <a:sym typeface="Calibri"/>
              </a:rPr>
              <a:t>,-sika</a:t>
            </a:r>
            <a:r>
              <a:rPr lang="ja-JP" altLang="en-US" sz="1800" dirty="0">
                <a:solidFill>
                  <a:schemeClr val="dk1"/>
                </a:solidFill>
                <a:latin typeface="Calibri"/>
                <a:ea typeface="Calibri"/>
                <a:cs typeface="Calibri"/>
                <a:sym typeface="Calibri"/>
              </a:rPr>
              <a:t>」の「</a:t>
            </a:r>
            <a:r>
              <a:rPr lang="en-US" altLang="ja-JP" sz="1800" dirty="0">
                <a:solidFill>
                  <a:schemeClr val="dk1"/>
                </a:solidFill>
                <a:latin typeface="Calibri"/>
                <a:ea typeface="Calibri"/>
                <a:cs typeface="Calibri"/>
                <a:sym typeface="Calibri"/>
              </a:rPr>
              <a:t>form action</a:t>
            </a:r>
            <a:r>
              <a:rPr lang="ja-JP" altLang="en-US" sz="1800" dirty="0">
                <a:solidFill>
                  <a:schemeClr val="dk1"/>
                </a:solidFill>
                <a:latin typeface="Calibri"/>
                <a:ea typeface="Calibri"/>
                <a:cs typeface="Calibri"/>
                <a:sym typeface="Calibri"/>
              </a:rPr>
              <a:t>」の「戻る」で「</a:t>
            </a:r>
            <a:r>
              <a:rPr lang="en-US" altLang="ja-JP" sz="1800" dirty="0">
                <a:solidFill>
                  <a:schemeClr val="dk1"/>
                </a:solidFill>
                <a:latin typeface="Calibri"/>
                <a:ea typeface="Calibri"/>
                <a:cs typeface="Calibri"/>
                <a:sym typeface="Calibri"/>
              </a:rPr>
              <a:t>-3</a:t>
            </a:r>
            <a:r>
              <a:rPr lang="ja-JP" altLang="en-US" sz="1800" dirty="0">
                <a:solidFill>
                  <a:schemeClr val="dk1"/>
                </a:solidFill>
                <a:latin typeface="Calibri"/>
                <a:ea typeface="Calibri"/>
                <a:cs typeface="Calibri"/>
                <a:sym typeface="Calibri"/>
              </a:rPr>
              <a:t>」に戻り、それぞれは往復できるように構成。</a:t>
            </a:r>
            <a:endParaRPr lang="en-US" altLang="ja-JP" sz="1800" dirty="0">
              <a:solidFill>
                <a:schemeClr val="dk1"/>
              </a:solidFill>
              <a:latin typeface="Calibri"/>
              <a:ea typeface="Calibri"/>
              <a:cs typeface="Calibri"/>
              <a:sym typeface="Calibri"/>
            </a:endParaRPr>
          </a:p>
        </p:txBody>
      </p:sp>
      <p:sp>
        <p:nvSpPr>
          <p:cNvPr id="134" name="Google Shape;134;p6"/>
          <p:cNvSpPr txBox="1"/>
          <p:nvPr/>
        </p:nvSpPr>
        <p:spPr>
          <a:xfrm>
            <a:off x="793875" y="6206876"/>
            <a:ext cx="396044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a:solidFill>
                  <a:schemeClr val="dk1"/>
                </a:solidFill>
                <a:latin typeface="Calibri"/>
                <a:ea typeface="Calibri"/>
                <a:cs typeface="Calibri"/>
                <a:sym typeface="Calibri"/>
              </a:rPr>
              <a:t>図3:PHPプログラムファイル間の関係</a:t>
            </a:r>
            <a:endParaRPr sz="1800">
              <a:solidFill>
                <a:schemeClr val="dk1"/>
              </a:solidFill>
              <a:latin typeface="Calibri"/>
              <a:ea typeface="Calibri"/>
              <a:cs typeface="Calibri"/>
              <a:sym typeface="Calibri"/>
            </a:endParaRPr>
          </a:p>
        </p:txBody>
      </p:sp>
      <p:pic>
        <p:nvPicPr>
          <p:cNvPr id="2" name="Google Shape;131;p6">
            <a:extLst>
              <a:ext uri="{FF2B5EF4-FFF2-40B4-BE49-F238E27FC236}">
                <a16:creationId xmlns:a16="http://schemas.microsoft.com/office/drawing/2014/main" id="{3018639A-F3A7-B8BD-937C-78603DE12610}"/>
              </a:ext>
            </a:extLst>
          </p:cNvPr>
          <p:cNvPicPr preferRelativeResize="0"/>
          <p:nvPr/>
        </p:nvPicPr>
        <p:blipFill rotWithShape="1">
          <a:blip r:embed="rId3">
            <a:alphaModFix/>
          </a:blip>
          <a:srcRect/>
          <a:stretch/>
        </p:blipFill>
        <p:spPr>
          <a:xfrm>
            <a:off x="3508348" y="3245919"/>
            <a:ext cx="718829" cy="1114426"/>
          </a:xfrm>
          <a:prstGeom prst="rect">
            <a:avLst/>
          </a:prstGeom>
          <a:noFill/>
          <a:ln>
            <a:noFill/>
          </a:ln>
        </p:spPr>
      </p:pic>
      <p:sp>
        <p:nvSpPr>
          <p:cNvPr id="3" name="Google Shape;132;p6">
            <a:extLst>
              <a:ext uri="{FF2B5EF4-FFF2-40B4-BE49-F238E27FC236}">
                <a16:creationId xmlns:a16="http://schemas.microsoft.com/office/drawing/2014/main" id="{B6D75793-7F7E-3424-B1AE-4DA5540396E0}"/>
              </a:ext>
            </a:extLst>
          </p:cNvPr>
          <p:cNvSpPr/>
          <p:nvPr/>
        </p:nvSpPr>
        <p:spPr>
          <a:xfrm>
            <a:off x="2836397" y="3592406"/>
            <a:ext cx="671951" cy="432048"/>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 name="Google Shape;131;p6">
            <a:extLst>
              <a:ext uri="{FF2B5EF4-FFF2-40B4-BE49-F238E27FC236}">
                <a16:creationId xmlns:a16="http://schemas.microsoft.com/office/drawing/2014/main" id="{FCA15068-EA54-6824-806B-480D4C4F323B}"/>
              </a:ext>
            </a:extLst>
          </p:cNvPr>
          <p:cNvPicPr preferRelativeResize="0"/>
          <p:nvPr/>
        </p:nvPicPr>
        <p:blipFill rotWithShape="1">
          <a:blip r:embed="rId3">
            <a:alphaModFix/>
          </a:blip>
          <a:srcRect/>
          <a:stretch/>
        </p:blipFill>
        <p:spPr>
          <a:xfrm>
            <a:off x="2711878" y="4863872"/>
            <a:ext cx="718829" cy="1114426"/>
          </a:xfrm>
          <a:prstGeom prst="rect">
            <a:avLst/>
          </a:prstGeom>
          <a:noFill/>
          <a:ln>
            <a:noFill/>
          </a:ln>
        </p:spPr>
      </p:pic>
      <p:pic>
        <p:nvPicPr>
          <p:cNvPr id="10" name="Google Shape;131;p6">
            <a:extLst>
              <a:ext uri="{FF2B5EF4-FFF2-40B4-BE49-F238E27FC236}">
                <a16:creationId xmlns:a16="http://schemas.microsoft.com/office/drawing/2014/main" id="{8E0C0A52-B0B3-9AA0-E853-6F8AC20B79D4}"/>
              </a:ext>
            </a:extLst>
          </p:cNvPr>
          <p:cNvPicPr preferRelativeResize="0"/>
          <p:nvPr/>
        </p:nvPicPr>
        <p:blipFill rotWithShape="1">
          <a:blip r:embed="rId3">
            <a:alphaModFix/>
          </a:blip>
          <a:srcRect/>
          <a:stretch/>
        </p:blipFill>
        <p:spPr>
          <a:xfrm>
            <a:off x="1737418" y="4863872"/>
            <a:ext cx="718829" cy="1114426"/>
          </a:xfrm>
          <a:prstGeom prst="rect">
            <a:avLst/>
          </a:prstGeom>
          <a:noFill/>
          <a:ln>
            <a:noFill/>
          </a:ln>
        </p:spPr>
      </p:pic>
      <p:pic>
        <p:nvPicPr>
          <p:cNvPr id="11" name="Google Shape;131;p6">
            <a:extLst>
              <a:ext uri="{FF2B5EF4-FFF2-40B4-BE49-F238E27FC236}">
                <a16:creationId xmlns:a16="http://schemas.microsoft.com/office/drawing/2014/main" id="{C4352C56-A86A-535F-DA55-8D4368693CF3}"/>
              </a:ext>
            </a:extLst>
          </p:cNvPr>
          <p:cNvPicPr preferRelativeResize="0"/>
          <p:nvPr/>
        </p:nvPicPr>
        <p:blipFill rotWithShape="1">
          <a:blip r:embed="rId3">
            <a:alphaModFix/>
          </a:blip>
          <a:srcRect/>
          <a:stretch/>
        </p:blipFill>
        <p:spPr>
          <a:xfrm>
            <a:off x="723175" y="4868444"/>
            <a:ext cx="718829" cy="1114426"/>
          </a:xfrm>
          <a:prstGeom prst="rect">
            <a:avLst/>
          </a:prstGeom>
          <a:noFill/>
          <a:ln>
            <a:noFill/>
          </a:ln>
        </p:spPr>
      </p:pic>
      <p:pic>
        <p:nvPicPr>
          <p:cNvPr id="12" name="Google Shape;131;p6">
            <a:extLst>
              <a:ext uri="{FF2B5EF4-FFF2-40B4-BE49-F238E27FC236}">
                <a16:creationId xmlns:a16="http://schemas.microsoft.com/office/drawing/2014/main" id="{12D4F484-389F-21E1-2662-1B2ABE357079}"/>
              </a:ext>
            </a:extLst>
          </p:cNvPr>
          <p:cNvPicPr preferRelativeResize="0"/>
          <p:nvPr/>
        </p:nvPicPr>
        <p:blipFill rotWithShape="1">
          <a:blip r:embed="rId3">
            <a:alphaModFix/>
          </a:blip>
          <a:srcRect/>
          <a:stretch/>
        </p:blipFill>
        <p:spPr>
          <a:xfrm>
            <a:off x="3726121" y="4863872"/>
            <a:ext cx="718829" cy="1114426"/>
          </a:xfrm>
          <a:prstGeom prst="rect">
            <a:avLst/>
          </a:prstGeom>
          <a:noFill/>
          <a:ln>
            <a:noFill/>
          </a:ln>
        </p:spPr>
      </p:pic>
      <p:cxnSp>
        <p:nvCxnSpPr>
          <p:cNvPr id="14" name="コネクタ: カギ線 13">
            <a:extLst>
              <a:ext uri="{FF2B5EF4-FFF2-40B4-BE49-F238E27FC236}">
                <a16:creationId xmlns:a16="http://schemas.microsoft.com/office/drawing/2014/main" id="{B217A9FE-96C6-015D-2B6E-A11940E98B60}"/>
              </a:ext>
            </a:extLst>
          </p:cNvPr>
          <p:cNvCxnSpPr>
            <a:stCxn id="2" idx="3"/>
            <a:endCxn id="12" idx="0"/>
          </p:cNvCxnSpPr>
          <p:nvPr/>
        </p:nvCxnSpPr>
        <p:spPr>
          <a:xfrm flipH="1">
            <a:off x="4085536" y="3803132"/>
            <a:ext cx="141641" cy="1060740"/>
          </a:xfrm>
          <a:prstGeom prst="bentConnector4">
            <a:avLst>
              <a:gd name="adj1" fmla="val -161394"/>
              <a:gd name="adj2" fmla="val 76265"/>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コネクタ: カギ線 15">
            <a:extLst>
              <a:ext uri="{FF2B5EF4-FFF2-40B4-BE49-F238E27FC236}">
                <a16:creationId xmlns:a16="http://schemas.microsoft.com/office/drawing/2014/main" id="{8C472818-8F0E-418C-8AF6-451F0FC29BF0}"/>
              </a:ext>
            </a:extLst>
          </p:cNvPr>
          <p:cNvCxnSpPr>
            <a:endCxn id="11" idx="0"/>
          </p:cNvCxnSpPr>
          <p:nvPr/>
        </p:nvCxnSpPr>
        <p:spPr>
          <a:xfrm rot="10800000" flipV="1">
            <a:off x="1082591" y="4612640"/>
            <a:ext cx="3144587" cy="25580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コネクタ: カギ線 17">
            <a:extLst>
              <a:ext uri="{FF2B5EF4-FFF2-40B4-BE49-F238E27FC236}">
                <a16:creationId xmlns:a16="http://schemas.microsoft.com/office/drawing/2014/main" id="{4B17188D-6BCD-7B6D-23AB-9700B7BA4AE6}"/>
              </a:ext>
            </a:extLst>
          </p:cNvPr>
          <p:cNvCxnSpPr>
            <a:endCxn id="10" idx="0"/>
          </p:cNvCxnSpPr>
          <p:nvPr/>
        </p:nvCxnSpPr>
        <p:spPr>
          <a:xfrm rot="10800000" flipV="1">
            <a:off x="2096833" y="4622800"/>
            <a:ext cx="2130344" cy="24107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コネクタ: カギ線 19">
            <a:extLst>
              <a:ext uri="{FF2B5EF4-FFF2-40B4-BE49-F238E27FC236}">
                <a16:creationId xmlns:a16="http://schemas.microsoft.com/office/drawing/2014/main" id="{F16538F0-3D1E-BF60-66FF-5919BB469C7A}"/>
              </a:ext>
            </a:extLst>
          </p:cNvPr>
          <p:cNvCxnSpPr>
            <a:endCxn id="9" idx="0"/>
          </p:cNvCxnSpPr>
          <p:nvPr/>
        </p:nvCxnSpPr>
        <p:spPr>
          <a:xfrm rot="10800000" flipV="1">
            <a:off x="3071293" y="4608068"/>
            <a:ext cx="1155884" cy="25580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Google Shape;128;p6">
            <a:extLst>
              <a:ext uri="{FF2B5EF4-FFF2-40B4-BE49-F238E27FC236}">
                <a16:creationId xmlns:a16="http://schemas.microsoft.com/office/drawing/2014/main" id="{0E452B52-7172-6605-F07C-6EE99B3F8F65}"/>
              </a:ext>
            </a:extLst>
          </p:cNvPr>
          <p:cNvSpPr txBox="1"/>
          <p:nvPr/>
        </p:nvSpPr>
        <p:spPr>
          <a:xfrm>
            <a:off x="1743288" y="2966604"/>
            <a:ext cx="3315914"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Calibri"/>
                <a:ea typeface="Calibri"/>
                <a:cs typeface="Calibri"/>
                <a:sym typeface="Calibri"/>
              </a:rPr>
              <a:t>A23i093</a:t>
            </a:r>
            <a:r>
              <a:rPr lang="ja-JP" altLang="en-US" sz="1000" dirty="0">
                <a:solidFill>
                  <a:schemeClr val="dk1"/>
                </a:solidFill>
                <a:latin typeface="Calibri"/>
                <a:ea typeface="Calibri"/>
                <a:cs typeface="Calibri"/>
                <a:sym typeface="Calibri"/>
              </a:rPr>
              <a:t>最終課題</a:t>
            </a:r>
            <a:r>
              <a:rPr lang="en-US" altLang="ja-JP" sz="1000" dirty="0">
                <a:solidFill>
                  <a:schemeClr val="dk1"/>
                </a:solidFill>
                <a:latin typeface="Calibri"/>
                <a:ea typeface="Calibri"/>
                <a:cs typeface="Calibri"/>
                <a:sym typeface="Calibri"/>
              </a:rPr>
              <a:t>-2.php</a:t>
            </a:r>
            <a:endParaRPr sz="1000" dirty="0">
              <a:solidFill>
                <a:schemeClr val="dk1"/>
              </a:solidFill>
              <a:latin typeface="Calibri"/>
              <a:ea typeface="Calibri"/>
              <a:cs typeface="Calibri"/>
              <a:sym typeface="Calibri"/>
            </a:endParaRPr>
          </a:p>
        </p:txBody>
      </p:sp>
      <p:sp>
        <p:nvSpPr>
          <p:cNvPr id="22" name="Google Shape;128;p6">
            <a:extLst>
              <a:ext uri="{FF2B5EF4-FFF2-40B4-BE49-F238E27FC236}">
                <a16:creationId xmlns:a16="http://schemas.microsoft.com/office/drawing/2014/main" id="{0754F29C-E9BF-D949-2149-5067DCE741CC}"/>
              </a:ext>
            </a:extLst>
          </p:cNvPr>
          <p:cNvSpPr txBox="1"/>
          <p:nvPr/>
        </p:nvSpPr>
        <p:spPr>
          <a:xfrm>
            <a:off x="266191" y="5020257"/>
            <a:ext cx="3315914"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Calibri"/>
                <a:ea typeface="Calibri"/>
                <a:cs typeface="Calibri"/>
                <a:sym typeface="Calibri"/>
              </a:rPr>
              <a:t>A23i093</a:t>
            </a:r>
            <a:r>
              <a:rPr lang="ja-JP" altLang="en-US" sz="1000" dirty="0">
                <a:solidFill>
                  <a:schemeClr val="dk1"/>
                </a:solidFill>
                <a:latin typeface="Calibri"/>
                <a:ea typeface="Calibri"/>
                <a:cs typeface="Calibri"/>
                <a:sym typeface="Calibri"/>
              </a:rPr>
              <a:t>最終課題</a:t>
            </a:r>
            <a:r>
              <a:rPr lang="en-US" altLang="ja-JP" sz="1000" dirty="0">
                <a:solidFill>
                  <a:schemeClr val="dk1"/>
                </a:solidFill>
                <a:latin typeface="Calibri"/>
                <a:ea typeface="Calibri"/>
                <a:cs typeface="Calibri"/>
                <a:sym typeface="Calibri"/>
              </a:rPr>
              <a:t>-</a:t>
            </a:r>
            <a:r>
              <a:rPr lang="en-US" altLang="ja-JP" sz="1000" dirty="0" err="1">
                <a:solidFill>
                  <a:schemeClr val="dk1"/>
                </a:solidFill>
                <a:latin typeface="Calibri"/>
                <a:ea typeface="Calibri"/>
                <a:cs typeface="Calibri"/>
                <a:sym typeface="Calibri"/>
              </a:rPr>
              <a:t>inosisi.php</a:t>
            </a:r>
            <a:endParaRPr sz="1000" dirty="0">
              <a:solidFill>
                <a:schemeClr val="dk1"/>
              </a:solidFill>
              <a:latin typeface="Calibri"/>
              <a:ea typeface="Calibri"/>
              <a:cs typeface="Calibri"/>
              <a:sym typeface="Calibri"/>
            </a:endParaRPr>
          </a:p>
        </p:txBody>
      </p:sp>
      <p:sp>
        <p:nvSpPr>
          <p:cNvPr id="23" name="Google Shape;128;p6">
            <a:extLst>
              <a:ext uri="{FF2B5EF4-FFF2-40B4-BE49-F238E27FC236}">
                <a16:creationId xmlns:a16="http://schemas.microsoft.com/office/drawing/2014/main" id="{239B45F1-0CC0-29E3-0FF9-E8BA442461C6}"/>
              </a:ext>
            </a:extLst>
          </p:cNvPr>
          <p:cNvSpPr txBox="1"/>
          <p:nvPr/>
        </p:nvSpPr>
        <p:spPr>
          <a:xfrm>
            <a:off x="1313885" y="5303313"/>
            <a:ext cx="3315914"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Calibri"/>
                <a:ea typeface="Calibri"/>
                <a:cs typeface="Calibri"/>
                <a:sym typeface="Calibri"/>
              </a:rPr>
              <a:t>A23i093</a:t>
            </a:r>
            <a:r>
              <a:rPr lang="ja-JP" altLang="en-US" sz="1000" dirty="0">
                <a:solidFill>
                  <a:schemeClr val="dk1"/>
                </a:solidFill>
                <a:latin typeface="Calibri"/>
                <a:ea typeface="Calibri"/>
                <a:cs typeface="Calibri"/>
                <a:sym typeface="Calibri"/>
              </a:rPr>
              <a:t>最終課題</a:t>
            </a:r>
            <a:r>
              <a:rPr lang="en-US" altLang="ja-JP" sz="1000" dirty="0">
                <a:solidFill>
                  <a:schemeClr val="dk1"/>
                </a:solidFill>
                <a:latin typeface="Calibri"/>
                <a:ea typeface="Calibri"/>
                <a:cs typeface="Calibri"/>
                <a:sym typeface="Calibri"/>
              </a:rPr>
              <a:t>-.</a:t>
            </a:r>
            <a:r>
              <a:rPr lang="en-US" altLang="ja-JP" sz="1000" dirty="0" err="1">
                <a:solidFill>
                  <a:schemeClr val="dk1"/>
                </a:solidFill>
                <a:latin typeface="Calibri"/>
                <a:ea typeface="Calibri"/>
                <a:cs typeface="Calibri"/>
                <a:sym typeface="Calibri"/>
              </a:rPr>
              <a:t>kumaphp</a:t>
            </a:r>
            <a:endParaRPr sz="1000" dirty="0">
              <a:solidFill>
                <a:schemeClr val="dk1"/>
              </a:solidFill>
              <a:latin typeface="Calibri"/>
              <a:ea typeface="Calibri"/>
              <a:cs typeface="Calibri"/>
              <a:sym typeface="Calibri"/>
            </a:endParaRPr>
          </a:p>
        </p:txBody>
      </p:sp>
      <p:sp>
        <p:nvSpPr>
          <p:cNvPr id="24" name="Google Shape;128;p6">
            <a:extLst>
              <a:ext uri="{FF2B5EF4-FFF2-40B4-BE49-F238E27FC236}">
                <a16:creationId xmlns:a16="http://schemas.microsoft.com/office/drawing/2014/main" id="{25887174-0681-2990-E0EF-2A9B8A86343B}"/>
              </a:ext>
            </a:extLst>
          </p:cNvPr>
          <p:cNvSpPr txBox="1"/>
          <p:nvPr/>
        </p:nvSpPr>
        <p:spPr>
          <a:xfrm>
            <a:off x="3574723" y="5678431"/>
            <a:ext cx="1645349"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Calibri"/>
                <a:ea typeface="Calibri"/>
                <a:cs typeface="Calibri"/>
                <a:sym typeface="Calibri"/>
              </a:rPr>
              <a:t>A23i093</a:t>
            </a:r>
            <a:r>
              <a:rPr lang="ja-JP" altLang="en-US" sz="1000" dirty="0">
                <a:solidFill>
                  <a:schemeClr val="dk1"/>
                </a:solidFill>
                <a:latin typeface="Calibri"/>
                <a:ea typeface="Calibri"/>
                <a:cs typeface="Calibri"/>
                <a:sym typeface="Calibri"/>
              </a:rPr>
              <a:t>最終課題</a:t>
            </a:r>
            <a:r>
              <a:rPr lang="en-US" altLang="ja-JP" sz="1000" dirty="0">
                <a:solidFill>
                  <a:schemeClr val="dk1"/>
                </a:solidFill>
                <a:latin typeface="Calibri"/>
                <a:ea typeface="Calibri"/>
                <a:cs typeface="Calibri"/>
                <a:sym typeface="Calibri"/>
              </a:rPr>
              <a:t>-.</a:t>
            </a:r>
            <a:r>
              <a:rPr lang="en-US" altLang="ja-JP" sz="1000" dirty="0" err="1">
                <a:solidFill>
                  <a:schemeClr val="dk1"/>
                </a:solidFill>
                <a:latin typeface="Calibri"/>
                <a:ea typeface="Calibri"/>
                <a:cs typeface="Calibri"/>
                <a:sym typeface="Calibri"/>
              </a:rPr>
              <a:t>sikaphp</a:t>
            </a:r>
            <a:endParaRPr sz="1000" dirty="0">
              <a:solidFill>
                <a:schemeClr val="dk1"/>
              </a:solidFill>
              <a:latin typeface="Calibri"/>
              <a:ea typeface="Calibri"/>
              <a:cs typeface="Calibri"/>
              <a:sym typeface="Calibri"/>
            </a:endParaRPr>
          </a:p>
        </p:txBody>
      </p:sp>
      <p:sp>
        <p:nvSpPr>
          <p:cNvPr id="25" name="Google Shape;128;p6">
            <a:extLst>
              <a:ext uri="{FF2B5EF4-FFF2-40B4-BE49-F238E27FC236}">
                <a16:creationId xmlns:a16="http://schemas.microsoft.com/office/drawing/2014/main" id="{037765F0-4367-6EDD-38F6-3E37D5A0A8B0}"/>
              </a:ext>
            </a:extLst>
          </p:cNvPr>
          <p:cNvSpPr txBox="1"/>
          <p:nvPr/>
        </p:nvSpPr>
        <p:spPr>
          <a:xfrm>
            <a:off x="2427578" y="5477351"/>
            <a:ext cx="3315914"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Calibri"/>
                <a:ea typeface="Calibri"/>
                <a:cs typeface="Calibri"/>
                <a:sym typeface="Calibri"/>
              </a:rPr>
              <a:t>A23i093</a:t>
            </a:r>
            <a:r>
              <a:rPr lang="ja-JP" altLang="en-US" sz="1000" dirty="0">
                <a:solidFill>
                  <a:schemeClr val="dk1"/>
                </a:solidFill>
                <a:latin typeface="Calibri"/>
                <a:ea typeface="Calibri"/>
                <a:cs typeface="Calibri"/>
                <a:sym typeface="Calibri"/>
              </a:rPr>
              <a:t>最終課題</a:t>
            </a:r>
            <a:r>
              <a:rPr lang="en-US" altLang="ja-JP" sz="1000" dirty="0">
                <a:solidFill>
                  <a:schemeClr val="dk1"/>
                </a:solidFill>
                <a:latin typeface="Calibri"/>
                <a:ea typeface="Calibri"/>
                <a:cs typeface="Calibri"/>
                <a:sym typeface="Calibri"/>
              </a:rPr>
              <a:t>-.</a:t>
            </a:r>
            <a:r>
              <a:rPr lang="en-US" altLang="ja-JP" sz="1000" dirty="0" err="1">
                <a:solidFill>
                  <a:schemeClr val="dk1"/>
                </a:solidFill>
                <a:latin typeface="Calibri"/>
                <a:ea typeface="Calibri"/>
                <a:cs typeface="Calibri"/>
                <a:sym typeface="Calibri"/>
              </a:rPr>
              <a:t>saruphp</a:t>
            </a:r>
            <a:endParaRPr sz="1000" dirty="0">
              <a:solidFill>
                <a:schemeClr val="dk1"/>
              </a:solidFill>
              <a:latin typeface="Calibri"/>
              <a:ea typeface="Calibri"/>
              <a:cs typeface="Calibri"/>
              <a:sym typeface="Calibri"/>
            </a:endParaRPr>
          </a:p>
        </p:txBody>
      </p:sp>
      <p:sp>
        <p:nvSpPr>
          <p:cNvPr id="26" name="Google Shape;128;p6">
            <a:extLst>
              <a:ext uri="{FF2B5EF4-FFF2-40B4-BE49-F238E27FC236}">
                <a16:creationId xmlns:a16="http://schemas.microsoft.com/office/drawing/2014/main" id="{A9E89849-8EF5-5A69-2262-6168382C9775}"/>
              </a:ext>
            </a:extLst>
          </p:cNvPr>
          <p:cNvSpPr txBox="1"/>
          <p:nvPr/>
        </p:nvSpPr>
        <p:spPr>
          <a:xfrm>
            <a:off x="3071292" y="2987590"/>
            <a:ext cx="1775028"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Calibri"/>
                <a:ea typeface="Calibri"/>
                <a:cs typeface="Calibri"/>
                <a:sym typeface="Calibri"/>
              </a:rPr>
              <a:t>A23i093</a:t>
            </a:r>
            <a:r>
              <a:rPr lang="ja-JP" altLang="en-US" sz="1000" dirty="0">
                <a:solidFill>
                  <a:schemeClr val="dk1"/>
                </a:solidFill>
                <a:latin typeface="Calibri"/>
                <a:ea typeface="Calibri"/>
                <a:cs typeface="Calibri"/>
                <a:sym typeface="Calibri"/>
              </a:rPr>
              <a:t>最終課題</a:t>
            </a:r>
            <a:r>
              <a:rPr lang="en-US" altLang="ja-JP" sz="1000" dirty="0">
                <a:solidFill>
                  <a:schemeClr val="dk1"/>
                </a:solidFill>
                <a:latin typeface="Calibri"/>
                <a:ea typeface="Calibri"/>
                <a:cs typeface="Calibri"/>
                <a:sym typeface="Calibri"/>
              </a:rPr>
              <a:t>-.3php</a:t>
            </a:r>
            <a:endParaRPr sz="1000"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4. プログラムの説明</a:t>
            </a:r>
            <a:endParaRPr/>
          </a:p>
        </p:txBody>
      </p:sp>
      <p:sp>
        <p:nvSpPr>
          <p:cNvPr id="140" name="Google Shape;140;p7"/>
          <p:cNvSpPr txBox="1">
            <a:spLocks noGrp="1"/>
          </p:cNvSpPr>
          <p:nvPr>
            <p:ph type="body" idx="1"/>
          </p:nvPr>
        </p:nvSpPr>
        <p:spPr>
          <a:xfrm>
            <a:off x="467544" y="1268760"/>
            <a:ext cx="8229600" cy="74868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ja-JP"/>
              <a:t>4.2 プログラムファイル内での関数の構成</a:t>
            </a:r>
            <a:endParaRPr/>
          </a:p>
        </p:txBody>
      </p:sp>
      <p:pic>
        <p:nvPicPr>
          <p:cNvPr id="142" name="Google Shape;142;p7"/>
          <p:cNvPicPr preferRelativeResize="0"/>
          <p:nvPr/>
        </p:nvPicPr>
        <p:blipFill rotWithShape="1">
          <a:blip r:embed="rId3">
            <a:alphaModFix/>
          </a:blip>
          <a:srcRect/>
          <a:stretch/>
        </p:blipFill>
        <p:spPr>
          <a:xfrm>
            <a:off x="1691680" y="3791856"/>
            <a:ext cx="5598872" cy="2833776"/>
          </a:xfrm>
          <a:prstGeom prst="rect">
            <a:avLst/>
          </a:prstGeom>
          <a:noFill/>
          <a:ln>
            <a:noFill/>
          </a:ln>
        </p:spPr>
      </p:pic>
      <p:grpSp>
        <p:nvGrpSpPr>
          <p:cNvPr id="143" name="Google Shape;143;p7"/>
          <p:cNvGrpSpPr/>
          <p:nvPr/>
        </p:nvGrpSpPr>
        <p:grpSpPr>
          <a:xfrm>
            <a:off x="928561" y="2003529"/>
            <a:ext cx="7899701" cy="952969"/>
            <a:chOff x="3807" y="-21802"/>
            <a:chExt cx="7899701" cy="952969"/>
          </a:xfrm>
        </p:grpSpPr>
        <p:sp>
          <p:nvSpPr>
            <p:cNvPr id="144" name="Google Shape;144;p7"/>
            <p:cNvSpPr/>
            <p:nvPr/>
          </p:nvSpPr>
          <p:spPr>
            <a:xfrm>
              <a:off x="3807" y="512300"/>
              <a:ext cx="502248" cy="318260"/>
            </a:xfrm>
            <a:prstGeom prst="roundRect">
              <a:avLst>
                <a:gd name="adj" fmla="val 10000"/>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7"/>
            <p:cNvSpPr txBox="1"/>
            <p:nvPr/>
          </p:nvSpPr>
          <p:spPr>
            <a:xfrm>
              <a:off x="13129" y="521622"/>
              <a:ext cx="483604" cy="299616"/>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dirty="0">
                  <a:solidFill>
                    <a:schemeClr val="dk1"/>
                  </a:solidFill>
                  <a:latin typeface="Calibri"/>
                  <a:ea typeface="Calibri"/>
                  <a:cs typeface="Calibri"/>
                  <a:sym typeface="Calibri"/>
                </a:rPr>
                <a:t>&lt;?</a:t>
              </a:r>
              <a:r>
                <a:rPr lang="en-US" sz="1400" dirty="0" err="1">
                  <a:solidFill>
                    <a:schemeClr val="dk1"/>
                  </a:solidFill>
                  <a:latin typeface="Calibri"/>
                  <a:ea typeface="Calibri"/>
                  <a:cs typeface="Calibri"/>
                  <a:sym typeface="Calibri"/>
                </a:rPr>
                <a:t>php</a:t>
              </a:r>
              <a:endParaRPr sz="1400" dirty="0">
                <a:solidFill>
                  <a:schemeClr val="dk1"/>
                </a:solidFill>
                <a:latin typeface="Calibri"/>
                <a:ea typeface="Calibri"/>
                <a:cs typeface="Calibri"/>
                <a:sym typeface="Calibri"/>
              </a:endParaRPr>
            </a:p>
          </p:txBody>
        </p:sp>
        <p:sp>
          <p:nvSpPr>
            <p:cNvPr id="146" name="Google Shape;146;p7"/>
            <p:cNvSpPr/>
            <p:nvPr/>
          </p:nvSpPr>
          <p:spPr>
            <a:xfrm rot="-1542344">
              <a:off x="480860" y="521932"/>
              <a:ext cx="509169" cy="78146"/>
            </a:xfrm>
            <a:custGeom>
              <a:avLst/>
              <a:gdLst/>
              <a:ahLst/>
              <a:cxnLst/>
              <a:rect l="l" t="t" r="r" b="b"/>
              <a:pathLst>
                <a:path w="120000" h="120000" extrusionOk="0">
                  <a:moveTo>
                    <a:pt x="0" y="60000"/>
                  </a:moveTo>
                  <a:lnTo>
                    <a:pt x="120000" y="60000"/>
                  </a:lnTo>
                </a:path>
              </a:pathLst>
            </a:custGeom>
            <a:noFill/>
            <a:ln w="25400" cap="flat" cmpd="sng">
              <a:solidFill>
                <a:schemeClr val="dk1"/>
              </a:solidFill>
              <a:prstDash val="solid"/>
              <a:round/>
              <a:headEnd type="none" w="sm" len="sm"/>
              <a:tailEnd type="triangle"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7"/>
            <p:cNvSpPr txBox="1"/>
            <p:nvPr/>
          </p:nvSpPr>
          <p:spPr>
            <a:xfrm rot="-1542344">
              <a:off x="722716" y="548275"/>
              <a:ext cx="25458" cy="25458"/>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148" name="Google Shape;148;p7"/>
            <p:cNvSpPr/>
            <p:nvPr/>
          </p:nvSpPr>
          <p:spPr>
            <a:xfrm>
              <a:off x="964834" y="255087"/>
              <a:ext cx="2893479" cy="390982"/>
            </a:xfrm>
            <a:prstGeom prst="roundRect">
              <a:avLst>
                <a:gd name="adj" fmla="val 10000"/>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149;p7"/>
            <p:cNvSpPr txBox="1"/>
            <p:nvPr/>
          </p:nvSpPr>
          <p:spPr>
            <a:xfrm>
              <a:off x="1081000" y="282914"/>
              <a:ext cx="2678095" cy="368080"/>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chemeClr val="dk1"/>
                </a:buClr>
                <a:buSzPts val="1400"/>
                <a:buFont typeface="Calibri"/>
                <a:buNone/>
              </a:pPr>
              <a:r>
                <a:rPr lang="en-US" sz="1400" dirty="0">
                  <a:solidFill>
                    <a:schemeClr val="dk1"/>
                  </a:solidFill>
                  <a:latin typeface="Calibri"/>
                  <a:ea typeface="Calibri"/>
                  <a:cs typeface="Calibri"/>
                  <a:sym typeface="Calibri"/>
                </a:rPr>
                <a:t>Function </a:t>
              </a:r>
              <a:r>
                <a:rPr lang="en-US" sz="1400" dirty="0" err="1">
                  <a:solidFill>
                    <a:schemeClr val="dk1"/>
                  </a:solidFill>
                  <a:latin typeface="Calibri"/>
                  <a:ea typeface="Calibri"/>
                  <a:cs typeface="Calibri"/>
                  <a:sym typeface="Calibri"/>
                </a:rPr>
                <a:t>gata</a:t>
              </a:r>
              <a:r>
                <a:rPr lang="en-US" sz="1400" dirty="0">
                  <a:solidFill>
                    <a:schemeClr val="dk1"/>
                  </a:solidFill>
                  <a:latin typeface="Calibri"/>
                  <a:ea typeface="Calibri"/>
                  <a:cs typeface="Calibri"/>
                  <a:sym typeface="Calibri"/>
                </a:rPr>
                <a:t>($data){}</a:t>
              </a:r>
              <a:endParaRPr sz="1400" dirty="0">
                <a:solidFill>
                  <a:schemeClr val="dk1"/>
                </a:solidFill>
                <a:latin typeface="Calibri"/>
                <a:ea typeface="Calibri"/>
                <a:cs typeface="Calibri"/>
                <a:sym typeface="Calibri"/>
              </a:endParaRPr>
            </a:p>
          </p:txBody>
        </p:sp>
        <p:sp>
          <p:nvSpPr>
            <p:cNvPr id="150" name="Google Shape;150;p7"/>
            <p:cNvSpPr/>
            <p:nvPr/>
          </p:nvSpPr>
          <p:spPr>
            <a:xfrm>
              <a:off x="3895238" y="367574"/>
              <a:ext cx="458779" cy="78146"/>
            </a:xfrm>
            <a:custGeom>
              <a:avLst/>
              <a:gdLst/>
              <a:ahLst/>
              <a:cxnLst/>
              <a:rect l="l" t="t" r="r" b="b"/>
              <a:pathLst>
                <a:path w="120000" h="120000" extrusionOk="0">
                  <a:moveTo>
                    <a:pt x="0" y="60000"/>
                  </a:moveTo>
                  <a:lnTo>
                    <a:pt x="120000" y="60000"/>
                  </a:lnTo>
                </a:path>
              </a:pathLst>
            </a:custGeom>
            <a:noFill/>
            <a:ln w="25400" cap="flat" cmpd="sng">
              <a:solidFill>
                <a:schemeClr val="dk1"/>
              </a:solidFill>
              <a:prstDash val="solid"/>
              <a:round/>
              <a:headEnd type="none" w="sm" len="sm"/>
              <a:tailEnd type="triangle"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txBox="1"/>
            <p:nvPr/>
          </p:nvSpPr>
          <p:spPr>
            <a:xfrm>
              <a:off x="3697425" y="439109"/>
              <a:ext cx="22938" cy="22938"/>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152" name="Google Shape;152;p7"/>
            <p:cNvSpPr/>
            <p:nvPr/>
          </p:nvSpPr>
          <p:spPr>
            <a:xfrm>
              <a:off x="4334039" y="-21802"/>
              <a:ext cx="3569469" cy="693233"/>
            </a:xfrm>
            <a:prstGeom prst="roundRect">
              <a:avLst>
                <a:gd name="adj" fmla="val 10000"/>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 name="Google Shape;155;p7"/>
            <p:cNvSpPr txBox="1"/>
            <p:nvPr/>
          </p:nvSpPr>
          <p:spPr>
            <a:xfrm rot="1712166">
              <a:off x="722389" y="783111"/>
              <a:ext cx="26111" cy="26111"/>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159" name="Google Shape;159;p7"/>
            <p:cNvSpPr txBox="1"/>
            <p:nvPr/>
          </p:nvSpPr>
          <p:spPr>
            <a:xfrm>
              <a:off x="4212358" y="910636"/>
              <a:ext cx="20531" cy="20531"/>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161" name="Google Shape;161;p7"/>
            <p:cNvSpPr txBox="1"/>
            <p:nvPr/>
          </p:nvSpPr>
          <p:spPr>
            <a:xfrm>
              <a:off x="4354018" y="17885"/>
              <a:ext cx="3549490" cy="628184"/>
            </a:xfrm>
            <a:prstGeom prst="rect">
              <a:avLst/>
            </a:prstGeom>
            <a:noFill/>
            <a:ln>
              <a:noFill/>
            </a:ln>
          </p:spPr>
          <p:txBody>
            <a:bodyPr spcFirstLastPara="1" wrap="square" lIns="8875" tIns="8875" rIns="8875" bIns="8875" anchor="ctr" anchorCtr="0">
              <a:noAutofit/>
            </a:bodyPr>
            <a:lstStyle/>
            <a:p>
              <a:pPr marL="0" marR="0" lvl="0" indent="0" rtl="0">
                <a:lnSpc>
                  <a:spcPct val="90000"/>
                </a:lnSpc>
                <a:spcBef>
                  <a:spcPts val="0"/>
                </a:spcBef>
                <a:spcAft>
                  <a:spcPts val="0"/>
                </a:spcAft>
                <a:buClr>
                  <a:schemeClr val="dk1"/>
                </a:buClr>
                <a:buSzPts val="1400"/>
                <a:buFont typeface="Calibri"/>
                <a:buNone/>
              </a:pPr>
              <a:r>
                <a:rPr lang="en-US" altLang="ja-JP" sz="1400" dirty="0">
                  <a:solidFill>
                    <a:schemeClr val="dk1"/>
                  </a:solidFill>
                  <a:latin typeface="Calibri"/>
                  <a:ea typeface="Calibri"/>
                  <a:cs typeface="Calibri"/>
                  <a:sym typeface="Calibri"/>
                </a:rPr>
                <a:t>[“</a:t>
              </a:r>
              <a:r>
                <a:rPr lang="ja-JP" altLang="en-US" sz="1400" dirty="0">
                  <a:solidFill>
                    <a:schemeClr val="dk1"/>
                  </a:solidFill>
                  <a:latin typeface="Calibri"/>
                  <a:ea typeface="Calibri"/>
                  <a:cs typeface="Calibri"/>
                  <a:sym typeface="Calibri"/>
                </a:rPr>
                <a:t>総割合</a:t>
              </a:r>
              <a:r>
                <a:rPr lang="en-US" altLang="ja-JP" sz="1400" dirty="0">
                  <a:solidFill>
                    <a:schemeClr val="dk1"/>
                  </a:solidFill>
                  <a:latin typeface="Calibri"/>
                  <a:ea typeface="Calibri"/>
                  <a:cs typeface="Calibri"/>
                  <a:sym typeface="Calibri"/>
                </a:rPr>
                <a:t>”, </a:t>
              </a:r>
              <a:r>
                <a:rPr lang="en-US" altLang="ja-JP" sz="1400" dirty="0" err="1">
                  <a:solidFill>
                    <a:schemeClr val="dk1"/>
                  </a:solidFill>
                  <a:latin typeface="Calibri"/>
                  <a:ea typeface="Calibri"/>
                  <a:cs typeface="Calibri"/>
                  <a:sym typeface="Calibri"/>
                </a:rPr>
                <a:t>gata</a:t>
              </a:r>
              <a:r>
                <a:rPr lang="en-US" altLang="ja-JP" sz="1400" dirty="0">
                  <a:solidFill>
                    <a:schemeClr val="dk1"/>
                  </a:solidFill>
                  <a:latin typeface="Calibri"/>
                  <a:ea typeface="Calibri"/>
                  <a:cs typeface="Calibri"/>
                  <a:sym typeface="Calibri"/>
                </a:rPr>
                <a:t>($data)]</a:t>
              </a:r>
              <a:endParaRPr sz="1400" dirty="0">
                <a:solidFill>
                  <a:schemeClr val="dk1"/>
                </a:solidFill>
                <a:latin typeface="Calibri"/>
                <a:ea typeface="Calibri"/>
                <a:cs typeface="Calibri"/>
                <a:sym typeface="Calibri"/>
              </a:endParaRPr>
            </a:p>
          </p:txBody>
        </p:sp>
      </p:grpSp>
      <p:pic>
        <p:nvPicPr>
          <p:cNvPr id="2" name="図 1">
            <a:extLst>
              <a:ext uri="{FF2B5EF4-FFF2-40B4-BE49-F238E27FC236}">
                <a16:creationId xmlns:a16="http://schemas.microsoft.com/office/drawing/2014/main" id="{1F13F76D-28DF-4D35-AFD0-32D7074E42C9}"/>
              </a:ext>
            </a:extLst>
          </p:cNvPr>
          <p:cNvPicPr>
            <a:picLocks noChangeAspect="1"/>
          </p:cNvPicPr>
          <p:nvPr/>
        </p:nvPicPr>
        <p:blipFill>
          <a:blip r:embed="rId4"/>
          <a:stretch>
            <a:fillRect/>
          </a:stretch>
        </p:blipFill>
        <p:spPr>
          <a:xfrm>
            <a:off x="4357496" y="3066144"/>
            <a:ext cx="4372585" cy="3524742"/>
          </a:xfrm>
          <a:prstGeom prst="rect">
            <a:avLst/>
          </a:prstGeom>
        </p:spPr>
      </p:pic>
      <p:pic>
        <p:nvPicPr>
          <p:cNvPr id="26" name="図 25">
            <a:extLst>
              <a:ext uri="{FF2B5EF4-FFF2-40B4-BE49-F238E27FC236}">
                <a16:creationId xmlns:a16="http://schemas.microsoft.com/office/drawing/2014/main" id="{F6C26CDC-F4EA-4D8C-B93E-E52FAFAE7A3B}"/>
              </a:ext>
            </a:extLst>
          </p:cNvPr>
          <p:cNvPicPr>
            <a:picLocks noChangeAspect="1"/>
          </p:cNvPicPr>
          <p:nvPr/>
        </p:nvPicPr>
        <p:blipFill>
          <a:blip r:embed="rId5"/>
          <a:stretch>
            <a:fillRect/>
          </a:stretch>
        </p:blipFill>
        <p:spPr>
          <a:xfrm>
            <a:off x="199682" y="3915778"/>
            <a:ext cx="4177131" cy="23071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8"/>
          <p:cNvSpPr txBox="1"/>
          <p:nvPr/>
        </p:nvSpPr>
        <p:spPr>
          <a:xfrm>
            <a:off x="323528" y="1277471"/>
            <a:ext cx="8496944" cy="646290"/>
          </a:xfrm>
          <a:prstGeom prst="rect">
            <a:avLst/>
          </a:prstGeom>
          <a:solidFill>
            <a:srgbClr val="FFFF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(1)プログラムファイル</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最終課題</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-2</a:t>
            </a:r>
            <a:r>
              <a:rPr 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a:t>
            </a:r>
            <a:r>
              <a:rPr 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の</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(function </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gata</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：「最終課題</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-2</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」に移行するためのページ</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p:txBody>
      </p:sp>
      <p:sp>
        <p:nvSpPr>
          <p:cNvPr id="169" name="Google Shape;169;p8"/>
          <p:cNvSpPr txBox="1"/>
          <p:nvPr/>
        </p:nvSpPr>
        <p:spPr>
          <a:xfrm>
            <a:off x="650031" y="692696"/>
            <a:ext cx="3265638"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3200">
                <a:solidFill>
                  <a:schemeClr val="dk1"/>
                </a:solidFill>
                <a:latin typeface="Calibri"/>
                <a:ea typeface="Calibri"/>
                <a:cs typeface="Calibri"/>
                <a:sym typeface="Calibri"/>
              </a:rPr>
              <a:t>4.3 各関数の説明</a:t>
            </a:r>
            <a:endParaRPr sz="3200">
              <a:solidFill>
                <a:schemeClr val="dk1"/>
              </a:solidFill>
              <a:latin typeface="Calibri"/>
              <a:ea typeface="Calibri"/>
              <a:cs typeface="Calibri"/>
              <a:sym typeface="Calibri"/>
            </a:endParaRPr>
          </a:p>
        </p:txBody>
      </p:sp>
      <p:sp>
        <p:nvSpPr>
          <p:cNvPr id="170" name="Google Shape;170;p8"/>
          <p:cNvSpPr txBox="1"/>
          <p:nvPr/>
        </p:nvSpPr>
        <p:spPr>
          <a:xfrm>
            <a:off x="291836" y="2060848"/>
            <a:ext cx="4176464" cy="452431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dirty="0">
                <a:solidFill>
                  <a:schemeClr val="dk1"/>
                </a:solidFill>
                <a:latin typeface="Calibri"/>
                <a:ea typeface="Calibri"/>
                <a:cs typeface="Calibri"/>
                <a:sym typeface="Calibri"/>
              </a:rPr>
              <a:t>function1のPHPのプログラムリスト</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sz="1800" dirty="0">
                <a:solidFill>
                  <a:schemeClr val="dk1"/>
                </a:solidFill>
                <a:latin typeface="Calibri"/>
                <a:ea typeface="Calibri"/>
                <a:cs typeface="Calibri"/>
                <a:sym typeface="Calibri"/>
              </a:rPr>
              <a:t>　　　　　　　　　　　　　　　　　　　　　　　　　　　　　</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71" name="Google Shape;171;p8"/>
          <p:cNvSpPr txBox="1"/>
          <p:nvPr/>
        </p:nvSpPr>
        <p:spPr>
          <a:xfrm>
            <a:off x="4716016" y="2079560"/>
            <a:ext cx="4176464" cy="1200288"/>
          </a:xfrm>
          <a:prstGeom prst="rect">
            <a:avLst/>
          </a:prstGeom>
          <a:solidFill>
            <a:srgbClr val="FFFF00"/>
          </a:solidFill>
          <a:ln>
            <a:noFill/>
          </a:ln>
        </p:spPr>
        <p:txBody>
          <a:bodyPr spcFirstLastPara="1" wrap="square" lIns="91425" tIns="45700" rIns="91425" bIns="45700" anchor="t" anchorCtr="0">
            <a:spAutoFit/>
          </a:bodyPr>
          <a:lstStyle/>
          <a:p>
            <a:pPr marL="342900" lvl="1" indent="-342900">
              <a:buFont typeface="+mj-lt"/>
              <a:buAutoNum type="arabicPeriod"/>
            </a:pP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テーブル内のデータを「</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$data</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」で</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1</a:t>
            </a:r>
            <a:r>
              <a:rPr lang="ja-JP" altLang="en-US" sz="1800" dirty="0" err="1">
                <a:solidFill>
                  <a:schemeClr val="dk1"/>
                </a:solidFill>
                <a:latin typeface="HGSｺﾞｼｯｸM" panose="020B0600000000000000" pitchFamily="50" charset="-128"/>
                <a:ea typeface="HGSｺﾞｼｯｸM" panose="020B0600000000000000" pitchFamily="50" charset="-128"/>
                <a:cs typeface="Calibri"/>
                <a:sym typeface="Calibri"/>
              </a:rPr>
              <a:t>つづつ</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取り出す。</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342900" lvl="1" indent="-342900">
              <a:buFont typeface="+mj-lt"/>
              <a:buAutoNum type="arabicPeriod"/>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foreach</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でデータの合計を出す</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342900" lvl="1" indent="-342900">
              <a:buFont typeface="+mj-lt"/>
              <a:buAutoNum type="arabicPeriod"/>
            </a:pP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return</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」上で平均を出す</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p:txBody>
      </p:sp>
      <p:pic>
        <p:nvPicPr>
          <p:cNvPr id="4" name="図 3">
            <a:extLst>
              <a:ext uri="{FF2B5EF4-FFF2-40B4-BE49-F238E27FC236}">
                <a16:creationId xmlns:a16="http://schemas.microsoft.com/office/drawing/2014/main" id="{9F7DB8AD-F8C2-4114-A028-626C196F27D5}"/>
              </a:ext>
            </a:extLst>
          </p:cNvPr>
          <p:cNvPicPr>
            <a:picLocks noChangeAspect="1"/>
          </p:cNvPicPr>
          <p:nvPr/>
        </p:nvPicPr>
        <p:blipFill>
          <a:blip r:embed="rId3"/>
          <a:stretch>
            <a:fillRect/>
          </a:stretch>
        </p:blipFill>
        <p:spPr>
          <a:xfrm>
            <a:off x="291835" y="2405832"/>
            <a:ext cx="4177131" cy="17505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3600"/>
              <a:buFont typeface="Calibri"/>
              <a:buNone/>
            </a:pPr>
            <a:r>
              <a:rPr lang="ja-JP" sz="3600" dirty="0"/>
              <a:t>4.4　プログラムとデータベースとの関係</a:t>
            </a:r>
            <a:endParaRPr dirty="0"/>
          </a:p>
        </p:txBody>
      </p:sp>
      <p:sp>
        <p:nvSpPr>
          <p:cNvPr id="193" name="Google Shape;193;p11"/>
          <p:cNvSpPr/>
          <p:nvPr/>
        </p:nvSpPr>
        <p:spPr>
          <a:xfrm>
            <a:off x="205871" y="1381394"/>
            <a:ext cx="5016759" cy="4639893"/>
          </a:xfrm>
          <a:prstGeom prst="roundRect">
            <a:avLst>
              <a:gd name="adj" fmla="val 632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4" name="Google Shape;194;p11"/>
          <p:cNvSpPr txBox="1"/>
          <p:nvPr/>
        </p:nvSpPr>
        <p:spPr>
          <a:xfrm>
            <a:off x="378358" y="1790911"/>
            <a:ext cx="170431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-2</a:t>
            </a:r>
            <a:endParaRPr sz="1800" dirty="0">
              <a:solidFill>
                <a:schemeClr val="dk1"/>
              </a:solidFill>
              <a:latin typeface="Calibri"/>
              <a:ea typeface="Calibri"/>
              <a:cs typeface="Calibri"/>
              <a:sym typeface="Calibri"/>
            </a:endParaRPr>
          </a:p>
        </p:txBody>
      </p:sp>
      <p:pic>
        <p:nvPicPr>
          <p:cNvPr id="195" name="Google Shape;195;p11"/>
          <p:cNvPicPr preferRelativeResize="0"/>
          <p:nvPr/>
        </p:nvPicPr>
        <p:blipFill rotWithShape="1">
          <a:blip r:embed="rId3">
            <a:alphaModFix/>
          </a:blip>
          <a:srcRect/>
          <a:stretch/>
        </p:blipFill>
        <p:spPr>
          <a:xfrm>
            <a:off x="777324" y="2159651"/>
            <a:ext cx="718829" cy="1114426"/>
          </a:xfrm>
          <a:prstGeom prst="rect">
            <a:avLst/>
          </a:prstGeom>
          <a:noFill/>
          <a:ln>
            <a:noFill/>
          </a:ln>
        </p:spPr>
      </p:pic>
      <p:pic>
        <p:nvPicPr>
          <p:cNvPr id="197" name="Google Shape;197;p11"/>
          <p:cNvPicPr preferRelativeResize="0"/>
          <p:nvPr/>
        </p:nvPicPr>
        <p:blipFill rotWithShape="1">
          <a:blip r:embed="rId3">
            <a:alphaModFix/>
          </a:blip>
          <a:srcRect/>
          <a:stretch/>
        </p:blipFill>
        <p:spPr>
          <a:xfrm>
            <a:off x="511201" y="4082222"/>
            <a:ext cx="432049" cy="671952"/>
          </a:xfrm>
          <a:prstGeom prst="rect">
            <a:avLst/>
          </a:prstGeom>
          <a:noFill/>
          <a:ln>
            <a:noFill/>
          </a:ln>
        </p:spPr>
      </p:pic>
      <p:sp>
        <p:nvSpPr>
          <p:cNvPr id="198" name="Google Shape;198;p11"/>
          <p:cNvSpPr/>
          <p:nvPr/>
        </p:nvSpPr>
        <p:spPr>
          <a:xfrm rot="5400000">
            <a:off x="959702" y="3183774"/>
            <a:ext cx="399150" cy="432048"/>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9" name="Google Shape;199;p11"/>
          <p:cNvSpPr/>
          <p:nvPr/>
        </p:nvSpPr>
        <p:spPr>
          <a:xfrm>
            <a:off x="378358" y="1700808"/>
            <a:ext cx="1704313" cy="4104456"/>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0" name="Google Shape;200;p11"/>
          <p:cNvSpPr txBox="1"/>
          <p:nvPr/>
        </p:nvSpPr>
        <p:spPr>
          <a:xfrm>
            <a:off x="2744592" y="1483175"/>
            <a:ext cx="2094518" cy="30773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altLang="en-US" dirty="0"/>
              <a:t>各</a:t>
            </a:r>
            <a:r>
              <a:rPr lang="en-US" altLang="ja-JP" dirty="0" err="1"/>
              <a:t>db</a:t>
            </a:r>
            <a:r>
              <a:rPr lang="ja-JP" altLang="en-US" dirty="0"/>
              <a:t>名のデータベース</a:t>
            </a:r>
            <a:endParaRPr dirty="0"/>
          </a:p>
        </p:txBody>
      </p:sp>
      <p:sp>
        <p:nvSpPr>
          <p:cNvPr id="201" name="Google Shape;201;p11"/>
          <p:cNvSpPr/>
          <p:nvPr/>
        </p:nvSpPr>
        <p:spPr>
          <a:xfrm>
            <a:off x="2939695" y="1700808"/>
            <a:ext cx="1704313" cy="4104456"/>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11"/>
          <p:cNvSpPr txBox="1"/>
          <p:nvPr/>
        </p:nvSpPr>
        <p:spPr>
          <a:xfrm>
            <a:off x="477859" y="1437177"/>
            <a:ext cx="1362834"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800" dirty="0">
                <a:solidFill>
                  <a:schemeClr val="dk1"/>
                </a:solidFill>
                <a:latin typeface="Calibri"/>
                <a:ea typeface="Calibri"/>
                <a:cs typeface="Calibri"/>
                <a:sym typeface="Calibri"/>
              </a:rPr>
              <a:t>プログラム</a:t>
            </a:r>
            <a:endParaRPr sz="1800" dirty="0">
              <a:solidFill>
                <a:schemeClr val="dk1"/>
              </a:solidFill>
              <a:latin typeface="Calibri"/>
              <a:ea typeface="Calibri"/>
              <a:cs typeface="Calibri"/>
              <a:sym typeface="Calibri"/>
            </a:endParaRPr>
          </a:p>
        </p:txBody>
      </p:sp>
      <p:graphicFrame>
        <p:nvGraphicFramePr>
          <p:cNvPr id="203" name="Google Shape;203;p11"/>
          <p:cNvGraphicFramePr/>
          <p:nvPr>
            <p:extLst>
              <p:ext uri="{D42A27DB-BD31-4B8C-83A1-F6EECF244321}">
                <p14:modId xmlns:p14="http://schemas.microsoft.com/office/powerpoint/2010/main" val="548070872"/>
              </p:ext>
            </p:extLst>
          </p:nvPr>
        </p:nvGraphicFramePr>
        <p:xfrm>
          <a:off x="3091600" y="2367445"/>
          <a:ext cx="1368200" cy="1168725"/>
        </p:xfrm>
        <a:graphic>
          <a:graphicData uri="http://schemas.openxmlformats.org/drawingml/2006/table">
            <a:tbl>
              <a:tblPr firstRow="1" bandRow="1">
                <a:noFill/>
                <a:tableStyleId>{BB91D911-3024-4AA0-82C0-92344250AFFB}</a:tableStyleId>
              </a:tblPr>
              <a:tblGrid>
                <a:gridCol w="342050">
                  <a:extLst>
                    <a:ext uri="{9D8B030D-6E8A-4147-A177-3AD203B41FA5}">
                      <a16:colId xmlns:a16="http://schemas.microsoft.com/office/drawing/2014/main" val="20000"/>
                    </a:ext>
                  </a:extLst>
                </a:gridCol>
                <a:gridCol w="342050">
                  <a:extLst>
                    <a:ext uri="{9D8B030D-6E8A-4147-A177-3AD203B41FA5}">
                      <a16:colId xmlns:a16="http://schemas.microsoft.com/office/drawing/2014/main" val="20001"/>
                    </a:ext>
                  </a:extLst>
                </a:gridCol>
                <a:gridCol w="342050">
                  <a:extLst>
                    <a:ext uri="{9D8B030D-6E8A-4147-A177-3AD203B41FA5}">
                      <a16:colId xmlns:a16="http://schemas.microsoft.com/office/drawing/2014/main" val="20002"/>
                    </a:ext>
                  </a:extLst>
                </a:gridCol>
                <a:gridCol w="342050">
                  <a:extLst>
                    <a:ext uri="{9D8B030D-6E8A-4147-A177-3AD203B41FA5}">
                      <a16:colId xmlns:a16="http://schemas.microsoft.com/office/drawing/2014/main" val="20003"/>
                    </a:ext>
                  </a:extLst>
                </a:gridCol>
              </a:tblGrid>
              <a:tr h="3895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0"/>
                  </a:ext>
                </a:extLst>
              </a:tr>
              <a:tr h="3895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1"/>
                  </a:ext>
                </a:extLst>
              </a:tr>
              <a:tr h="3895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extLst>
                  <a:ext uri="{0D108BD9-81ED-4DB2-BD59-A6C34878D82A}">
                    <a16:rowId xmlns:a16="http://schemas.microsoft.com/office/drawing/2014/main" val="10002"/>
                  </a:ext>
                </a:extLst>
              </a:tr>
            </a:tbl>
          </a:graphicData>
        </a:graphic>
      </p:graphicFrame>
      <p:sp>
        <p:nvSpPr>
          <p:cNvPr id="204" name="Google Shape;204;p11"/>
          <p:cNvSpPr txBox="1"/>
          <p:nvPr/>
        </p:nvSpPr>
        <p:spPr>
          <a:xfrm>
            <a:off x="2991532" y="1852291"/>
            <a:ext cx="1654050"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altLang="en-US" sz="1800" dirty="0">
                <a:solidFill>
                  <a:schemeClr val="dk1"/>
                </a:solidFill>
                <a:latin typeface="Calibri"/>
                <a:ea typeface="Calibri"/>
                <a:cs typeface="Calibri"/>
                <a:sym typeface="Calibri"/>
              </a:rPr>
              <a:t>北海・東北</a:t>
            </a:r>
            <a:endParaRPr lang="en-US" altLang="ja-JP" sz="1800" dirty="0">
              <a:solidFill>
                <a:schemeClr val="dk1"/>
              </a:solidFill>
              <a:latin typeface="Calibri"/>
              <a:ea typeface="Calibri"/>
              <a:cs typeface="Calibri"/>
              <a:sym typeface="Calibri"/>
            </a:endParaRPr>
          </a:p>
          <a:p>
            <a:pPr marL="0" marR="0" lvl="0" indent="0" algn="ctr" rtl="0">
              <a:spcBef>
                <a:spcPts val="0"/>
              </a:spcBef>
              <a:spcAft>
                <a:spcPts val="0"/>
              </a:spcAft>
              <a:buNone/>
            </a:pPr>
            <a:r>
              <a:rPr lang="ja-JP" sz="1800" dirty="0">
                <a:solidFill>
                  <a:schemeClr val="dk1"/>
                </a:solidFill>
                <a:latin typeface="Calibri"/>
                <a:ea typeface="Calibri"/>
                <a:cs typeface="Calibri"/>
                <a:sym typeface="Calibri"/>
              </a:rPr>
              <a:t>テーブル</a:t>
            </a:r>
            <a:endParaRPr dirty="0"/>
          </a:p>
        </p:txBody>
      </p:sp>
      <p:graphicFrame>
        <p:nvGraphicFramePr>
          <p:cNvPr id="205" name="Google Shape;205;p11"/>
          <p:cNvGraphicFramePr/>
          <p:nvPr>
            <p:extLst>
              <p:ext uri="{D42A27DB-BD31-4B8C-83A1-F6EECF244321}">
                <p14:modId xmlns:p14="http://schemas.microsoft.com/office/powerpoint/2010/main" val="3081255096"/>
              </p:ext>
            </p:extLst>
          </p:nvPr>
        </p:nvGraphicFramePr>
        <p:xfrm>
          <a:off x="3131161" y="4060448"/>
          <a:ext cx="1368200" cy="1168725"/>
        </p:xfrm>
        <a:graphic>
          <a:graphicData uri="http://schemas.openxmlformats.org/drawingml/2006/table">
            <a:tbl>
              <a:tblPr firstRow="1" bandRow="1">
                <a:noFill/>
                <a:tableStyleId>{BB91D911-3024-4AA0-82C0-92344250AFFB}</a:tableStyleId>
              </a:tblPr>
              <a:tblGrid>
                <a:gridCol w="342050">
                  <a:extLst>
                    <a:ext uri="{9D8B030D-6E8A-4147-A177-3AD203B41FA5}">
                      <a16:colId xmlns:a16="http://schemas.microsoft.com/office/drawing/2014/main" val="20000"/>
                    </a:ext>
                  </a:extLst>
                </a:gridCol>
                <a:gridCol w="342050">
                  <a:extLst>
                    <a:ext uri="{9D8B030D-6E8A-4147-A177-3AD203B41FA5}">
                      <a16:colId xmlns:a16="http://schemas.microsoft.com/office/drawing/2014/main" val="20001"/>
                    </a:ext>
                  </a:extLst>
                </a:gridCol>
                <a:gridCol w="342050">
                  <a:extLst>
                    <a:ext uri="{9D8B030D-6E8A-4147-A177-3AD203B41FA5}">
                      <a16:colId xmlns:a16="http://schemas.microsoft.com/office/drawing/2014/main" val="20002"/>
                    </a:ext>
                  </a:extLst>
                </a:gridCol>
                <a:gridCol w="342050">
                  <a:extLst>
                    <a:ext uri="{9D8B030D-6E8A-4147-A177-3AD203B41FA5}">
                      <a16:colId xmlns:a16="http://schemas.microsoft.com/office/drawing/2014/main" val="20003"/>
                    </a:ext>
                  </a:extLst>
                </a:gridCol>
              </a:tblGrid>
              <a:tr h="3895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0"/>
                  </a:ext>
                </a:extLst>
              </a:tr>
              <a:tr h="3895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1"/>
                  </a:ext>
                </a:extLst>
              </a:tr>
              <a:tr h="3895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dirty="0"/>
                    </a:p>
                  </a:txBody>
                  <a:tcPr marL="91450" marR="91450" marT="45725" marB="45725"/>
                </a:tc>
                <a:extLst>
                  <a:ext uri="{0D108BD9-81ED-4DB2-BD59-A6C34878D82A}">
                    <a16:rowId xmlns:a16="http://schemas.microsoft.com/office/drawing/2014/main" val="10002"/>
                  </a:ext>
                </a:extLst>
              </a:tr>
            </a:tbl>
          </a:graphicData>
        </a:graphic>
      </p:graphicFrame>
      <p:sp>
        <p:nvSpPr>
          <p:cNvPr id="206" name="Google Shape;206;p11"/>
          <p:cNvSpPr txBox="1"/>
          <p:nvPr/>
        </p:nvSpPr>
        <p:spPr>
          <a:xfrm>
            <a:off x="2950397" y="3668580"/>
            <a:ext cx="1693611"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1800" dirty="0">
                <a:solidFill>
                  <a:schemeClr val="dk1"/>
                </a:solidFill>
                <a:latin typeface="Calibri"/>
                <a:ea typeface="Calibri"/>
                <a:cs typeface="Calibri"/>
                <a:sym typeface="Calibri"/>
              </a:rPr>
              <a:t>関東</a:t>
            </a:r>
            <a:r>
              <a:rPr lang="ja-JP" sz="1800" dirty="0">
                <a:solidFill>
                  <a:schemeClr val="dk1"/>
                </a:solidFill>
                <a:latin typeface="Calibri"/>
                <a:ea typeface="Calibri"/>
                <a:cs typeface="Calibri"/>
                <a:sym typeface="Calibri"/>
              </a:rPr>
              <a:t>テーブル</a:t>
            </a:r>
            <a:endParaRPr dirty="0"/>
          </a:p>
        </p:txBody>
      </p:sp>
      <p:sp>
        <p:nvSpPr>
          <p:cNvPr id="209" name="Google Shape;209;p11"/>
          <p:cNvSpPr txBox="1"/>
          <p:nvPr/>
        </p:nvSpPr>
        <p:spPr>
          <a:xfrm>
            <a:off x="5474557" y="1416169"/>
            <a:ext cx="3502033" cy="2031285"/>
          </a:xfrm>
          <a:prstGeom prst="rect">
            <a:avLst/>
          </a:prstGeom>
          <a:solidFill>
            <a:srgbClr val="FFFF00"/>
          </a:solidFill>
          <a:ln>
            <a:noFill/>
          </a:ln>
        </p:spPr>
        <p:txBody>
          <a:bodyPr spcFirstLastPara="1" wrap="square" lIns="91425" tIns="45700" rIns="91425" bIns="45700" anchor="t" anchorCtr="0">
            <a:spAutoFit/>
          </a:bodyPr>
          <a:lstStyle/>
          <a:p>
            <a:pPr marL="342900" marR="0" lvl="0" indent="-342900" algn="l" rtl="0">
              <a:spcBef>
                <a:spcPts val="0"/>
              </a:spcBef>
              <a:spcAft>
                <a:spcPts val="0"/>
              </a:spcAft>
              <a:buFont typeface="+mj-lt"/>
              <a:buAutoNum type="arabicPeriod"/>
            </a:pPr>
            <a:r>
              <a:rPr lang="ja-JP" altLang="en-US" dirty="0">
                <a:latin typeface="HGSｺﾞｼｯｸM" panose="020B0600000000000000" pitchFamily="50" charset="-128"/>
                <a:ea typeface="HGSｺﾞｼｯｸM" panose="020B0600000000000000" pitchFamily="50" charset="-128"/>
              </a:rPr>
              <a:t>「最終課題</a:t>
            </a:r>
            <a:r>
              <a:rPr lang="en-US" altLang="ja-JP" dirty="0">
                <a:latin typeface="HGSｺﾞｼｯｸM" panose="020B0600000000000000" pitchFamily="50" charset="-128"/>
                <a:ea typeface="HGSｺﾞｼｯｸM" panose="020B0600000000000000" pitchFamily="50" charset="-128"/>
              </a:rPr>
              <a:t>-2</a:t>
            </a:r>
            <a:r>
              <a:rPr lang="ja-JP" altLang="en-US" dirty="0">
                <a:latin typeface="HGSｺﾞｼｯｸM" panose="020B0600000000000000" pitchFamily="50" charset="-128"/>
                <a:ea typeface="HGSｺﾞｼｯｸM" panose="020B0600000000000000" pitchFamily="50" charset="-128"/>
              </a:rPr>
              <a:t>でデータベースとテーブルの格納されたデータを作成する。</a:t>
            </a:r>
            <a:endParaRPr lang="en-US" altLang="ja-JP" dirty="0">
              <a:latin typeface="HGSｺﾞｼｯｸM" panose="020B0600000000000000" pitchFamily="50" charset="-128"/>
              <a:ea typeface="HGSｺﾞｼｯｸM" panose="020B0600000000000000" pitchFamily="50" charset="-128"/>
            </a:endParaRPr>
          </a:p>
          <a:p>
            <a:pPr marL="342900" marR="0" lvl="0" indent="-342900" algn="l" rtl="0">
              <a:spcBef>
                <a:spcPts val="0"/>
              </a:spcBef>
              <a:spcAft>
                <a:spcPts val="0"/>
              </a:spcAft>
              <a:buFont typeface="+mj-lt"/>
              <a:buAutoNum type="arabicPeriod"/>
            </a:pPr>
            <a:r>
              <a:rPr lang="ja-JP" altLang="en-US" dirty="0">
                <a:latin typeface="HGSｺﾞｼｯｸM" panose="020B0600000000000000" pitchFamily="50" charset="-128"/>
                <a:ea typeface="HGSｺﾞｼｯｸM" panose="020B0600000000000000" pitchFamily="50" charset="-128"/>
              </a:rPr>
              <a:t>「最終課題</a:t>
            </a:r>
            <a:r>
              <a:rPr lang="en-US" altLang="ja-JP" dirty="0">
                <a:latin typeface="HGSｺﾞｼｯｸM" panose="020B0600000000000000" pitchFamily="50" charset="-128"/>
                <a:ea typeface="HGSｺﾞｼｯｸM" panose="020B0600000000000000" pitchFamily="50" charset="-128"/>
              </a:rPr>
              <a:t>-(</a:t>
            </a:r>
            <a:r>
              <a:rPr lang="ja-JP" altLang="en-US" dirty="0">
                <a:latin typeface="HGSｺﾞｼｯｸM" panose="020B0600000000000000" pitchFamily="50" charset="-128"/>
                <a:ea typeface="HGSｺﾞｼｯｸM" panose="020B0600000000000000" pitchFamily="50" charset="-128"/>
              </a:rPr>
              <a:t>各動物のファイル名</a:t>
            </a:r>
            <a:r>
              <a:rPr lang="en-US" altLang="ja-JP" dirty="0">
                <a:latin typeface="HGSｺﾞｼｯｸM" panose="020B0600000000000000" pitchFamily="50" charset="-128"/>
                <a:ea typeface="HGSｺﾞｼｯｸM" panose="020B0600000000000000" pitchFamily="50" charset="-128"/>
              </a:rPr>
              <a:t>)</a:t>
            </a:r>
            <a:r>
              <a:rPr lang="ja-JP" altLang="en-US" dirty="0">
                <a:latin typeface="HGSｺﾞｼｯｸM" panose="020B0600000000000000" pitchFamily="50" charset="-128"/>
                <a:ea typeface="HGSｺﾞｼｯｸM" panose="020B0600000000000000" pitchFamily="50" charset="-128"/>
              </a:rPr>
              <a:t>」で表形式に呼ぶ出されるときは各データベース名に沿った格納データが呼び出されてデータが表示される。</a:t>
            </a:r>
            <a:br>
              <a:rPr lang="en-US" altLang="ja-JP" dirty="0">
                <a:latin typeface="HGSｺﾞｼｯｸM" panose="020B0600000000000000" pitchFamily="50" charset="-128"/>
                <a:ea typeface="HGSｺﾞｼｯｸM" panose="020B0600000000000000" pitchFamily="50" charset="-128"/>
              </a:rPr>
            </a:br>
            <a:r>
              <a:rPr lang="en-US" altLang="ja-JP" dirty="0">
                <a:latin typeface="HGSｺﾞｼｯｸM" panose="020B0600000000000000" pitchFamily="50" charset="-128"/>
                <a:ea typeface="HGSｺﾞｼｯｸM" panose="020B0600000000000000" pitchFamily="50" charset="-128"/>
              </a:rPr>
              <a:t>※</a:t>
            </a:r>
            <a:r>
              <a:rPr lang="ja-JP" altLang="en-US" dirty="0">
                <a:latin typeface="HGSｺﾞｼｯｸM" panose="020B0600000000000000" pitchFamily="50" charset="-128"/>
                <a:ea typeface="HGSｺﾞｼｯｸM" panose="020B0600000000000000" pitchFamily="50" charset="-128"/>
              </a:rPr>
              <a:t>データベースとテーブルの格納データは地方ごとに表示するために小分けにしてある。</a:t>
            </a:r>
            <a:endParaRPr lang="en-US" altLang="ja-JP" dirty="0">
              <a:latin typeface="HGSｺﾞｼｯｸM" panose="020B0600000000000000" pitchFamily="50" charset="-128"/>
              <a:ea typeface="HGSｺﾞｼｯｸM" panose="020B0600000000000000" pitchFamily="50" charset="-128"/>
            </a:endParaRPr>
          </a:p>
        </p:txBody>
      </p:sp>
      <p:sp>
        <p:nvSpPr>
          <p:cNvPr id="210" name="Google Shape;210;p11"/>
          <p:cNvSpPr txBox="1"/>
          <p:nvPr/>
        </p:nvSpPr>
        <p:spPr>
          <a:xfrm>
            <a:off x="1496153" y="6029471"/>
            <a:ext cx="145424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1800">
                <a:solidFill>
                  <a:schemeClr val="dk1"/>
                </a:solidFill>
                <a:latin typeface="Calibri"/>
                <a:ea typeface="Calibri"/>
                <a:cs typeface="Calibri"/>
                <a:sym typeface="Calibri"/>
              </a:rPr>
              <a:t>図〇：●●●</a:t>
            </a:r>
            <a:endParaRPr/>
          </a:p>
        </p:txBody>
      </p:sp>
      <p:sp>
        <p:nvSpPr>
          <p:cNvPr id="211" name="Google Shape;211;p11"/>
          <p:cNvSpPr txBox="1"/>
          <p:nvPr/>
        </p:nvSpPr>
        <p:spPr>
          <a:xfrm>
            <a:off x="7380311" y="116632"/>
            <a:ext cx="1394411" cy="523180"/>
          </a:xfrm>
          <a:prstGeom prst="rect">
            <a:avLst/>
          </a:prstGeom>
          <a:solidFill>
            <a:srgbClr val="FFFF00"/>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sz="2800" dirty="0">
                <a:solidFill>
                  <a:schemeClr val="dk1"/>
                </a:solidFill>
                <a:latin typeface="Calibri"/>
                <a:ea typeface="Calibri"/>
                <a:cs typeface="Calibri"/>
                <a:sym typeface="Calibri"/>
              </a:rPr>
              <a:t>Ｎｅｗ</a:t>
            </a:r>
            <a:endParaRPr dirty="0"/>
          </a:p>
        </p:txBody>
      </p:sp>
      <p:sp>
        <p:nvSpPr>
          <p:cNvPr id="212" name="Google Shape;212;p11"/>
          <p:cNvSpPr txBox="1"/>
          <p:nvPr/>
        </p:nvSpPr>
        <p:spPr>
          <a:xfrm>
            <a:off x="4776228" y="127756"/>
            <a:ext cx="2516161" cy="523220"/>
          </a:xfrm>
          <a:prstGeom prst="rect">
            <a:avLst/>
          </a:prstGeom>
          <a:solidFill>
            <a:srgbClr val="FFFF00"/>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sz="2800" dirty="0">
                <a:solidFill>
                  <a:schemeClr val="dk1"/>
                </a:solidFill>
                <a:latin typeface="Calibri"/>
                <a:ea typeface="Calibri"/>
                <a:cs typeface="Calibri"/>
                <a:sym typeface="Calibri"/>
              </a:rPr>
              <a:t>どちらか一方</a:t>
            </a:r>
            <a:endParaRPr dirty="0"/>
          </a:p>
        </p:txBody>
      </p:sp>
      <p:pic>
        <p:nvPicPr>
          <p:cNvPr id="2" name="Google Shape;197;p11">
            <a:extLst>
              <a:ext uri="{FF2B5EF4-FFF2-40B4-BE49-F238E27FC236}">
                <a16:creationId xmlns:a16="http://schemas.microsoft.com/office/drawing/2014/main" id="{5B9E1C4B-C2DD-5F1B-DA07-E3DA002526FC}"/>
              </a:ext>
            </a:extLst>
          </p:cNvPr>
          <p:cNvPicPr preferRelativeResize="0"/>
          <p:nvPr/>
        </p:nvPicPr>
        <p:blipFill rotWithShape="1">
          <a:blip r:embed="rId3">
            <a:alphaModFix/>
          </a:blip>
          <a:srcRect/>
          <a:stretch/>
        </p:blipFill>
        <p:spPr>
          <a:xfrm>
            <a:off x="1296936" y="4082222"/>
            <a:ext cx="432049" cy="671952"/>
          </a:xfrm>
          <a:prstGeom prst="rect">
            <a:avLst/>
          </a:prstGeom>
          <a:noFill/>
          <a:ln>
            <a:noFill/>
          </a:ln>
        </p:spPr>
      </p:pic>
      <p:pic>
        <p:nvPicPr>
          <p:cNvPr id="3" name="Google Shape;197;p11">
            <a:extLst>
              <a:ext uri="{FF2B5EF4-FFF2-40B4-BE49-F238E27FC236}">
                <a16:creationId xmlns:a16="http://schemas.microsoft.com/office/drawing/2014/main" id="{FE55E70E-FC3E-DA44-1B06-54656D4E3706}"/>
              </a:ext>
            </a:extLst>
          </p:cNvPr>
          <p:cNvPicPr preferRelativeResize="0"/>
          <p:nvPr/>
        </p:nvPicPr>
        <p:blipFill rotWithShape="1">
          <a:blip r:embed="rId3">
            <a:alphaModFix/>
          </a:blip>
          <a:srcRect/>
          <a:stretch/>
        </p:blipFill>
        <p:spPr>
          <a:xfrm>
            <a:off x="511203" y="4964224"/>
            <a:ext cx="432049" cy="671952"/>
          </a:xfrm>
          <a:prstGeom prst="rect">
            <a:avLst/>
          </a:prstGeom>
          <a:noFill/>
          <a:ln>
            <a:noFill/>
          </a:ln>
        </p:spPr>
      </p:pic>
      <p:pic>
        <p:nvPicPr>
          <p:cNvPr id="4" name="Google Shape;197;p11">
            <a:extLst>
              <a:ext uri="{FF2B5EF4-FFF2-40B4-BE49-F238E27FC236}">
                <a16:creationId xmlns:a16="http://schemas.microsoft.com/office/drawing/2014/main" id="{B6D3876E-03EB-7DDE-EF2A-AE777AE829A8}"/>
              </a:ext>
            </a:extLst>
          </p:cNvPr>
          <p:cNvPicPr preferRelativeResize="0"/>
          <p:nvPr/>
        </p:nvPicPr>
        <p:blipFill rotWithShape="1">
          <a:blip r:embed="rId3">
            <a:alphaModFix/>
          </a:blip>
          <a:srcRect/>
          <a:stretch/>
        </p:blipFill>
        <p:spPr>
          <a:xfrm>
            <a:off x="1296937" y="4964224"/>
            <a:ext cx="432049" cy="671952"/>
          </a:xfrm>
          <a:prstGeom prst="rect">
            <a:avLst/>
          </a:prstGeom>
          <a:noFill/>
          <a:ln>
            <a:noFill/>
          </a:ln>
        </p:spPr>
      </p:pic>
      <p:cxnSp>
        <p:nvCxnSpPr>
          <p:cNvPr id="6" name="コネクタ: カギ線 5">
            <a:extLst>
              <a:ext uri="{FF2B5EF4-FFF2-40B4-BE49-F238E27FC236}">
                <a16:creationId xmlns:a16="http://schemas.microsoft.com/office/drawing/2014/main" id="{599B4AC8-5A49-1FA0-832A-95B1A6D24906}"/>
              </a:ext>
            </a:extLst>
          </p:cNvPr>
          <p:cNvCxnSpPr>
            <a:stCxn id="195" idx="3"/>
            <a:endCxn id="200" idx="1"/>
          </p:cNvCxnSpPr>
          <p:nvPr/>
        </p:nvCxnSpPr>
        <p:spPr>
          <a:xfrm flipV="1">
            <a:off x="1496153" y="1637043"/>
            <a:ext cx="1248439" cy="10798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0B8490DB-7543-B104-9834-B2D7F5730B90}"/>
              </a:ext>
            </a:extLst>
          </p:cNvPr>
          <p:cNvCxnSpPr>
            <a:cxnSpLocks/>
            <a:stCxn id="200" idx="1"/>
          </p:cNvCxnSpPr>
          <p:nvPr/>
        </p:nvCxnSpPr>
        <p:spPr>
          <a:xfrm>
            <a:off x="2744592" y="1637043"/>
            <a:ext cx="0" cy="318993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AB6EE57A-8CDD-99C5-7E3F-E0EA5F0930E6}"/>
              </a:ext>
            </a:extLst>
          </p:cNvPr>
          <p:cNvCxnSpPr>
            <a:cxnSpLocks/>
          </p:cNvCxnSpPr>
          <p:nvPr/>
        </p:nvCxnSpPr>
        <p:spPr>
          <a:xfrm>
            <a:off x="1136738" y="4826977"/>
            <a:ext cx="160785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コネクタ: カギ線 22">
            <a:extLst>
              <a:ext uri="{FF2B5EF4-FFF2-40B4-BE49-F238E27FC236}">
                <a16:creationId xmlns:a16="http://schemas.microsoft.com/office/drawing/2014/main" id="{ACEED7A2-9327-4D39-056E-C0B90B9BBAD4}"/>
              </a:ext>
            </a:extLst>
          </p:cNvPr>
          <p:cNvCxnSpPr>
            <a:endCxn id="197" idx="3"/>
          </p:cNvCxnSpPr>
          <p:nvPr/>
        </p:nvCxnSpPr>
        <p:spPr>
          <a:xfrm rot="16200000" flipV="1">
            <a:off x="835605" y="4525844"/>
            <a:ext cx="408779" cy="19348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0E774306-5B07-F404-08DE-DA2AD08BC75B}"/>
              </a:ext>
            </a:extLst>
          </p:cNvPr>
          <p:cNvCxnSpPr>
            <a:endCxn id="2" idx="1"/>
          </p:cNvCxnSpPr>
          <p:nvPr/>
        </p:nvCxnSpPr>
        <p:spPr>
          <a:xfrm>
            <a:off x="1134716" y="4418198"/>
            <a:ext cx="1622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29E2BB30-44B1-C691-3793-C1B8B9A21A91}"/>
              </a:ext>
            </a:extLst>
          </p:cNvPr>
          <p:cNvCxnSpPr>
            <a:endCxn id="4" idx="1"/>
          </p:cNvCxnSpPr>
          <p:nvPr/>
        </p:nvCxnSpPr>
        <p:spPr>
          <a:xfrm rot="16200000" flipH="1">
            <a:off x="980226" y="4983488"/>
            <a:ext cx="473223" cy="16019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5936E70B-ED88-0BBC-8B2D-0B4ED744E8CD}"/>
              </a:ext>
            </a:extLst>
          </p:cNvPr>
          <p:cNvCxnSpPr>
            <a:endCxn id="3" idx="3"/>
          </p:cNvCxnSpPr>
          <p:nvPr/>
        </p:nvCxnSpPr>
        <p:spPr>
          <a:xfrm flipH="1">
            <a:off x="943252" y="5300199"/>
            <a:ext cx="2160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Google Shape;194;p11">
            <a:extLst>
              <a:ext uri="{FF2B5EF4-FFF2-40B4-BE49-F238E27FC236}">
                <a16:creationId xmlns:a16="http://schemas.microsoft.com/office/drawing/2014/main" id="{8C0BFEE8-9AFF-3538-A8D3-07720BC9D563}"/>
              </a:ext>
            </a:extLst>
          </p:cNvPr>
          <p:cNvSpPr txBox="1"/>
          <p:nvPr/>
        </p:nvSpPr>
        <p:spPr>
          <a:xfrm>
            <a:off x="161752" y="3548086"/>
            <a:ext cx="2108147" cy="6462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a:t>
            </a:r>
            <a:r>
              <a:rPr lang="ja-JP" altLang="en-US" sz="1800" dirty="0">
                <a:solidFill>
                  <a:schemeClr val="dk1"/>
                </a:solidFill>
                <a:latin typeface="Calibri"/>
                <a:ea typeface="Calibri"/>
                <a:cs typeface="Calibri"/>
                <a:sym typeface="Calibri"/>
              </a:rPr>
              <a:t>各動物のファイル名</a:t>
            </a:r>
            <a:r>
              <a:rPr lang="en-US" altLang="ja-JP" sz="1800" dirty="0">
                <a:solidFill>
                  <a:schemeClr val="dk1"/>
                </a:solidFill>
                <a:latin typeface="Calibri"/>
                <a:ea typeface="Calibri"/>
                <a:cs typeface="Calibri"/>
                <a:sym typeface="Calibri"/>
              </a:rPr>
              <a:t>)</a:t>
            </a:r>
            <a:endParaRPr sz="1800" dirty="0">
              <a:solidFill>
                <a:schemeClr val="dk1"/>
              </a:solidFill>
              <a:latin typeface="Calibri"/>
              <a:ea typeface="Calibri"/>
              <a:cs typeface="Calibri"/>
              <a:sym typeface="Calibri"/>
            </a:endParaRPr>
          </a:p>
        </p:txBody>
      </p:sp>
      <p:sp>
        <p:nvSpPr>
          <p:cNvPr id="31" name="テキスト ボックス 30">
            <a:extLst>
              <a:ext uri="{FF2B5EF4-FFF2-40B4-BE49-F238E27FC236}">
                <a16:creationId xmlns:a16="http://schemas.microsoft.com/office/drawing/2014/main" id="{4D310980-85CA-C5B9-1789-3827789C8078}"/>
              </a:ext>
            </a:extLst>
          </p:cNvPr>
          <p:cNvSpPr txBox="1"/>
          <p:nvPr/>
        </p:nvSpPr>
        <p:spPr>
          <a:xfrm>
            <a:off x="3476760" y="4925784"/>
            <a:ext cx="422031" cy="2123658"/>
          </a:xfrm>
          <a:prstGeom prst="rect">
            <a:avLst/>
          </a:prstGeom>
          <a:noFill/>
        </p:spPr>
        <p:txBody>
          <a:bodyPr wrap="square" rtlCol="0">
            <a:spAutoFit/>
          </a:bodyPr>
          <a:lstStyle/>
          <a:p>
            <a:r>
              <a:rPr kumimoji="1" lang="ja-JP" altLang="en-US" sz="4400" dirty="0"/>
              <a:t>・</a:t>
            </a:r>
            <a:endParaRPr kumimoji="1" lang="en-US" altLang="ja-JP" sz="4400" dirty="0"/>
          </a:p>
          <a:p>
            <a:r>
              <a:rPr kumimoji="1" lang="ja-JP" altLang="en-US" sz="4400" dirty="0"/>
              <a:t>・</a:t>
            </a:r>
            <a:endParaRPr kumimoji="1" lang="en-US" altLang="ja-JP" sz="4400" dirty="0"/>
          </a:p>
          <a:p>
            <a:r>
              <a:rPr kumimoji="1" lang="ja-JP" altLang="en-US" sz="44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dirty="0"/>
              <a:t>5. データベースの仕様</a:t>
            </a:r>
            <a:endParaRPr dirty="0"/>
          </a:p>
        </p:txBody>
      </p:sp>
      <p:sp>
        <p:nvSpPr>
          <p:cNvPr id="238" name="Google Shape;238;p13"/>
          <p:cNvSpPr txBox="1">
            <a:spLocks noGrp="1"/>
          </p:cNvSpPr>
          <p:nvPr>
            <p:ph type="body" idx="1"/>
          </p:nvPr>
        </p:nvSpPr>
        <p:spPr>
          <a:xfrm>
            <a:off x="395536" y="1340768"/>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Clr>
                <a:schemeClr val="dk1"/>
              </a:buClr>
              <a:buSzPts val="3200"/>
              <a:buNone/>
            </a:pPr>
            <a:r>
              <a:rPr lang="ja-JP" dirty="0">
                <a:latin typeface="HGSｺﾞｼｯｸM" panose="020B0600000000000000" pitchFamily="50" charset="-128"/>
                <a:ea typeface="HGSｺﾞｼｯｸM" panose="020B0600000000000000" pitchFamily="50" charset="-128"/>
              </a:rPr>
              <a:t>データベースのテーブルの説明</a:t>
            </a:r>
            <a:endParaRPr dirty="0">
              <a:latin typeface="HGSｺﾞｼｯｸM" panose="020B0600000000000000" pitchFamily="50" charset="-128"/>
              <a:ea typeface="HGSｺﾞｼｯｸM" panose="020B0600000000000000" pitchFamily="50" charset="-128"/>
            </a:endParaRPr>
          </a:p>
          <a:p>
            <a:pPr marL="0" lvl="0" indent="0" algn="l" rtl="0">
              <a:spcBef>
                <a:spcPts val="640"/>
              </a:spcBef>
              <a:spcAft>
                <a:spcPts val="0"/>
              </a:spcAft>
              <a:buClr>
                <a:schemeClr val="dk1"/>
              </a:buClr>
              <a:buSzPts val="3200"/>
              <a:buNone/>
            </a:pPr>
            <a:r>
              <a:rPr lang="ja-JP" dirty="0">
                <a:latin typeface="HGSｺﾞｼｯｸM" panose="020B0600000000000000" pitchFamily="50" charset="-128"/>
                <a:ea typeface="HGSｺﾞｼｯｸM" panose="020B0600000000000000" pitchFamily="50" charset="-128"/>
              </a:rPr>
              <a:t>(1)</a:t>
            </a:r>
            <a:r>
              <a:rPr lang="ja-JP" altLang="en-US" dirty="0">
                <a:latin typeface="HGSｺﾞｼｯｸM" panose="020B0600000000000000" pitchFamily="50" charset="-128"/>
                <a:ea typeface="HGSｺﾞｼｯｸM" panose="020B0600000000000000" pitchFamily="50" charset="-128"/>
              </a:rPr>
              <a:t>データベースは「最終課題</a:t>
            </a:r>
            <a:r>
              <a:rPr lang="en-US" altLang="ja-JP" dirty="0">
                <a:latin typeface="HGSｺﾞｼｯｸM" panose="020B0600000000000000" pitchFamily="50" charset="-128"/>
                <a:ea typeface="HGSｺﾞｼｯｸM" panose="020B0600000000000000" pitchFamily="50" charset="-128"/>
              </a:rPr>
              <a:t>-2</a:t>
            </a:r>
            <a:r>
              <a:rPr lang="ja-JP" altLang="en-US" dirty="0">
                <a:latin typeface="HGSｺﾞｼｯｸM" panose="020B0600000000000000" pitchFamily="50" charset="-128"/>
                <a:ea typeface="HGSｺﾞｼｯｸM" panose="020B0600000000000000" pitchFamily="50" charset="-128"/>
              </a:rPr>
              <a:t>」で最序盤に　　　</a:t>
            </a:r>
            <a:r>
              <a:rPr lang="en-US" altLang="ja-JP" dirty="0">
                <a:latin typeface="HGSｺﾞｼｯｸM" panose="020B0600000000000000" pitchFamily="50" charset="-128"/>
                <a:ea typeface="HGSｺﾞｼｯｸM" panose="020B0600000000000000" pitchFamily="50" charset="-128"/>
              </a:rPr>
              <a:t>	</a:t>
            </a:r>
            <a:r>
              <a:rPr lang="ja-JP" altLang="en-US" dirty="0">
                <a:latin typeface="HGSｺﾞｼｯｸM" panose="020B0600000000000000" pitchFamily="50" charset="-128"/>
                <a:ea typeface="HGSｺﾞｼｯｸM" panose="020B0600000000000000" pitchFamily="50" charset="-128"/>
              </a:rPr>
              <a:t>「猪、熊、猿、鹿」ごとに作成。</a:t>
            </a:r>
            <a:endParaRPr lang="en-US" altLang="ja-JP" dirty="0">
              <a:latin typeface="HGSｺﾞｼｯｸM" panose="020B0600000000000000" pitchFamily="50" charset="-128"/>
              <a:ea typeface="HGSｺﾞｼｯｸM" panose="020B0600000000000000" pitchFamily="50" charset="-128"/>
            </a:endParaRPr>
          </a:p>
          <a:p>
            <a:pPr marL="0" lvl="0" indent="0" algn="l" rtl="0">
              <a:spcBef>
                <a:spcPts val="640"/>
              </a:spcBef>
              <a:spcAft>
                <a:spcPts val="0"/>
              </a:spcAft>
              <a:buClr>
                <a:schemeClr val="dk1"/>
              </a:buClr>
              <a:buSzPts val="3200"/>
              <a:buNone/>
            </a:pPr>
            <a:endParaRPr dirty="0">
              <a:latin typeface="HGSｺﾞｼｯｸM" panose="020B0600000000000000" pitchFamily="50" charset="-128"/>
              <a:ea typeface="HGSｺﾞｼｯｸM" panose="020B0600000000000000" pitchFamily="50" charset="-128"/>
            </a:endParaRPr>
          </a:p>
          <a:p>
            <a:pPr marL="0" lvl="0" indent="0" algn="l" rtl="0">
              <a:spcBef>
                <a:spcPts val="640"/>
              </a:spcBef>
              <a:spcAft>
                <a:spcPts val="0"/>
              </a:spcAft>
              <a:buClr>
                <a:schemeClr val="dk1"/>
              </a:buClr>
              <a:buSzPts val="3200"/>
              <a:buNone/>
            </a:pPr>
            <a:r>
              <a:rPr lang="ja-JP" dirty="0">
                <a:latin typeface="HGSｺﾞｼｯｸM" panose="020B0600000000000000" pitchFamily="50" charset="-128"/>
                <a:ea typeface="HGSｺﾞｼｯｸM" panose="020B0600000000000000" pitchFamily="50" charset="-128"/>
              </a:rPr>
              <a:t>(2)</a:t>
            </a:r>
            <a:r>
              <a:rPr lang="ja-JP" altLang="en-US" dirty="0">
                <a:latin typeface="HGSｺﾞｼｯｸM" panose="020B0600000000000000" pitchFamily="50" charset="-128"/>
                <a:ea typeface="HGSｺﾞｼｯｸM" panose="020B0600000000000000" pitchFamily="50" charset="-128"/>
              </a:rPr>
              <a:t>テーブルはデータベースごとに</a:t>
            </a:r>
            <a:r>
              <a:rPr lang="en-US" altLang="ja-JP" dirty="0">
                <a:latin typeface="HGSｺﾞｼｯｸM" panose="020B0600000000000000" pitchFamily="50" charset="-128"/>
                <a:ea typeface="HGSｺﾞｼｯｸM" panose="020B0600000000000000" pitchFamily="50" charset="-128"/>
              </a:rPr>
              <a:t>9</a:t>
            </a:r>
            <a:r>
              <a:rPr lang="ja-JP" altLang="en-US" dirty="0">
                <a:latin typeface="HGSｺﾞｼｯｸM" panose="020B0600000000000000" pitchFamily="50" charset="-128"/>
                <a:ea typeface="HGSｺﾞｼｯｸM" panose="020B0600000000000000" pitchFamily="50" charset="-128"/>
              </a:rPr>
              <a:t>種類あるが少し省略して「</a:t>
            </a:r>
            <a:r>
              <a:rPr lang="en-US" altLang="ja-JP" dirty="0">
                <a:latin typeface="HGSｺﾞｼｯｸM" panose="020B0600000000000000" pitchFamily="50" charset="-128"/>
                <a:ea typeface="HGSｺﾞｼｯｸM" panose="020B0600000000000000" pitchFamily="50" charset="-128"/>
              </a:rPr>
              <a:t>(</a:t>
            </a:r>
            <a:r>
              <a:rPr lang="ja-JP" altLang="en-US" dirty="0">
                <a:latin typeface="HGSｺﾞｼｯｸM" panose="020B0600000000000000" pitchFamily="50" charset="-128"/>
                <a:ea typeface="HGSｺﾞｼｯｸM" panose="020B0600000000000000" pitchFamily="50" charset="-128"/>
              </a:rPr>
              <a:t>北海・東北</a:t>
            </a:r>
            <a:r>
              <a:rPr lang="en-US" altLang="ja-JP" dirty="0">
                <a:latin typeface="HGSｺﾞｼｯｸM" panose="020B0600000000000000" pitchFamily="50" charset="-128"/>
                <a:ea typeface="HGSｺﾞｼｯｸM" panose="020B0600000000000000" pitchFamily="50" charset="-128"/>
              </a:rPr>
              <a:t>)</a:t>
            </a:r>
            <a:r>
              <a:rPr lang="ja-JP" altLang="en-US" dirty="0">
                <a:latin typeface="HGSｺﾞｼｯｸM" panose="020B0600000000000000" pitchFamily="50" charset="-128"/>
                <a:ea typeface="HGSｺﾞｼｯｸM" panose="020B0600000000000000" pitchFamily="50" charset="-128"/>
              </a:rPr>
              <a:t>、関東、</a:t>
            </a:r>
            <a:r>
              <a:rPr lang="en-US" altLang="ja-JP" dirty="0">
                <a:latin typeface="HGSｺﾞｼｯｸM" panose="020B0600000000000000" pitchFamily="50" charset="-128"/>
                <a:ea typeface="HGSｺﾞｼｯｸM" panose="020B0600000000000000" pitchFamily="50" charset="-128"/>
              </a:rPr>
              <a:t>(</a:t>
            </a:r>
            <a:r>
              <a:rPr lang="ja-JP" altLang="en-US" dirty="0">
                <a:latin typeface="HGSｺﾞｼｯｸM" panose="020B0600000000000000" pitchFamily="50" charset="-128"/>
                <a:ea typeface="HGSｺﾞｼｯｸM" panose="020B0600000000000000" pitchFamily="50" charset="-128"/>
              </a:rPr>
              <a:t>北陸・中部</a:t>
            </a:r>
            <a:r>
              <a:rPr lang="en-US" altLang="ja-JP" dirty="0">
                <a:latin typeface="HGSｺﾞｼｯｸM" panose="020B0600000000000000" pitchFamily="50" charset="-128"/>
                <a:ea typeface="HGSｺﾞｼｯｸM" panose="020B0600000000000000" pitchFamily="50" charset="-128"/>
              </a:rPr>
              <a:t>)</a:t>
            </a:r>
            <a:r>
              <a:rPr lang="ja-JP" altLang="en-US" dirty="0">
                <a:latin typeface="HGSｺﾞｼｯｸM" panose="020B0600000000000000" pitchFamily="50" charset="-128"/>
                <a:ea typeface="HGSｺﾞｼｯｸM" panose="020B0600000000000000" pitchFamily="50" charset="-128"/>
              </a:rPr>
              <a:t>、近畿、</a:t>
            </a:r>
            <a:r>
              <a:rPr lang="en-US" altLang="ja-JP" dirty="0">
                <a:latin typeface="HGSｺﾞｼｯｸM" panose="020B0600000000000000" pitchFamily="50" charset="-128"/>
                <a:ea typeface="HGSｺﾞｼｯｸM" panose="020B0600000000000000" pitchFamily="50" charset="-128"/>
              </a:rPr>
              <a:t>(</a:t>
            </a:r>
            <a:r>
              <a:rPr lang="ja-JP" altLang="en-US" dirty="0">
                <a:latin typeface="HGSｺﾞｼｯｸM" panose="020B0600000000000000" pitchFamily="50" charset="-128"/>
                <a:ea typeface="HGSｺﾞｼｯｸM" panose="020B0600000000000000" pitchFamily="50" charset="-128"/>
              </a:rPr>
              <a:t>中国・四国</a:t>
            </a:r>
            <a:r>
              <a:rPr lang="en-US" altLang="ja-JP" dirty="0">
                <a:latin typeface="HGSｺﾞｼｯｸM" panose="020B0600000000000000" pitchFamily="50" charset="-128"/>
                <a:ea typeface="HGSｺﾞｼｯｸM" panose="020B0600000000000000" pitchFamily="50" charset="-128"/>
              </a:rPr>
              <a:t>)</a:t>
            </a:r>
            <a:r>
              <a:rPr lang="ja-JP" altLang="en-US" dirty="0">
                <a:latin typeface="HGSｺﾞｼｯｸM" panose="020B0600000000000000" pitchFamily="50" charset="-128"/>
                <a:ea typeface="HGSｺﾞｼｯｸM" panose="020B0600000000000000" pitchFamily="50" charset="-128"/>
              </a:rPr>
              <a:t>、九州」で</a:t>
            </a:r>
            <a:r>
              <a:rPr lang="en-US" altLang="ja-JP" dirty="0">
                <a:latin typeface="HGSｺﾞｼｯｸM" panose="020B0600000000000000" pitchFamily="50" charset="-128"/>
                <a:ea typeface="HGSｺﾞｼｯｸM" panose="020B0600000000000000" pitchFamily="50" charset="-128"/>
              </a:rPr>
              <a:t>6</a:t>
            </a:r>
            <a:r>
              <a:rPr lang="ja-JP" altLang="en-US" dirty="0">
                <a:latin typeface="HGSｺﾞｼｯｸM" panose="020B0600000000000000" pitchFamily="50" charset="-128"/>
                <a:ea typeface="HGSｺﾞｼｯｸM" panose="020B0600000000000000" pitchFamily="50" charset="-128"/>
              </a:rPr>
              <a:t>種類で分類する</a:t>
            </a:r>
            <a:br>
              <a:rPr lang="en-US" altLang="ja-JP" dirty="0">
                <a:latin typeface="HGSｺﾞｼｯｸM" panose="020B0600000000000000" pitchFamily="50" charset="-128"/>
                <a:ea typeface="HGSｺﾞｼｯｸM" panose="020B0600000000000000" pitchFamily="50" charset="-128"/>
              </a:rPr>
            </a:br>
            <a:r>
              <a:rPr lang="en-US" altLang="ja-JP" dirty="0">
                <a:latin typeface="HGSｺﾞｼｯｸM" panose="020B0600000000000000" pitchFamily="50" charset="-128"/>
                <a:ea typeface="HGSｺﾞｼｯｸM" panose="020B0600000000000000" pitchFamily="50" charset="-128"/>
              </a:rPr>
              <a:t>(</a:t>
            </a:r>
            <a:r>
              <a:rPr lang="ja-JP" altLang="en-US" dirty="0">
                <a:latin typeface="HGSｺﾞｼｯｸM" panose="020B0600000000000000" pitchFamily="50" charset="-128"/>
                <a:ea typeface="HGSｺﾞｼｯｸM" panose="020B0600000000000000" pitchFamily="50" charset="-128"/>
              </a:rPr>
              <a:t>例</a:t>
            </a:r>
            <a:r>
              <a:rPr lang="en-US" altLang="ja-JP" dirty="0">
                <a:latin typeface="HGSｺﾞｼｯｸM" panose="020B0600000000000000" pitchFamily="50" charset="-128"/>
                <a:ea typeface="HGSｺﾞｼｯｸM" panose="020B0600000000000000" pitchFamily="50" charset="-128"/>
              </a:rPr>
              <a:t>)</a:t>
            </a:r>
            <a:r>
              <a:rPr lang="ja-JP" altLang="en-US" dirty="0">
                <a:latin typeface="HGSｺﾞｼｯｸM" panose="020B0600000000000000" pitchFamily="50" charset="-128"/>
                <a:ea typeface="HGSｺﾞｼｯｸM" panose="020B0600000000000000" pitchFamily="50" charset="-128"/>
              </a:rPr>
              <a:t>「</a:t>
            </a:r>
            <a:r>
              <a:rPr lang="en-US" altLang="ja-JP" dirty="0" err="1">
                <a:latin typeface="HGSｺﾞｼｯｸM" panose="020B0600000000000000" pitchFamily="50" charset="-128"/>
                <a:ea typeface="HGSｺﾞｼｯｸM" panose="020B0600000000000000" pitchFamily="50" charset="-128"/>
              </a:rPr>
              <a:t>inosisi</a:t>
            </a:r>
            <a:r>
              <a:rPr lang="en-US" altLang="ja-JP" dirty="0">
                <a:latin typeface="HGSｺﾞｼｯｸM" panose="020B0600000000000000" pitchFamily="50" charset="-128"/>
                <a:ea typeface="HGSｺﾞｼｯｸM" panose="020B0600000000000000" pitchFamily="50" charset="-128"/>
              </a:rPr>
              <a:t>_</a:t>
            </a:r>
            <a:r>
              <a:rPr lang="ja-JP" altLang="en-US" dirty="0">
                <a:latin typeface="HGSｺﾞｼｯｸM" panose="020B0600000000000000" pitchFamily="50" charset="-128"/>
                <a:ea typeface="HGSｺﾞｼｯｸM" panose="020B0600000000000000" pitchFamily="50" charset="-128"/>
              </a:rPr>
              <a:t>北海・東北」</a:t>
            </a:r>
            <a:r>
              <a:rPr lang="en-US" altLang="ja-JP" dirty="0">
                <a:latin typeface="HGSｺﾞｼｯｸM" panose="020B0600000000000000" pitchFamily="50" charset="-128"/>
                <a:ea typeface="HGSｺﾞｼｯｸM" panose="020B0600000000000000" pitchFamily="50" charset="-128"/>
              </a:rPr>
              <a:t>-&gt;</a:t>
            </a:r>
          </a:p>
          <a:p>
            <a:pPr marL="0" lvl="0" indent="0" algn="l" rtl="0">
              <a:spcBef>
                <a:spcPts val="640"/>
              </a:spcBef>
              <a:spcAft>
                <a:spcPts val="0"/>
              </a:spcAft>
              <a:buClr>
                <a:schemeClr val="dk1"/>
              </a:buClr>
              <a:buSzPts val="3200"/>
              <a:buNone/>
            </a:pPr>
            <a:r>
              <a:rPr lang="en-US" altLang="ja-JP" dirty="0">
                <a:latin typeface="HGSｺﾞｼｯｸM" panose="020B0600000000000000" pitchFamily="50" charset="-128"/>
                <a:ea typeface="HGSｺﾞｼｯｸM" panose="020B0600000000000000" pitchFamily="50" charset="-128"/>
              </a:rPr>
              <a:t>	[name, percent]=[</a:t>
            </a:r>
            <a:r>
              <a:rPr lang="ja-JP" altLang="en-US" dirty="0">
                <a:latin typeface="HGSｺﾞｼｯｸM" panose="020B0600000000000000" pitchFamily="50" charset="-128"/>
                <a:ea typeface="HGSｺﾞｼｯｸM" panose="020B0600000000000000" pitchFamily="50" charset="-128"/>
              </a:rPr>
              <a:t>北海</a:t>
            </a:r>
            <a:r>
              <a:rPr lang="en-US" altLang="ja-JP" dirty="0">
                <a:latin typeface="HGSｺﾞｼｯｸM" panose="020B0600000000000000" pitchFamily="50" charset="-128"/>
                <a:ea typeface="HGSｺﾞｼｯｸM" panose="020B0600000000000000" pitchFamily="50" charset="-128"/>
              </a:rPr>
              <a:t>, n%]</a:t>
            </a:r>
            <a:r>
              <a:rPr lang="ja-JP" altLang="en-US" dirty="0">
                <a:latin typeface="HGSｺﾞｼｯｸM" panose="020B0600000000000000" pitchFamily="50" charset="-128"/>
                <a:ea typeface="HGSｺﾞｼｯｸM" panose="020B0600000000000000" pitchFamily="50" charset="-128"/>
              </a:rPr>
              <a:t>・・・</a:t>
            </a:r>
            <a:endParaRPr lang="en-US" altLang="ja-JP" dirty="0">
              <a:latin typeface="HGSｺﾞｼｯｸM" panose="020B0600000000000000" pitchFamily="50" charset="-128"/>
              <a:ea typeface="HGSｺﾞｼｯｸM" panose="020B0600000000000000" pitchFamily="50" charset="-128"/>
            </a:endParaRPr>
          </a:p>
          <a:p>
            <a:pPr marL="0" lvl="0" indent="0" algn="l" rtl="0">
              <a:spcBef>
                <a:spcPts val="640"/>
              </a:spcBef>
              <a:spcAft>
                <a:spcPts val="0"/>
              </a:spcAft>
              <a:buClr>
                <a:schemeClr val="dk1"/>
              </a:buClr>
              <a:buSzPts val="3200"/>
              <a:buNone/>
            </a:pPr>
            <a:r>
              <a:rPr lang="ja-JP" altLang="en-US" dirty="0">
                <a:latin typeface="HGSｺﾞｼｯｸM" panose="020B0600000000000000" pitchFamily="50" charset="-128"/>
                <a:ea typeface="HGSｺﾞｼｯｸM" panose="020B0600000000000000" pitchFamily="50" charset="-128"/>
              </a:rPr>
              <a:t>とそれぞれデータがつくられる。</a:t>
            </a:r>
            <a:endParaRPr dirty="0">
              <a:latin typeface="HGSｺﾞｼｯｸM" panose="020B0600000000000000" pitchFamily="50" charset="-128"/>
              <a:ea typeface="HGSｺﾞｼｯｸM" panose="020B0600000000000000" pitchFamily="50" charset="-128"/>
            </a:endParaRPr>
          </a:p>
        </p:txBody>
      </p:sp>
      <p:sp>
        <p:nvSpPr>
          <p:cNvPr id="212" name="Google Shape;212;p11"/>
          <p:cNvSpPr txBox="1"/>
          <p:nvPr/>
        </p:nvSpPr>
        <p:spPr>
          <a:xfrm>
            <a:off x="5796136" y="88885"/>
            <a:ext cx="2177199" cy="523220"/>
          </a:xfrm>
          <a:prstGeom prst="rect">
            <a:avLst/>
          </a:prstGeom>
          <a:solidFill>
            <a:srgbClr val="FFFF00"/>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sz="2800" dirty="0">
                <a:solidFill>
                  <a:schemeClr val="dk1"/>
                </a:solidFill>
                <a:latin typeface="Calibri"/>
                <a:ea typeface="Calibri"/>
                <a:cs typeface="Calibri"/>
                <a:sym typeface="Calibri"/>
              </a:rPr>
              <a:t>どちらか一方</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5. データベースの仕様</a:t>
            </a:r>
            <a:endParaRPr/>
          </a:p>
        </p:txBody>
      </p:sp>
      <p:sp>
        <p:nvSpPr>
          <p:cNvPr id="244" name="Google Shape;244;p14"/>
          <p:cNvSpPr txBox="1">
            <a:spLocks noGrp="1"/>
          </p:cNvSpPr>
          <p:nvPr>
            <p:ph type="body" idx="1"/>
          </p:nvPr>
        </p:nvSpPr>
        <p:spPr>
          <a:xfrm>
            <a:off x="395536" y="1340768"/>
            <a:ext cx="8229600" cy="4525963"/>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ja-JP" dirty="0"/>
              <a:t>5.1データベースの定義と状況</a:t>
            </a:r>
            <a:endParaRPr dirty="0"/>
          </a:p>
          <a:p>
            <a:pPr marL="0" lvl="0" indent="0" algn="l" rtl="0">
              <a:spcBef>
                <a:spcPts val="640"/>
              </a:spcBef>
              <a:spcAft>
                <a:spcPts val="0"/>
              </a:spcAft>
              <a:buClr>
                <a:schemeClr val="dk1"/>
              </a:buClr>
              <a:buSzPts val="3200"/>
              <a:buNone/>
            </a:pPr>
            <a:r>
              <a:rPr lang="ja-JP" dirty="0"/>
              <a:t>(1)表形式で定義とその例の2種類の表を書く</a:t>
            </a:r>
            <a:r>
              <a:rPr lang="ja-JP" altLang="en-US" dirty="0"/>
              <a:t>。</a:t>
            </a:r>
            <a:endParaRPr lang="en-US" altLang="ja-JP" dirty="0"/>
          </a:p>
          <a:p>
            <a:pPr marL="0" lvl="0" indent="0" algn="l" rtl="0">
              <a:spcBef>
                <a:spcPts val="640"/>
              </a:spcBef>
              <a:spcAft>
                <a:spcPts val="0"/>
              </a:spcAft>
              <a:buClr>
                <a:schemeClr val="dk1"/>
              </a:buClr>
              <a:buSzPts val="3200"/>
              <a:buNone/>
            </a:pPr>
            <a:r>
              <a:rPr lang="ja-JP" altLang="en-US" dirty="0"/>
              <a:t> </a:t>
            </a:r>
            <a:r>
              <a:rPr lang="ja-JP" dirty="0"/>
              <a:t>(1-1</a:t>
            </a:r>
            <a:r>
              <a:rPr lang="en-US" altLang="ja-JP" dirty="0"/>
              <a:t>)</a:t>
            </a:r>
            <a:r>
              <a:rPr lang="ja-JP" altLang="en-US" dirty="0"/>
              <a:t>テーブルの定義</a:t>
            </a:r>
            <a:endParaRPr lang="en-US" altLang="ja-JP" dirty="0"/>
          </a:p>
          <a:p>
            <a:pPr marL="0" lvl="0" indent="0" algn="l" rtl="0">
              <a:spcBef>
                <a:spcPts val="640"/>
              </a:spcBef>
              <a:spcAft>
                <a:spcPts val="0"/>
              </a:spcAft>
              <a:buClr>
                <a:schemeClr val="dk1"/>
              </a:buClr>
              <a:buSzPts val="3200"/>
              <a:buNone/>
            </a:pPr>
            <a:r>
              <a:rPr lang="en-US" dirty="0"/>
              <a:t>	[‘name’ VRECHAR(10)]</a:t>
            </a:r>
          </a:p>
          <a:p>
            <a:pPr marL="0" lvl="0" indent="0" algn="l" rtl="0">
              <a:spcBef>
                <a:spcPts val="640"/>
              </a:spcBef>
              <a:spcAft>
                <a:spcPts val="0"/>
              </a:spcAft>
              <a:buClr>
                <a:schemeClr val="dk1"/>
              </a:buClr>
              <a:buSzPts val="3200"/>
              <a:buNone/>
            </a:pPr>
            <a:r>
              <a:rPr lang="en-US" dirty="0"/>
              <a:t>	[‘percent’ INTEGER]</a:t>
            </a:r>
            <a:endParaRPr dirty="0"/>
          </a:p>
          <a:p>
            <a:pPr marL="0" lvl="0" indent="0" algn="l" rtl="0">
              <a:spcBef>
                <a:spcPts val="640"/>
              </a:spcBef>
              <a:spcAft>
                <a:spcPts val="0"/>
              </a:spcAft>
              <a:buClr>
                <a:schemeClr val="dk1"/>
              </a:buClr>
              <a:buSzPts val="3200"/>
              <a:buNone/>
            </a:pPr>
            <a:r>
              <a:rPr lang="en-US" altLang="ja-JP" dirty="0"/>
              <a:t> </a:t>
            </a:r>
            <a:r>
              <a:rPr lang="ja-JP" dirty="0"/>
              <a:t>(1-2)テーブルの例</a:t>
            </a:r>
            <a:br>
              <a:rPr lang="ja-JP" dirty="0"/>
            </a:br>
            <a:r>
              <a:rPr lang="en-US" altLang="ja-JP" dirty="0"/>
              <a:t>	$data=[[‘</a:t>
            </a:r>
            <a:r>
              <a:rPr lang="ja-JP" altLang="en-US" dirty="0"/>
              <a:t>北海</a:t>
            </a:r>
            <a:r>
              <a:rPr lang="en-US" altLang="ja-JP" dirty="0"/>
              <a:t>’, n1%], [‘</a:t>
            </a:r>
            <a:r>
              <a:rPr lang="ja-JP" altLang="en-US" dirty="0"/>
              <a:t>青森</a:t>
            </a:r>
            <a:r>
              <a:rPr lang="en-US" altLang="ja-JP" dirty="0"/>
              <a:t>’, n2%], …];</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7. 実行結果(1)</a:t>
            </a:r>
            <a:endParaRPr/>
          </a:p>
        </p:txBody>
      </p:sp>
      <p:sp>
        <p:nvSpPr>
          <p:cNvPr id="262" name="Google Shape;262;p17"/>
          <p:cNvSpPr/>
          <p:nvPr/>
        </p:nvSpPr>
        <p:spPr>
          <a:xfrm>
            <a:off x="683568" y="1145893"/>
            <a:ext cx="2880320" cy="2376264"/>
          </a:xfrm>
          <a:prstGeom prst="roundRect">
            <a:avLst>
              <a:gd name="adj" fmla="val 632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3" name="Google Shape;263;p17"/>
          <p:cNvSpPr txBox="1"/>
          <p:nvPr/>
        </p:nvSpPr>
        <p:spPr>
          <a:xfrm>
            <a:off x="3923928" y="1443217"/>
            <a:ext cx="4955203" cy="1200288"/>
          </a:xfrm>
          <a:prstGeom prst="rect">
            <a:avLst/>
          </a:prstGeom>
          <a:noFill/>
          <a:ln>
            <a:noFill/>
          </a:ln>
        </p:spPr>
        <p:txBody>
          <a:bodyPr spcFirstLastPara="1" wrap="square" lIns="91425" tIns="45700" rIns="91425" bIns="45700" anchor="t" anchorCtr="0">
            <a:spAutoFit/>
          </a:bodyPr>
          <a:lstStyle/>
          <a:p>
            <a:pPr algn="l"/>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「最終課題</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-1.php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」から「最終課題</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-2.php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」への移動、「</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-1.php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」の「</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form action</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 でボタンがつくられた「登録開始」の実行結果が「</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-2.php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」に移動する。</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p:txBody>
      </p:sp>
      <p:sp>
        <p:nvSpPr>
          <p:cNvPr id="264" name="Google Shape;264;p17"/>
          <p:cNvSpPr/>
          <p:nvPr/>
        </p:nvSpPr>
        <p:spPr>
          <a:xfrm>
            <a:off x="683568" y="4108430"/>
            <a:ext cx="2880320" cy="2376264"/>
          </a:xfrm>
          <a:prstGeom prst="roundRect">
            <a:avLst>
              <a:gd name="adj" fmla="val 632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5" name="Google Shape;265;p17"/>
          <p:cNvSpPr txBox="1"/>
          <p:nvPr/>
        </p:nvSpPr>
        <p:spPr>
          <a:xfrm>
            <a:off x="622055" y="3522157"/>
            <a:ext cx="2974802"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800" dirty="0">
                <a:solidFill>
                  <a:schemeClr val="dk1"/>
                </a:solidFill>
                <a:latin typeface="Calibri"/>
                <a:ea typeface="Calibri"/>
                <a:cs typeface="Calibri"/>
                <a:sym typeface="Calibri"/>
              </a:rPr>
              <a:t>図3:</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-1</a:t>
            </a:r>
            <a:r>
              <a:rPr lang="ja-JP" sz="1800" dirty="0">
                <a:solidFill>
                  <a:schemeClr val="dk1"/>
                </a:solidFill>
                <a:latin typeface="Calibri"/>
                <a:ea typeface="Calibri"/>
                <a:cs typeface="Calibri"/>
                <a:sym typeface="Calibri"/>
              </a:rPr>
              <a:t>の入力画面</a:t>
            </a:r>
            <a:endParaRPr sz="1800" dirty="0">
              <a:solidFill>
                <a:schemeClr val="dk1"/>
              </a:solidFill>
              <a:latin typeface="Calibri"/>
              <a:ea typeface="Calibri"/>
              <a:cs typeface="Calibri"/>
              <a:sym typeface="Calibri"/>
            </a:endParaRPr>
          </a:p>
        </p:txBody>
      </p:sp>
      <p:sp>
        <p:nvSpPr>
          <p:cNvPr id="266" name="Google Shape;266;p17"/>
          <p:cNvSpPr txBox="1"/>
          <p:nvPr/>
        </p:nvSpPr>
        <p:spPr>
          <a:xfrm>
            <a:off x="636327" y="6444044"/>
            <a:ext cx="2974801"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800" dirty="0">
                <a:solidFill>
                  <a:schemeClr val="dk1"/>
                </a:solidFill>
                <a:latin typeface="Calibri"/>
                <a:ea typeface="Calibri"/>
                <a:cs typeface="Calibri"/>
                <a:sym typeface="Calibri"/>
              </a:rPr>
              <a:t>図4:</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-2</a:t>
            </a:r>
            <a:r>
              <a:rPr lang="ja-JP" sz="1800" dirty="0">
                <a:solidFill>
                  <a:schemeClr val="dk1"/>
                </a:solidFill>
                <a:latin typeface="Calibri"/>
                <a:ea typeface="Calibri"/>
                <a:cs typeface="Calibri"/>
                <a:sym typeface="Calibri"/>
              </a:rPr>
              <a:t>の出力画面</a:t>
            </a:r>
            <a:endParaRPr sz="1800" dirty="0">
              <a:solidFill>
                <a:schemeClr val="dk1"/>
              </a:solidFill>
              <a:latin typeface="Calibri"/>
              <a:ea typeface="Calibri"/>
              <a:cs typeface="Calibri"/>
              <a:sym typeface="Calibri"/>
            </a:endParaRPr>
          </a:p>
        </p:txBody>
      </p:sp>
      <p:pic>
        <p:nvPicPr>
          <p:cNvPr id="3" name="図 2">
            <a:extLst>
              <a:ext uri="{FF2B5EF4-FFF2-40B4-BE49-F238E27FC236}">
                <a16:creationId xmlns:a16="http://schemas.microsoft.com/office/drawing/2014/main" id="{998F5E64-7144-0F1C-A8D8-0D6C84E4722D}"/>
              </a:ext>
            </a:extLst>
          </p:cNvPr>
          <p:cNvPicPr>
            <a:picLocks noChangeAspect="1"/>
          </p:cNvPicPr>
          <p:nvPr/>
        </p:nvPicPr>
        <p:blipFill>
          <a:blip r:embed="rId3"/>
          <a:stretch>
            <a:fillRect/>
          </a:stretch>
        </p:blipFill>
        <p:spPr>
          <a:xfrm>
            <a:off x="758922" y="1202778"/>
            <a:ext cx="2701069" cy="2226221"/>
          </a:xfrm>
          <a:prstGeom prst="rect">
            <a:avLst/>
          </a:prstGeom>
        </p:spPr>
      </p:pic>
      <p:pic>
        <p:nvPicPr>
          <p:cNvPr id="5" name="図 4">
            <a:extLst>
              <a:ext uri="{FF2B5EF4-FFF2-40B4-BE49-F238E27FC236}">
                <a16:creationId xmlns:a16="http://schemas.microsoft.com/office/drawing/2014/main" id="{6940B517-4941-A4A4-FEB8-76E9C6731263}"/>
              </a:ext>
            </a:extLst>
          </p:cNvPr>
          <p:cNvPicPr>
            <a:picLocks noChangeAspect="1"/>
          </p:cNvPicPr>
          <p:nvPr/>
        </p:nvPicPr>
        <p:blipFill>
          <a:blip r:embed="rId4"/>
          <a:stretch>
            <a:fillRect/>
          </a:stretch>
        </p:blipFill>
        <p:spPr>
          <a:xfrm>
            <a:off x="758922" y="4156384"/>
            <a:ext cx="2672526" cy="22876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7. 実行結果(2)</a:t>
            </a:r>
            <a:endParaRPr/>
          </a:p>
        </p:txBody>
      </p:sp>
      <p:sp>
        <p:nvSpPr>
          <p:cNvPr id="273" name="Google Shape;273;p18"/>
          <p:cNvSpPr/>
          <p:nvPr/>
        </p:nvSpPr>
        <p:spPr>
          <a:xfrm>
            <a:off x="683568" y="1145893"/>
            <a:ext cx="2880320" cy="2376264"/>
          </a:xfrm>
          <a:prstGeom prst="roundRect">
            <a:avLst>
              <a:gd name="adj" fmla="val 632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5" name="Google Shape;275;p18"/>
          <p:cNvSpPr/>
          <p:nvPr/>
        </p:nvSpPr>
        <p:spPr>
          <a:xfrm>
            <a:off x="683568" y="4108430"/>
            <a:ext cx="2880320" cy="2376264"/>
          </a:xfrm>
          <a:prstGeom prst="roundRect">
            <a:avLst>
              <a:gd name="adj" fmla="val 632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6" name="Google Shape;276;p18"/>
          <p:cNvSpPr txBox="1"/>
          <p:nvPr/>
        </p:nvSpPr>
        <p:spPr>
          <a:xfrm>
            <a:off x="289168" y="3539325"/>
            <a:ext cx="3669119"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800" dirty="0">
                <a:solidFill>
                  <a:schemeClr val="dk1"/>
                </a:solidFill>
                <a:latin typeface="Calibri"/>
                <a:ea typeface="Calibri"/>
                <a:cs typeface="Calibri"/>
                <a:sym typeface="Calibri"/>
              </a:rPr>
              <a:t>図3:</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-2</a:t>
            </a:r>
            <a:r>
              <a:rPr lang="ja-JP" sz="1800" dirty="0">
                <a:solidFill>
                  <a:schemeClr val="dk1"/>
                </a:solidFill>
                <a:latin typeface="Calibri"/>
                <a:ea typeface="Calibri"/>
                <a:cs typeface="Calibri"/>
                <a:sym typeface="Calibri"/>
              </a:rPr>
              <a:t>の入力画面</a:t>
            </a:r>
            <a:endParaRPr sz="1800" dirty="0">
              <a:solidFill>
                <a:schemeClr val="dk1"/>
              </a:solidFill>
              <a:latin typeface="Calibri"/>
              <a:ea typeface="Calibri"/>
              <a:cs typeface="Calibri"/>
              <a:sym typeface="Calibri"/>
            </a:endParaRPr>
          </a:p>
        </p:txBody>
      </p:sp>
      <p:pic>
        <p:nvPicPr>
          <p:cNvPr id="4" name="図 3">
            <a:extLst>
              <a:ext uri="{FF2B5EF4-FFF2-40B4-BE49-F238E27FC236}">
                <a16:creationId xmlns:a16="http://schemas.microsoft.com/office/drawing/2014/main" id="{4F518EDC-2648-71D2-0F06-E2F8BE5E74C7}"/>
              </a:ext>
            </a:extLst>
          </p:cNvPr>
          <p:cNvPicPr>
            <a:picLocks noChangeAspect="1"/>
          </p:cNvPicPr>
          <p:nvPr/>
        </p:nvPicPr>
        <p:blipFill>
          <a:blip r:embed="rId3"/>
          <a:stretch>
            <a:fillRect/>
          </a:stretch>
        </p:blipFill>
        <p:spPr>
          <a:xfrm>
            <a:off x="787465" y="1214172"/>
            <a:ext cx="2672526" cy="2214828"/>
          </a:xfrm>
          <a:prstGeom prst="rect">
            <a:avLst/>
          </a:prstGeom>
        </p:spPr>
      </p:pic>
      <p:pic>
        <p:nvPicPr>
          <p:cNvPr id="6" name="図 5">
            <a:extLst>
              <a:ext uri="{FF2B5EF4-FFF2-40B4-BE49-F238E27FC236}">
                <a16:creationId xmlns:a16="http://schemas.microsoft.com/office/drawing/2014/main" id="{DBD7E1EF-E5DC-5891-0F77-267F30F14DCF}"/>
              </a:ext>
            </a:extLst>
          </p:cNvPr>
          <p:cNvPicPr>
            <a:picLocks noChangeAspect="1"/>
          </p:cNvPicPr>
          <p:nvPr/>
        </p:nvPicPr>
        <p:blipFill>
          <a:blip r:embed="rId4"/>
          <a:stretch>
            <a:fillRect/>
          </a:stretch>
        </p:blipFill>
        <p:spPr>
          <a:xfrm>
            <a:off x="787465" y="4147250"/>
            <a:ext cx="2672526" cy="2296794"/>
          </a:xfrm>
          <a:prstGeom prst="rect">
            <a:avLst/>
          </a:prstGeom>
        </p:spPr>
      </p:pic>
      <p:sp>
        <p:nvSpPr>
          <p:cNvPr id="7" name="Google Shape;276;p18">
            <a:extLst>
              <a:ext uri="{FF2B5EF4-FFF2-40B4-BE49-F238E27FC236}">
                <a16:creationId xmlns:a16="http://schemas.microsoft.com/office/drawing/2014/main" id="{E1099E67-F680-4E74-F24F-B8CD9A09FF92}"/>
              </a:ext>
            </a:extLst>
          </p:cNvPr>
          <p:cNvSpPr txBox="1"/>
          <p:nvPr/>
        </p:nvSpPr>
        <p:spPr>
          <a:xfrm>
            <a:off x="289167" y="6444044"/>
            <a:ext cx="3669119"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800" dirty="0">
                <a:solidFill>
                  <a:schemeClr val="dk1"/>
                </a:solidFill>
                <a:latin typeface="Calibri"/>
                <a:ea typeface="Calibri"/>
                <a:cs typeface="Calibri"/>
                <a:sym typeface="Calibri"/>
              </a:rPr>
              <a:t>図3:</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-3</a:t>
            </a:r>
            <a:r>
              <a:rPr lang="ja-JP" sz="1800" dirty="0">
                <a:solidFill>
                  <a:schemeClr val="dk1"/>
                </a:solidFill>
                <a:latin typeface="Calibri"/>
                <a:ea typeface="Calibri"/>
                <a:cs typeface="Calibri"/>
                <a:sym typeface="Calibri"/>
              </a:rPr>
              <a:t>の入力画面</a:t>
            </a:r>
            <a:endParaRPr sz="1800" dirty="0">
              <a:solidFill>
                <a:schemeClr val="dk1"/>
              </a:solidFill>
              <a:latin typeface="Calibri"/>
              <a:ea typeface="Calibri"/>
              <a:cs typeface="Calibri"/>
              <a:sym typeface="Calibri"/>
            </a:endParaRPr>
          </a:p>
        </p:txBody>
      </p:sp>
      <p:sp>
        <p:nvSpPr>
          <p:cNvPr id="8" name="Google Shape;302;p20">
            <a:extLst>
              <a:ext uri="{FF2B5EF4-FFF2-40B4-BE49-F238E27FC236}">
                <a16:creationId xmlns:a16="http://schemas.microsoft.com/office/drawing/2014/main" id="{53D41A94-E2C2-825E-E776-72D2E4AB0E40}"/>
              </a:ext>
            </a:extLst>
          </p:cNvPr>
          <p:cNvSpPr txBox="1"/>
          <p:nvPr/>
        </p:nvSpPr>
        <p:spPr>
          <a:xfrm>
            <a:off x="3783201" y="1417638"/>
            <a:ext cx="4984562" cy="1754286"/>
          </a:xfrm>
          <a:prstGeom prst="rect">
            <a:avLst/>
          </a:prstGeom>
          <a:solidFill>
            <a:srgbClr val="FFFF00"/>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「最終課題</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-2.php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」でデータベースとテーブルの作成が終わった後。「</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form action</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」の「次へ」で「最終課題</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-3.php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」に移動</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0" marR="0" lvl="0" indent="0" algn="l" rtl="0">
              <a:spcBef>
                <a:spcPts val="0"/>
              </a:spcBef>
              <a:spcAft>
                <a:spcPts val="0"/>
              </a:spcAft>
              <a:buNone/>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-2.php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」でデータベースとテーブルの作成に不備があると「最終課題</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各動物のファイル名</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」で表の表示がうまくできない。</a:t>
            </a:r>
            <a:endParaRPr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7. 実行結果(3)</a:t>
            </a:r>
            <a:endParaRPr/>
          </a:p>
        </p:txBody>
      </p:sp>
      <p:sp>
        <p:nvSpPr>
          <p:cNvPr id="285" name="Google Shape;285;p19"/>
          <p:cNvSpPr/>
          <p:nvPr/>
        </p:nvSpPr>
        <p:spPr>
          <a:xfrm>
            <a:off x="683568" y="1145893"/>
            <a:ext cx="2880320" cy="2376264"/>
          </a:xfrm>
          <a:prstGeom prst="roundRect">
            <a:avLst>
              <a:gd name="adj" fmla="val 632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7" name="Google Shape;287;p19"/>
          <p:cNvSpPr/>
          <p:nvPr/>
        </p:nvSpPr>
        <p:spPr>
          <a:xfrm>
            <a:off x="683568" y="4108430"/>
            <a:ext cx="2880320" cy="2376264"/>
          </a:xfrm>
          <a:prstGeom prst="roundRect">
            <a:avLst>
              <a:gd name="adj" fmla="val 632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19"/>
          <p:cNvSpPr txBox="1"/>
          <p:nvPr/>
        </p:nvSpPr>
        <p:spPr>
          <a:xfrm>
            <a:off x="613204" y="3522157"/>
            <a:ext cx="3021047"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800" dirty="0">
                <a:solidFill>
                  <a:schemeClr val="dk1"/>
                </a:solidFill>
                <a:latin typeface="Calibri"/>
                <a:ea typeface="Calibri"/>
                <a:cs typeface="Calibri"/>
                <a:sym typeface="Calibri"/>
              </a:rPr>
              <a:t>図3:</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-3</a:t>
            </a:r>
            <a:r>
              <a:rPr lang="ja-JP" sz="1800" dirty="0">
                <a:solidFill>
                  <a:schemeClr val="dk1"/>
                </a:solidFill>
                <a:latin typeface="Calibri"/>
                <a:ea typeface="Calibri"/>
                <a:cs typeface="Calibri"/>
                <a:sym typeface="Calibri"/>
              </a:rPr>
              <a:t>の入力画面</a:t>
            </a:r>
            <a:endParaRPr sz="1800" dirty="0">
              <a:solidFill>
                <a:schemeClr val="dk1"/>
              </a:solidFill>
              <a:latin typeface="Calibri"/>
              <a:ea typeface="Calibri"/>
              <a:cs typeface="Calibri"/>
              <a:sym typeface="Calibri"/>
            </a:endParaRPr>
          </a:p>
        </p:txBody>
      </p:sp>
      <p:sp>
        <p:nvSpPr>
          <p:cNvPr id="289" name="Google Shape;289;p19"/>
          <p:cNvSpPr txBox="1"/>
          <p:nvPr/>
        </p:nvSpPr>
        <p:spPr>
          <a:xfrm>
            <a:off x="183103" y="6429238"/>
            <a:ext cx="3881250" cy="36929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800" dirty="0">
                <a:solidFill>
                  <a:schemeClr val="dk1"/>
                </a:solidFill>
                <a:latin typeface="Calibri"/>
                <a:ea typeface="Calibri"/>
                <a:cs typeface="Calibri"/>
                <a:sym typeface="Calibri"/>
              </a:rPr>
              <a:t>図4:</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inosisi</a:t>
            </a:r>
            <a:r>
              <a:rPr lang="en-US" altLang="ja-JP" sz="1800" dirty="0">
                <a:solidFill>
                  <a:schemeClr val="dk1"/>
                </a:solidFill>
                <a:latin typeface="Calibri"/>
                <a:ea typeface="Calibri"/>
                <a:cs typeface="Calibri"/>
                <a:sym typeface="Calibri"/>
              </a:rPr>
              <a:t>(2</a:t>
            </a:r>
            <a:r>
              <a:rPr lang="ja-JP" altLang="en-US" sz="1800" dirty="0">
                <a:solidFill>
                  <a:schemeClr val="dk1"/>
                </a:solidFill>
                <a:latin typeface="Calibri"/>
                <a:ea typeface="Calibri"/>
                <a:cs typeface="Calibri"/>
                <a:sym typeface="Calibri"/>
              </a:rPr>
              <a:t>つ</a:t>
            </a:r>
            <a:r>
              <a:rPr lang="en-US" altLang="ja-JP" sz="1800" dirty="0">
                <a:solidFill>
                  <a:schemeClr val="dk1"/>
                </a:solidFill>
                <a:latin typeface="Calibri"/>
                <a:ea typeface="Calibri"/>
                <a:cs typeface="Calibri"/>
                <a:sym typeface="Calibri"/>
              </a:rPr>
              <a:t>)</a:t>
            </a:r>
            <a:r>
              <a:rPr lang="ja-JP" sz="1800" dirty="0">
                <a:solidFill>
                  <a:schemeClr val="dk1"/>
                </a:solidFill>
                <a:latin typeface="Calibri"/>
                <a:ea typeface="Calibri"/>
                <a:cs typeface="Calibri"/>
                <a:sym typeface="Calibri"/>
              </a:rPr>
              <a:t>の出力画面</a:t>
            </a:r>
            <a:endParaRPr sz="1800" dirty="0">
              <a:solidFill>
                <a:schemeClr val="dk1"/>
              </a:solidFill>
              <a:latin typeface="Calibri"/>
              <a:ea typeface="Calibri"/>
              <a:cs typeface="Calibri"/>
              <a:sym typeface="Calibri"/>
            </a:endParaRPr>
          </a:p>
        </p:txBody>
      </p:sp>
      <p:pic>
        <p:nvPicPr>
          <p:cNvPr id="3" name="図 2">
            <a:extLst>
              <a:ext uri="{FF2B5EF4-FFF2-40B4-BE49-F238E27FC236}">
                <a16:creationId xmlns:a16="http://schemas.microsoft.com/office/drawing/2014/main" id="{115EAAB2-9055-68DB-B76C-385F3AA9517F}"/>
              </a:ext>
            </a:extLst>
          </p:cNvPr>
          <p:cNvPicPr>
            <a:picLocks noChangeAspect="1"/>
          </p:cNvPicPr>
          <p:nvPr/>
        </p:nvPicPr>
        <p:blipFill>
          <a:blip r:embed="rId3"/>
          <a:stretch>
            <a:fillRect/>
          </a:stretch>
        </p:blipFill>
        <p:spPr>
          <a:xfrm>
            <a:off x="811677" y="1241338"/>
            <a:ext cx="2670077" cy="2187662"/>
          </a:xfrm>
          <a:prstGeom prst="rect">
            <a:avLst/>
          </a:prstGeom>
        </p:spPr>
      </p:pic>
      <p:pic>
        <p:nvPicPr>
          <p:cNvPr id="5" name="図 4">
            <a:extLst>
              <a:ext uri="{FF2B5EF4-FFF2-40B4-BE49-F238E27FC236}">
                <a16:creationId xmlns:a16="http://schemas.microsoft.com/office/drawing/2014/main" id="{2723E90A-857F-8A1B-A0DA-787C1C797DAE}"/>
              </a:ext>
            </a:extLst>
          </p:cNvPr>
          <p:cNvPicPr>
            <a:picLocks noChangeAspect="1"/>
          </p:cNvPicPr>
          <p:nvPr/>
        </p:nvPicPr>
        <p:blipFill>
          <a:blip r:embed="rId4"/>
          <a:stretch>
            <a:fillRect/>
          </a:stretch>
        </p:blipFill>
        <p:spPr>
          <a:xfrm>
            <a:off x="811677" y="4151878"/>
            <a:ext cx="2573361" cy="2277360"/>
          </a:xfrm>
          <a:prstGeom prst="rect">
            <a:avLst/>
          </a:prstGeom>
        </p:spPr>
      </p:pic>
      <p:pic>
        <p:nvPicPr>
          <p:cNvPr id="7" name="図 6">
            <a:extLst>
              <a:ext uri="{FF2B5EF4-FFF2-40B4-BE49-F238E27FC236}">
                <a16:creationId xmlns:a16="http://schemas.microsoft.com/office/drawing/2014/main" id="{123FB52C-E842-C9AD-BE80-D914E1A78435}"/>
              </a:ext>
            </a:extLst>
          </p:cNvPr>
          <p:cNvPicPr>
            <a:picLocks noChangeAspect="1"/>
          </p:cNvPicPr>
          <p:nvPr/>
        </p:nvPicPr>
        <p:blipFill rotWithShape="1">
          <a:blip r:embed="rId5"/>
          <a:srcRect r="49347" b="1035"/>
          <a:stretch/>
        </p:blipFill>
        <p:spPr>
          <a:xfrm>
            <a:off x="2136531" y="4128052"/>
            <a:ext cx="1345222" cy="2277360"/>
          </a:xfrm>
          <a:prstGeom prst="rect">
            <a:avLst/>
          </a:prstGeom>
        </p:spPr>
      </p:pic>
      <p:sp>
        <p:nvSpPr>
          <p:cNvPr id="8" name="Google Shape;302;p20">
            <a:extLst>
              <a:ext uri="{FF2B5EF4-FFF2-40B4-BE49-F238E27FC236}">
                <a16:creationId xmlns:a16="http://schemas.microsoft.com/office/drawing/2014/main" id="{C4322F91-3449-1B1A-6C59-B4766C7AEA5C}"/>
              </a:ext>
            </a:extLst>
          </p:cNvPr>
          <p:cNvSpPr txBox="1"/>
          <p:nvPr/>
        </p:nvSpPr>
        <p:spPr>
          <a:xfrm>
            <a:off x="3783201" y="1417638"/>
            <a:ext cx="4984562" cy="3416279"/>
          </a:xfrm>
          <a:prstGeom prst="rect">
            <a:avLst/>
          </a:prstGeom>
          <a:solidFill>
            <a:srgbClr val="FFFF00"/>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「最終課題</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-3</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」で各動物の分布の表示を行う「</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form action</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」の「送信」がある。</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0" marR="0" lvl="0" indent="0" algn="l" rtl="0">
              <a:spcBef>
                <a:spcPts val="0"/>
              </a:spcBef>
              <a:spcAft>
                <a:spcPts val="0"/>
              </a:spcAft>
              <a:buNone/>
            </a:pP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-3.php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」の実行結果が下の「最終課題</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inosisi.php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」で、下の「</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inosisi.php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」の例はラジオボタンで送信した「北海・東北」と「関東」の</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2</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種類を表示してある。</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0" marR="0" lvl="0" indent="0" algn="l" rtl="0">
              <a:spcBef>
                <a:spcPts val="0"/>
              </a:spcBef>
              <a:spcAft>
                <a:spcPts val="0"/>
              </a:spcAft>
              <a:buNone/>
            </a:pP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-3.php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」の送信ごとに「</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inosisi</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 -</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kuma</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 </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saru</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 sika</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」の</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に移動する。</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0" marR="0" lvl="0" indent="0" algn="l" rtl="0">
              <a:spcBef>
                <a:spcPts val="0"/>
              </a:spcBef>
              <a:spcAft>
                <a:spcPts val="0"/>
              </a:spcAft>
              <a:buNone/>
            </a:pP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-3.php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各動物のファイル名</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php</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」にはそれぞれ「送信」と「戻る」の「</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form action</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」は往復できるようになって、「最終課題</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-1, -2</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」にない構造。</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8. 実行結果(想定と違う場合)</a:t>
            </a:r>
            <a:endParaRPr/>
          </a:p>
        </p:txBody>
      </p:sp>
      <p:sp>
        <p:nvSpPr>
          <p:cNvPr id="296" name="Google Shape;296;p20"/>
          <p:cNvSpPr/>
          <p:nvPr/>
        </p:nvSpPr>
        <p:spPr>
          <a:xfrm>
            <a:off x="683568" y="1145893"/>
            <a:ext cx="2880320" cy="2376264"/>
          </a:xfrm>
          <a:prstGeom prst="roundRect">
            <a:avLst>
              <a:gd name="adj" fmla="val 632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 name="Google Shape;298;p20"/>
          <p:cNvSpPr/>
          <p:nvPr/>
        </p:nvSpPr>
        <p:spPr>
          <a:xfrm>
            <a:off x="683568" y="4108430"/>
            <a:ext cx="2880320" cy="2376264"/>
          </a:xfrm>
          <a:prstGeom prst="roundRect">
            <a:avLst>
              <a:gd name="adj" fmla="val 6327"/>
            </a:avLst>
          </a:prstGeom>
          <a:no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20"/>
          <p:cNvSpPr txBox="1"/>
          <p:nvPr/>
        </p:nvSpPr>
        <p:spPr>
          <a:xfrm>
            <a:off x="491391" y="3522157"/>
            <a:ext cx="3264673"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800" dirty="0">
                <a:solidFill>
                  <a:schemeClr val="dk1"/>
                </a:solidFill>
                <a:latin typeface="Calibri"/>
                <a:ea typeface="Calibri"/>
                <a:cs typeface="Calibri"/>
                <a:sym typeface="Calibri"/>
              </a:rPr>
              <a:t>図3</a:t>
            </a:r>
            <a:r>
              <a:rPr lang="en-US" altLang="ja-JP" sz="1800" dirty="0">
                <a:solidFill>
                  <a:schemeClr val="dk1"/>
                </a:solidFill>
                <a:latin typeface="Calibri"/>
                <a:ea typeface="Calibri"/>
                <a:cs typeface="Calibri"/>
                <a:sym typeface="Calibri"/>
              </a:rPr>
              <a:t>:</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-3</a:t>
            </a:r>
            <a:r>
              <a:rPr lang="ja-JP" sz="1800" dirty="0">
                <a:solidFill>
                  <a:schemeClr val="dk1"/>
                </a:solidFill>
                <a:latin typeface="Calibri"/>
                <a:ea typeface="Calibri"/>
                <a:cs typeface="Calibri"/>
                <a:sym typeface="Calibri"/>
              </a:rPr>
              <a:t>の入力画面</a:t>
            </a:r>
            <a:endParaRPr sz="1800" dirty="0">
              <a:solidFill>
                <a:schemeClr val="dk1"/>
              </a:solidFill>
              <a:latin typeface="Calibri"/>
              <a:ea typeface="Calibri"/>
              <a:cs typeface="Calibri"/>
              <a:sym typeface="Calibri"/>
            </a:endParaRPr>
          </a:p>
        </p:txBody>
      </p:sp>
      <p:sp>
        <p:nvSpPr>
          <p:cNvPr id="300" name="Google Shape;300;p20"/>
          <p:cNvSpPr txBox="1"/>
          <p:nvPr/>
        </p:nvSpPr>
        <p:spPr>
          <a:xfrm>
            <a:off x="384922" y="6458198"/>
            <a:ext cx="3477609"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ja-JP" sz="1800" dirty="0">
                <a:solidFill>
                  <a:schemeClr val="dk1"/>
                </a:solidFill>
                <a:latin typeface="Calibri"/>
                <a:ea typeface="Calibri"/>
                <a:cs typeface="Calibri"/>
                <a:sym typeface="Calibri"/>
              </a:rPr>
              <a:t>図4:</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kuma</a:t>
            </a:r>
            <a:r>
              <a:rPr lang="ja-JP" sz="1800" dirty="0">
                <a:solidFill>
                  <a:schemeClr val="dk1"/>
                </a:solidFill>
                <a:latin typeface="Calibri"/>
                <a:ea typeface="Calibri"/>
                <a:cs typeface="Calibri"/>
                <a:sym typeface="Calibri"/>
              </a:rPr>
              <a:t>の出力画面</a:t>
            </a:r>
            <a:endParaRPr sz="1800" dirty="0">
              <a:solidFill>
                <a:schemeClr val="dk1"/>
              </a:solidFill>
              <a:latin typeface="Calibri"/>
              <a:ea typeface="Calibri"/>
              <a:cs typeface="Calibri"/>
              <a:sym typeface="Calibri"/>
            </a:endParaRPr>
          </a:p>
        </p:txBody>
      </p:sp>
      <p:sp>
        <p:nvSpPr>
          <p:cNvPr id="302" name="Google Shape;302;p20"/>
          <p:cNvSpPr txBox="1"/>
          <p:nvPr/>
        </p:nvSpPr>
        <p:spPr>
          <a:xfrm>
            <a:off x="3783201" y="1417638"/>
            <a:ext cx="4984562" cy="3539390"/>
          </a:xfrm>
          <a:prstGeom prst="rect">
            <a:avLst/>
          </a:prstGeom>
          <a:solidFill>
            <a:srgbClr val="FFFF00"/>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altLang="en-US" sz="2800" dirty="0">
                <a:solidFill>
                  <a:schemeClr val="dk1"/>
                </a:solidFill>
                <a:latin typeface="Calibri"/>
                <a:ea typeface="Calibri"/>
                <a:cs typeface="Calibri"/>
                <a:sym typeface="Calibri"/>
              </a:rPr>
              <a:t>「最終課題</a:t>
            </a:r>
            <a:r>
              <a:rPr lang="en-US" altLang="ja-JP" sz="2800" dirty="0">
                <a:solidFill>
                  <a:schemeClr val="dk1"/>
                </a:solidFill>
                <a:latin typeface="Calibri"/>
                <a:ea typeface="Calibri"/>
                <a:cs typeface="Calibri"/>
                <a:sym typeface="Calibri"/>
              </a:rPr>
              <a:t>-2</a:t>
            </a:r>
            <a:r>
              <a:rPr lang="ja-JP" altLang="en-US" sz="2800" dirty="0">
                <a:solidFill>
                  <a:schemeClr val="dk1"/>
                </a:solidFill>
                <a:latin typeface="Calibri"/>
                <a:ea typeface="Calibri"/>
                <a:cs typeface="Calibri"/>
                <a:sym typeface="Calibri"/>
              </a:rPr>
              <a:t>」でデータベースとテーブルの作成に不備があった時の「最終課題</a:t>
            </a:r>
            <a:r>
              <a:rPr lang="en-US" altLang="ja-JP" sz="2800" dirty="0">
                <a:solidFill>
                  <a:schemeClr val="dk1"/>
                </a:solidFill>
                <a:latin typeface="Calibri"/>
                <a:ea typeface="Calibri"/>
                <a:cs typeface="Calibri"/>
                <a:sym typeface="Calibri"/>
              </a:rPr>
              <a:t>-</a:t>
            </a:r>
            <a:r>
              <a:rPr lang="en-US" altLang="ja-JP" sz="2800" dirty="0" err="1">
                <a:solidFill>
                  <a:schemeClr val="dk1"/>
                </a:solidFill>
                <a:latin typeface="Calibri"/>
                <a:ea typeface="Calibri"/>
                <a:cs typeface="Calibri"/>
                <a:sym typeface="Calibri"/>
              </a:rPr>
              <a:t>kuma</a:t>
            </a:r>
            <a:r>
              <a:rPr lang="ja-JP" altLang="en-US" sz="2800" dirty="0">
                <a:solidFill>
                  <a:schemeClr val="dk1"/>
                </a:solidFill>
                <a:latin typeface="Calibri"/>
                <a:ea typeface="Calibri"/>
                <a:cs typeface="Calibri"/>
                <a:sym typeface="Calibri"/>
              </a:rPr>
              <a:t>」の様子。</a:t>
            </a:r>
            <a:endParaRPr lang="en-US" altLang="ja-JP" sz="2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altLang="en-US" sz="2800" dirty="0">
                <a:solidFill>
                  <a:schemeClr val="dk1"/>
                </a:solidFill>
                <a:latin typeface="Calibri"/>
                <a:ea typeface="Calibri"/>
                <a:cs typeface="Calibri"/>
                <a:sym typeface="Calibri"/>
              </a:rPr>
              <a:t>エラーで「データベース テーブルまたはビューが見つかりません</a:t>
            </a:r>
            <a:r>
              <a:rPr lang="en-US" altLang="ja-JP" sz="2800" dirty="0">
                <a:solidFill>
                  <a:schemeClr val="dk1"/>
                </a:solidFill>
                <a:latin typeface="Calibri"/>
                <a:ea typeface="Calibri"/>
                <a:cs typeface="Calibri"/>
                <a:sym typeface="Calibri"/>
              </a:rPr>
              <a:t>:</a:t>
            </a:r>
            <a:r>
              <a:rPr lang="ja-JP" altLang="en-US" sz="2800" dirty="0">
                <a:solidFill>
                  <a:schemeClr val="dk1"/>
                </a:solidFill>
                <a:latin typeface="Calibri"/>
                <a:ea typeface="Calibri"/>
                <a:cs typeface="Calibri"/>
                <a:sym typeface="Calibri"/>
              </a:rPr>
              <a:t>」</a:t>
            </a:r>
            <a:endParaRPr lang="en-US" altLang="ja-JP" sz="2800" dirty="0">
              <a:solidFill>
                <a:schemeClr val="dk1"/>
              </a:solidFill>
              <a:latin typeface="Calibri"/>
              <a:ea typeface="Calibri"/>
              <a:cs typeface="Calibri"/>
              <a:sym typeface="Calibri"/>
            </a:endParaRPr>
          </a:p>
          <a:p>
            <a:pPr marL="0" marR="0" lvl="0" indent="0" algn="l" rtl="0">
              <a:spcBef>
                <a:spcPts val="0"/>
              </a:spcBef>
              <a:spcAft>
                <a:spcPts val="0"/>
              </a:spcAft>
              <a:buNone/>
            </a:pPr>
            <a:r>
              <a:rPr lang="ja-JP" altLang="en-US" sz="2800" dirty="0">
                <a:solidFill>
                  <a:schemeClr val="dk1"/>
                </a:solidFill>
                <a:latin typeface="Calibri"/>
                <a:ea typeface="Calibri"/>
                <a:cs typeface="Calibri"/>
                <a:sym typeface="Calibri"/>
              </a:rPr>
              <a:t>と書いてある。</a:t>
            </a:r>
            <a:endParaRPr sz="2800" dirty="0">
              <a:solidFill>
                <a:schemeClr val="dk1"/>
              </a:solidFill>
              <a:latin typeface="Calibri"/>
              <a:ea typeface="Calibri"/>
              <a:cs typeface="Calibri"/>
              <a:sym typeface="Calibri"/>
            </a:endParaRPr>
          </a:p>
        </p:txBody>
      </p:sp>
      <p:pic>
        <p:nvPicPr>
          <p:cNvPr id="3" name="図 2">
            <a:extLst>
              <a:ext uri="{FF2B5EF4-FFF2-40B4-BE49-F238E27FC236}">
                <a16:creationId xmlns:a16="http://schemas.microsoft.com/office/drawing/2014/main" id="{D6149A66-57A5-A85F-6C2C-7513AA050326}"/>
              </a:ext>
            </a:extLst>
          </p:cNvPr>
          <p:cNvPicPr>
            <a:picLocks noChangeAspect="1"/>
          </p:cNvPicPr>
          <p:nvPr/>
        </p:nvPicPr>
        <p:blipFill rotWithShape="1">
          <a:blip r:embed="rId3"/>
          <a:srcRect r="431" b="34854"/>
          <a:stretch/>
        </p:blipFill>
        <p:spPr>
          <a:xfrm>
            <a:off x="798984" y="4122584"/>
            <a:ext cx="2661007" cy="2321460"/>
          </a:xfrm>
          <a:prstGeom prst="rect">
            <a:avLst/>
          </a:prstGeom>
        </p:spPr>
      </p:pic>
      <p:pic>
        <p:nvPicPr>
          <p:cNvPr id="5" name="図 4">
            <a:extLst>
              <a:ext uri="{FF2B5EF4-FFF2-40B4-BE49-F238E27FC236}">
                <a16:creationId xmlns:a16="http://schemas.microsoft.com/office/drawing/2014/main" id="{BE7914AA-46F7-F40F-B6E3-17392091D3C4}"/>
              </a:ext>
            </a:extLst>
          </p:cNvPr>
          <p:cNvPicPr>
            <a:picLocks noChangeAspect="1"/>
          </p:cNvPicPr>
          <p:nvPr/>
        </p:nvPicPr>
        <p:blipFill>
          <a:blip r:embed="rId4"/>
          <a:stretch>
            <a:fillRect/>
          </a:stretch>
        </p:blipFill>
        <p:spPr>
          <a:xfrm>
            <a:off x="798984" y="1229618"/>
            <a:ext cx="2661007" cy="219938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9.アピールポイント</a:t>
            </a:r>
            <a:endParaRPr/>
          </a:p>
        </p:txBody>
      </p:sp>
      <p:sp>
        <p:nvSpPr>
          <p:cNvPr id="308" name="Google Shape;308;p2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514350" lvl="0" indent="-514350" algn="l" rtl="0">
              <a:spcBef>
                <a:spcPts val="0"/>
              </a:spcBef>
              <a:spcAft>
                <a:spcPts val="0"/>
              </a:spcAft>
              <a:buClr>
                <a:schemeClr val="dk1"/>
              </a:buClr>
              <a:buSzPts val="3200"/>
              <a:buFont typeface="Calibri"/>
              <a:buAutoNum type="alphaUcParenR"/>
            </a:pPr>
            <a:r>
              <a:rPr lang="ja-JP" altLang="en-US" dirty="0">
                <a:latin typeface="HGSｺﾞｼｯｸM" panose="020B0600000000000000" pitchFamily="50" charset="-128"/>
                <a:ea typeface="HGSｺﾞｼｯｸM" panose="020B0600000000000000" pitchFamily="50" charset="-128"/>
              </a:rPr>
              <a:t>個人でできることで単純な構造で、</a:t>
            </a:r>
            <a:r>
              <a:rPr lang="en-US" altLang="ja-JP" dirty="0" err="1">
                <a:latin typeface="HGSｺﾞｼｯｸM" panose="020B0600000000000000" pitchFamily="50" charset="-128"/>
                <a:ea typeface="HGSｺﾞｼｯｸM" panose="020B0600000000000000" pitchFamily="50" charset="-128"/>
              </a:rPr>
              <a:t>php</a:t>
            </a:r>
            <a:r>
              <a:rPr lang="ja-JP" altLang="en-US" dirty="0">
                <a:latin typeface="HGSｺﾞｼｯｸM" panose="020B0600000000000000" pitchFamily="50" charset="-128"/>
                <a:ea typeface="HGSｺﾞｼｯｸM" panose="020B0600000000000000" pitchFamily="50" charset="-128"/>
              </a:rPr>
              <a:t>内部も「</a:t>
            </a:r>
            <a:r>
              <a:rPr lang="en-US" altLang="ja-JP" dirty="0">
                <a:latin typeface="HGSｺﾞｼｯｸM" panose="020B0600000000000000" pitchFamily="50" charset="-128"/>
                <a:ea typeface="HGSｺﾞｼｯｸM" panose="020B0600000000000000" pitchFamily="50" charset="-128"/>
              </a:rPr>
              <a:t>//</a:t>
            </a:r>
            <a:r>
              <a:rPr lang="ja-JP" altLang="en-US" dirty="0">
                <a:latin typeface="HGSｺﾞｼｯｸM" panose="020B0600000000000000" pitchFamily="50" charset="-128"/>
                <a:ea typeface="HGSｺﾞｼｯｸM" panose="020B0600000000000000" pitchFamily="50" charset="-128"/>
              </a:rPr>
              <a:t>コメント」を多用して個人的に理解しやすいようにしている。</a:t>
            </a:r>
            <a:endParaRPr lang="en-US" altLang="ja-JP" dirty="0">
              <a:latin typeface="HGSｺﾞｼｯｸM" panose="020B0600000000000000" pitchFamily="50" charset="-128"/>
              <a:ea typeface="HGSｺﾞｼｯｸM" panose="020B0600000000000000" pitchFamily="50" charset="-128"/>
            </a:endParaRPr>
          </a:p>
          <a:p>
            <a:pPr marL="514350" lvl="0" indent="-514350" algn="l" rtl="0">
              <a:spcBef>
                <a:spcPts val="0"/>
              </a:spcBef>
              <a:spcAft>
                <a:spcPts val="0"/>
              </a:spcAft>
              <a:buClr>
                <a:schemeClr val="dk1"/>
              </a:buClr>
              <a:buSzPts val="3200"/>
              <a:buFont typeface="Calibri"/>
              <a:buAutoNum type="alphaUcParenR"/>
            </a:pPr>
            <a:r>
              <a:rPr lang="en-US" altLang="ja-JP" dirty="0" err="1">
                <a:latin typeface="HGSｺﾞｼｯｸM" panose="020B0600000000000000" pitchFamily="50" charset="-128"/>
                <a:ea typeface="HGSｺﾞｼｯｸM" panose="020B0600000000000000" pitchFamily="50" charset="-128"/>
              </a:rPr>
              <a:t>php</a:t>
            </a:r>
            <a:r>
              <a:rPr lang="ja-JP" altLang="en-US" dirty="0">
                <a:latin typeface="HGSｺﾞｼｯｸM" panose="020B0600000000000000" pitchFamily="50" charset="-128"/>
                <a:ea typeface="HGSｺﾞｼｯｸM" panose="020B0600000000000000" pitchFamily="50" charset="-128"/>
              </a:rPr>
              <a:t>授業で出た「</a:t>
            </a:r>
            <a:r>
              <a:rPr lang="en-US" altLang="ja-JP" dirty="0">
                <a:latin typeface="HGSｺﾞｼｯｸM" panose="020B0600000000000000" pitchFamily="50" charset="-128"/>
                <a:ea typeface="HGSｺﾞｼｯｸM" panose="020B0600000000000000" pitchFamily="50" charset="-128"/>
              </a:rPr>
              <a:t>form action</a:t>
            </a:r>
            <a:r>
              <a:rPr lang="ja-JP" altLang="en-US" dirty="0">
                <a:latin typeface="HGSｺﾞｼｯｸM" panose="020B0600000000000000" pitchFamily="50" charset="-128"/>
                <a:ea typeface="HGSｺﾞｼｯｸM" panose="020B0600000000000000" pitchFamily="50" charset="-128"/>
              </a:rPr>
              <a:t>」と、「ラジオボタン」の復習もかねて自由に利用できるようにした。</a:t>
            </a:r>
            <a:br>
              <a:rPr lang="en-US" altLang="ja-JP" dirty="0">
                <a:latin typeface="HGSｺﾞｼｯｸM" panose="020B0600000000000000" pitchFamily="50" charset="-128"/>
                <a:ea typeface="HGSｺﾞｼｯｸM" panose="020B0600000000000000" pitchFamily="50" charset="-128"/>
              </a:rPr>
            </a:br>
            <a:r>
              <a:rPr lang="ja-JP" altLang="en-US" dirty="0">
                <a:latin typeface="HGSｺﾞｼｯｸM" panose="020B0600000000000000" pitchFamily="50" charset="-128"/>
                <a:ea typeface="HGSｺﾞｼｯｸM" panose="020B0600000000000000" pitchFamily="50" charset="-128"/>
              </a:rPr>
              <a:t>特に「</a:t>
            </a:r>
            <a:r>
              <a:rPr lang="en-US" altLang="ja-JP" dirty="0">
                <a:latin typeface="HGSｺﾞｼｯｸM" panose="020B0600000000000000" pitchFamily="50" charset="-128"/>
                <a:ea typeface="HGSｺﾞｼｯｸM" panose="020B0600000000000000" pitchFamily="50" charset="-128"/>
              </a:rPr>
              <a:t>form action</a:t>
            </a:r>
            <a:r>
              <a:rPr lang="ja-JP" altLang="en-US" dirty="0">
                <a:latin typeface="HGSｺﾞｼｯｸM" panose="020B0600000000000000" pitchFamily="50" charset="-128"/>
                <a:ea typeface="HGSｺﾞｼｯｸM" panose="020B0600000000000000" pitchFamily="50" charset="-128"/>
              </a:rPr>
              <a:t>」は移動先を作るのに</a:t>
            </a:r>
            <a:r>
              <a:rPr lang="en-US" altLang="ja-JP" dirty="0" err="1">
                <a:latin typeface="HGSｺﾞｼｯｸM" panose="020B0600000000000000" pitchFamily="50" charset="-128"/>
                <a:ea typeface="HGSｺﾞｼｯｸM" panose="020B0600000000000000" pitchFamily="50" charset="-128"/>
              </a:rPr>
              <a:t>php</a:t>
            </a:r>
            <a:r>
              <a:rPr lang="ja-JP" altLang="en-US" dirty="0">
                <a:latin typeface="HGSｺﾞｼｯｸM" panose="020B0600000000000000" pitchFamily="50" charset="-128"/>
                <a:ea typeface="HGSｺﾞｼｯｸM" panose="020B0600000000000000" pitchFamily="50" charset="-128"/>
              </a:rPr>
              <a:t>とテーブルが異様に多くなったが「</a:t>
            </a:r>
            <a:r>
              <a:rPr lang="en-US" altLang="ja-JP" dirty="0">
                <a:latin typeface="HGSｺﾞｼｯｸM" panose="020B0600000000000000" pitchFamily="50" charset="-128"/>
                <a:ea typeface="HGSｺﾞｼｯｸM" panose="020B0600000000000000" pitchFamily="50" charset="-128"/>
              </a:rPr>
              <a:t>foreach</a:t>
            </a:r>
            <a:r>
              <a:rPr lang="ja-JP" altLang="en-US" dirty="0">
                <a:latin typeface="HGSｺﾞｼｯｸM" panose="020B0600000000000000" pitchFamily="50" charset="-128"/>
                <a:ea typeface="HGSｺﾞｼｯｸM" panose="020B0600000000000000" pitchFamily="50" charset="-128"/>
              </a:rPr>
              <a:t>」でも結構使える。</a:t>
            </a:r>
            <a:endParaRPr lang="en-US" altLang="ja-JP" dirty="0">
              <a:latin typeface="HGSｺﾞｼｯｸM" panose="020B0600000000000000" pitchFamily="50" charset="-128"/>
              <a:ea typeface="HGSｺﾞｼｯｸM" panose="020B0600000000000000" pitchFamily="50" charset="-128"/>
            </a:endParaRPr>
          </a:p>
          <a:p>
            <a:pPr marL="514350" lvl="0" indent="-514350" algn="l" rtl="0">
              <a:spcBef>
                <a:spcPts val="0"/>
              </a:spcBef>
              <a:spcAft>
                <a:spcPts val="0"/>
              </a:spcAft>
              <a:buClr>
                <a:schemeClr val="dk1"/>
              </a:buClr>
              <a:buSzPts val="3200"/>
              <a:buFont typeface="Calibri"/>
              <a:buAutoNum type="alphaUcParenR"/>
            </a:pPr>
            <a:endParaRPr dirty="0">
              <a:latin typeface="HGSｺﾞｼｯｸM" panose="020B0600000000000000" pitchFamily="50" charset="-128"/>
              <a:ea typeface="HGSｺﾞｼｯｸM" panose="020B0600000000000000" pitchFamily="50" charset="-128"/>
            </a:endParaRPr>
          </a:p>
        </p:txBody>
      </p:sp>
      <p:sp>
        <p:nvSpPr>
          <p:cNvPr id="309" name="Google Shape;309;p21"/>
          <p:cNvSpPr txBox="1"/>
          <p:nvPr/>
        </p:nvSpPr>
        <p:spPr>
          <a:xfrm>
            <a:off x="7380312" y="116632"/>
            <a:ext cx="941283" cy="523220"/>
          </a:xfrm>
          <a:prstGeom prst="rect">
            <a:avLst/>
          </a:prstGeom>
          <a:solidFill>
            <a:srgbClr val="FDE9D8"/>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sz="2800">
                <a:solidFill>
                  <a:schemeClr val="dk1"/>
                </a:solidFill>
                <a:latin typeface="Calibri"/>
                <a:ea typeface="Calibri"/>
                <a:cs typeface="Calibri"/>
                <a:sym typeface="Calibri"/>
              </a:rPr>
              <a:t>Ｎｅｗ</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5" name="Google Shape;315;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514350" lvl="0" indent="-514350" algn="l" rtl="0">
              <a:spcBef>
                <a:spcPts val="0"/>
              </a:spcBef>
              <a:spcAft>
                <a:spcPts val="0"/>
              </a:spcAft>
              <a:buClr>
                <a:schemeClr val="dk1"/>
              </a:buClr>
              <a:buSzPts val="3200"/>
              <a:buFont typeface="Calibri"/>
              <a:buAutoNum type="alphaUcParenR"/>
            </a:pPr>
            <a:r>
              <a:rPr lang="ja-JP" altLang="en-US" dirty="0"/>
              <a:t>それといって新しいことに挑戦したわけではないので、ほとんど予定している範囲で結果が出てきた。</a:t>
            </a:r>
            <a:endParaRPr lang="en-US" altLang="ja-JP" dirty="0"/>
          </a:p>
          <a:p>
            <a:pPr marL="514350" lvl="0" indent="-514350" algn="l" rtl="0">
              <a:spcBef>
                <a:spcPts val="0"/>
              </a:spcBef>
              <a:spcAft>
                <a:spcPts val="0"/>
              </a:spcAft>
              <a:buClr>
                <a:schemeClr val="dk1"/>
              </a:buClr>
              <a:buSzPts val="3200"/>
              <a:buFont typeface="Calibri"/>
              <a:buAutoNum type="alphaUcParenR"/>
            </a:pPr>
            <a:r>
              <a:rPr lang="ja-JP" altLang="en-US" dirty="0"/>
              <a:t>「</a:t>
            </a:r>
            <a:r>
              <a:rPr lang="en-US" altLang="ja-JP" dirty="0"/>
              <a:t>8.</a:t>
            </a:r>
            <a:r>
              <a:rPr lang="ja-JP" altLang="en-US" dirty="0"/>
              <a:t>実行結果</a:t>
            </a:r>
            <a:r>
              <a:rPr lang="en-US" altLang="ja-JP" dirty="0"/>
              <a:t>(</a:t>
            </a:r>
            <a:r>
              <a:rPr lang="ja-JP" altLang="en-US" dirty="0"/>
              <a:t>想定と違う場合</a:t>
            </a:r>
            <a:r>
              <a:rPr lang="en-US" altLang="ja-JP" dirty="0"/>
              <a:t>)</a:t>
            </a:r>
            <a:r>
              <a:rPr lang="ja-JP" altLang="en-US" dirty="0"/>
              <a:t>」で出ていたエラーが長く続いた、「最終課題</a:t>
            </a:r>
            <a:r>
              <a:rPr lang="en-US" altLang="ja-JP" dirty="0"/>
              <a:t>-2</a:t>
            </a:r>
            <a:r>
              <a:rPr lang="ja-JP" altLang="en-US" dirty="0"/>
              <a:t>」のプログラム内容に「</a:t>
            </a:r>
            <a:r>
              <a:rPr lang="en-US" altLang="ja-JP" dirty="0" err="1"/>
              <a:t>forrach</a:t>
            </a:r>
            <a:r>
              <a:rPr lang="en-US" altLang="ja-JP" dirty="0"/>
              <a:t>($data as $row){}</a:t>
            </a:r>
            <a:r>
              <a:rPr lang="ja-JP" altLang="en-US" dirty="0"/>
              <a:t>」の形式にしてできた。</a:t>
            </a:r>
            <a:br>
              <a:rPr lang="en-US" altLang="ja-JP" dirty="0"/>
            </a:br>
            <a:r>
              <a:rPr lang="ja-JP" altLang="en-US" dirty="0"/>
              <a:t>授業中の「</a:t>
            </a:r>
            <a:r>
              <a:rPr lang="en-US" altLang="ja-JP" dirty="0"/>
              <a:t>sample31-1.php</a:t>
            </a:r>
            <a:r>
              <a:rPr lang="ja-JP" altLang="en-US" dirty="0"/>
              <a:t>」の「</a:t>
            </a:r>
            <a:r>
              <a:rPr lang="en-US" altLang="ja-JP" dirty="0"/>
              <a:t>$query</a:t>
            </a:r>
            <a:r>
              <a:rPr lang="ja-JP" altLang="en-US" dirty="0"/>
              <a:t>」の繰り返しでは無理だったことが一番の相違点。</a:t>
            </a:r>
            <a:endParaRPr dirty="0"/>
          </a:p>
        </p:txBody>
      </p:sp>
      <p:sp>
        <p:nvSpPr>
          <p:cNvPr id="316" name="Google Shape;316;p22"/>
          <p:cNvSpPr txBox="1"/>
          <p:nvPr/>
        </p:nvSpPr>
        <p:spPr>
          <a:xfrm>
            <a:off x="6849208" y="116632"/>
            <a:ext cx="1472387" cy="523180"/>
          </a:xfrm>
          <a:prstGeom prst="rect">
            <a:avLst/>
          </a:prstGeom>
          <a:solidFill>
            <a:srgbClr val="FDE9D8"/>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ja-JP" sz="2800" dirty="0">
                <a:solidFill>
                  <a:schemeClr val="dk1"/>
                </a:solidFill>
                <a:latin typeface="Calibri"/>
                <a:ea typeface="Calibri"/>
                <a:cs typeface="Calibri"/>
                <a:sym typeface="Calibri"/>
              </a:rPr>
              <a:t>Ｎｅｗ</a:t>
            </a:r>
            <a:endParaRPr dirty="0"/>
          </a:p>
        </p:txBody>
      </p:sp>
      <p:sp>
        <p:nvSpPr>
          <p:cNvPr id="314" name="Google Shape;314;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dirty="0"/>
              <a:t>１0.予定と実際の相違点</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付録(プログラムリスト)1</a:t>
            </a:r>
            <a:endParaRPr/>
          </a:p>
        </p:txBody>
      </p:sp>
      <p:sp>
        <p:nvSpPr>
          <p:cNvPr id="322" name="Google Shape;322;p23"/>
          <p:cNvSpPr txBox="1"/>
          <p:nvPr/>
        </p:nvSpPr>
        <p:spPr>
          <a:xfrm>
            <a:off x="323528" y="1700808"/>
            <a:ext cx="3888432" cy="3293169"/>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Font typeface="+mj-lt"/>
              <a:buAutoNum type="arabicPeriod"/>
            </a:pPr>
            <a:r>
              <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rPr>
              <a:t>&lt;?</a:t>
            </a:r>
            <a:r>
              <a:rPr lang="en-US" altLang="ja-JP" sz="1600" dirty="0" err="1">
                <a:solidFill>
                  <a:schemeClr val="dk1"/>
                </a:solidFill>
                <a:latin typeface="HGSｺﾞｼｯｸM" panose="020B0600000000000000" pitchFamily="50" charset="-128"/>
                <a:ea typeface="HGSｺﾞｼｯｸM" panose="020B0600000000000000" pitchFamily="50" charset="-128"/>
                <a:cs typeface="Calibri"/>
                <a:sym typeface="Calibri"/>
              </a:rPr>
              <a:t>php</a:t>
            </a:r>
            <a:endPar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342900" marR="0" lvl="0" indent="-342900" algn="l" rtl="0">
              <a:spcBef>
                <a:spcPts val="0"/>
              </a:spcBef>
              <a:spcAft>
                <a:spcPts val="0"/>
              </a:spcAft>
              <a:buFont typeface="+mj-lt"/>
              <a:buAutoNum type="arabicPeriod"/>
            </a:pPr>
            <a:r>
              <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rPr>
              <a:t>Print “&lt;h1&gt;A23I093</a:t>
            </a:r>
            <a:r>
              <a:rPr lang="ja-JP" altLang="en-US" sz="1600" dirty="0">
                <a:solidFill>
                  <a:schemeClr val="dk1"/>
                </a:solidFill>
                <a:latin typeface="HGSｺﾞｼｯｸM" panose="020B0600000000000000" pitchFamily="50" charset="-128"/>
                <a:ea typeface="HGSｺﾞｼｯｸM" panose="020B0600000000000000" pitchFamily="50" charset="-128"/>
                <a:cs typeface="Calibri"/>
                <a:sym typeface="Calibri"/>
              </a:rPr>
              <a:t>最終課題</a:t>
            </a:r>
            <a:r>
              <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rPr>
              <a:t>-1.php&lt;/h1&gt;”;</a:t>
            </a:r>
          </a:p>
          <a:p>
            <a:pPr marL="342900" marR="0" lvl="0" indent="-342900" algn="l" rtl="0">
              <a:spcBef>
                <a:spcPts val="0"/>
              </a:spcBef>
              <a:spcAft>
                <a:spcPts val="0"/>
              </a:spcAft>
              <a:buFont typeface="+mj-lt"/>
              <a:buAutoNum type="arabicPeriod"/>
            </a:pPr>
            <a:r>
              <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rPr>
              <a:t>Print “&lt;h2&gt;</a:t>
            </a:r>
            <a:r>
              <a:rPr lang="ja-JP" altLang="en-US" sz="1600" dirty="0">
                <a:solidFill>
                  <a:schemeClr val="dk1"/>
                </a:solidFill>
                <a:latin typeface="HGSｺﾞｼｯｸM" panose="020B0600000000000000" pitchFamily="50" charset="-128"/>
                <a:ea typeface="HGSｺﾞｼｯｸM" panose="020B0600000000000000" pitchFamily="50" charset="-128"/>
                <a:cs typeface="Calibri"/>
                <a:sym typeface="Calibri"/>
              </a:rPr>
              <a:t>データベースの登録を開始してください。</a:t>
            </a:r>
            <a:r>
              <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rPr>
              <a:t>&lt;/h2&gt;&lt;</a:t>
            </a:r>
            <a:r>
              <a:rPr lang="en-US" altLang="ja-JP" sz="1600" dirty="0" err="1">
                <a:solidFill>
                  <a:schemeClr val="dk1"/>
                </a:solidFill>
                <a:latin typeface="HGSｺﾞｼｯｸM" panose="020B0600000000000000" pitchFamily="50" charset="-128"/>
                <a:ea typeface="HGSｺﾞｼｯｸM" panose="020B0600000000000000" pitchFamily="50" charset="-128"/>
                <a:cs typeface="Calibri"/>
                <a:sym typeface="Calibri"/>
              </a:rPr>
              <a:t>br</a:t>
            </a:r>
            <a:r>
              <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rPr>
              <a:t>&gt;\n”;</a:t>
            </a:r>
          </a:p>
          <a:p>
            <a:pPr marL="342900" marR="0" lvl="0" indent="-342900" algn="l" rtl="0">
              <a:spcBef>
                <a:spcPts val="0"/>
              </a:spcBef>
              <a:spcAft>
                <a:spcPts val="0"/>
              </a:spcAft>
              <a:buFont typeface="+mj-lt"/>
              <a:buAutoNum type="arabicPeriod"/>
            </a:pPr>
            <a:r>
              <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rPr>
              <a:t>Print “&lt;form action=\”A23I093</a:t>
            </a:r>
            <a:r>
              <a:rPr lang="ja-JP" altLang="en-US" sz="1600" dirty="0">
                <a:solidFill>
                  <a:schemeClr val="dk1"/>
                </a:solidFill>
                <a:latin typeface="HGSｺﾞｼｯｸM" panose="020B0600000000000000" pitchFamily="50" charset="-128"/>
                <a:ea typeface="HGSｺﾞｼｯｸM" panose="020B0600000000000000" pitchFamily="50" charset="-128"/>
                <a:cs typeface="Calibri"/>
                <a:sym typeface="Calibri"/>
              </a:rPr>
              <a:t>最終課題</a:t>
            </a:r>
            <a:r>
              <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rPr>
              <a:t>-2.php\” method=\”post\”&gt;\n”;</a:t>
            </a:r>
          </a:p>
          <a:p>
            <a:pPr marL="342900" marR="0" lvl="0" indent="-342900" algn="l" rtl="0">
              <a:spcBef>
                <a:spcPts val="0"/>
              </a:spcBef>
              <a:spcAft>
                <a:spcPts val="0"/>
              </a:spcAft>
              <a:buFont typeface="+mj-lt"/>
              <a:buAutoNum type="arabicPeriod"/>
            </a:pPr>
            <a:r>
              <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rPr>
              <a:t>Print &lt;“input type=\”submit\” value=\”</a:t>
            </a:r>
            <a:r>
              <a:rPr lang="ja-JP" altLang="en-US" sz="1600" dirty="0">
                <a:solidFill>
                  <a:schemeClr val="dk1"/>
                </a:solidFill>
                <a:latin typeface="HGSｺﾞｼｯｸM" panose="020B0600000000000000" pitchFamily="50" charset="-128"/>
                <a:ea typeface="HGSｺﾞｼｯｸM" panose="020B0600000000000000" pitchFamily="50" charset="-128"/>
                <a:cs typeface="Calibri"/>
                <a:sym typeface="Calibri"/>
              </a:rPr>
              <a:t>登録開始</a:t>
            </a:r>
            <a:r>
              <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rPr>
              <a:t>\”/&gt;”;</a:t>
            </a:r>
          </a:p>
          <a:p>
            <a:pPr marL="342900" marR="0" lvl="0" indent="-342900" algn="l" rtl="0">
              <a:spcBef>
                <a:spcPts val="0"/>
              </a:spcBef>
              <a:spcAft>
                <a:spcPts val="0"/>
              </a:spcAft>
              <a:buFont typeface="+mj-lt"/>
              <a:buAutoNum type="arabicPeriod"/>
            </a:pPr>
            <a:r>
              <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rPr>
              <a:t>Print “&lt;/form&gt;”;</a:t>
            </a:r>
          </a:p>
          <a:p>
            <a:pPr marL="342900" marR="0" lvl="0" indent="-342900" algn="l" rtl="0">
              <a:spcBef>
                <a:spcPts val="0"/>
              </a:spcBef>
              <a:spcAft>
                <a:spcPts val="0"/>
              </a:spcAft>
              <a:buFont typeface="+mj-lt"/>
              <a:buAutoNum type="arabicPeriod"/>
            </a:pPr>
            <a:endPar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342900" marR="0" lvl="0" indent="-342900" algn="l" rtl="0">
              <a:spcBef>
                <a:spcPts val="0"/>
              </a:spcBef>
              <a:spcAft>
                <a:spcPts val="0"/>
              </a:spcAft>
              <a:buFont typeface="+mj-lt"/>
              <a:buAutoNum type="arabicPeriod"/>
            </a:pPr>
            <a:r>
              <a:rPr lang="en-US" altLang="ja-JP" sz="1600" dirty="0">
                <a:solidFill>
                  <a:schemeClr val="dk1"/>
                </a:solidFill>
                <a:latin typeface="HGSｺﾞｼｯｸM" panose="020B0600000000000000" pitchFamily="50" charset="-128"/>
                <a:ea typeface="HGSｺﾞｼｯｸM" panose="020B0600000000000000" pitchFamily="50" charset="-128"/>
                <a:cs typeface="Calibri"/>
                <a:sym typeface="Calibri"/>
              </a:rPr>
              <a:t>?&gt;</a:t>
            </a:r>
            <a:endParaRPr lang="ja-JP" altLang="en-US" sz="1600" dirty="0">
              <a:solidFill>
                <a:schemeClr val="dk1"/>
              </a:solidFill>
              <a:latin typeface="HGSｺﾞｼｯｸM" panose="020B0600000000000000" pitchFamily="50" charset="-128"/>
              <a:ea typeface="HGSｺﾞｼｯｸM" panose="020B0600000000000000" pitchFamily="50" charset="-128"/>
              <a:cs typeface="Calibri"/>
              <a:sym typeface="Calibri"/>
            </a:endParaRPr>
          </a:p>
        </p:txBody>
      </p:sp>
      <p:sp>
        <p:nvSpPr>
          <p:cNvPr id="323" name="Google Shape;323;p23"/>
          <p:cNvSpPr txBox="1"/>
          <p:nvPr/>
        </p:nvSpPr>
        <p:spPr>
          <a:xfrm>
            <a:off x="539552" y="1338118"/>
            <a:ext cx="367240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A23I093</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-1.php</a:t>
            </a:r>
            <a:endParaRPr sz="1800" dirty="0">
              <a:solidFill>
                <a:schemeClr val="dk1"/>
              </a:solidFill>
              <a:latin typeface="Calibri"/>
              <a:ea typeface="Calibri"/>
              <a:cs typeface="Calibri"/>
              <a:sym typeface="Calibri"/>
            </a:endParaRPr>
          </a:p>
        </p:txBody>
      </p:sp>
      <p:sp>
        <p:nvSpPr>
          <p:cNvPr id="324" name="Google Shape;324;p23"/>
          <p:cNvSpPr txBox="1"/>
          <p:nvPr/>
        </p:nvSpPr>
        <p:spPr>
          <a:xfrm>
            <a:off x="4364360" y="1700808"/>
            <a:ext cx="3888432" cy="5078313"/>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a:t>付録(プログラムリスト)2</a:t>
            </a:r>
            <a:endParaRPr/>
          </a:p>
        </p:txBody>
      </p:sp>
      <p:sp>
        <p:nvSpPr>
          <p:cNvPr id="330" name="Google Shape;330;p24"/>
          <p:cNvSpPr txBox="1"/>
          <p:nvPr/>
        </p:nvSpPr>
        <p:spPr>
          <a:xfrm>
            <a:off x="323528" y="1700808"/>
            <a:ext cx="3888432" cy="5078273"/>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Font typeface="+mj-lt"/>
              <a:buAutoNum type="arabicPeriod"/>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&lt;?</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php</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342900" marR="0" lvl="0" indent="-342900" algn="l" rtl="0">
              <a:spcBef>
                <a:spcPts val="0"/>
              </a:spcBef>
              <a:spcAft>
                <a:spcPts val="0"/>
              </a:spcAft>
              <a:buFont typeface="+mj-lt"/>
              <a:buAutoNum type="arabicPeriod"/>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データベース作成</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342900" marR="0" lvl="0" indent="-342900" algn="l" rtl="0">
              <a:spcBef>
                <a:spcPts val="0"/>
              </a:spcBef>
              <a:spcAft>
                <a:spcPts val="0"/>
              </a:spcAft>
              <a:buFont typeface="+mj-lt"/>
              <a:buAutoNum type="arabicPeriod"/>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$sql1=“CREATE DATABASE $</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web_lastkadai_inosisi</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p>
          <a:p>
            <a:pPr marL="342900" marR="0" lvl="0" indent="-342900" algn="l" rtl="0">
              <a:spcBef>
                <a:spcPts val="0"/>
              </a:spcBef>
              <a:spcAft>
                <a:spcPts val="0"/>
              </a:spcAft>
              <a:buFont typeface="+mj-lt"/>
              <a:buAutoNum type="arabicPeriod"/>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$sql2=“CREATE DATABASE $</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web_lastkadai_kuma</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p>
          <a:p>
            <a:pPr marL="342900" marR="0" lvl="0" indent="-342900" algn="l" rtl="0">
              <a:spcBef>
                <a:spcPts val="0"/>
              </a:spcBef>
              <a:spcAft>
                <a:spcPts val="0"/>
              </a:spcAft>
              <a:buFont typeface="+mj-lt"/>
              <a:buAutoNum type="arabicPeriod"/>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$sql3=“CREATE DATABASE $</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web_lastkadai_saru</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p>
          <a:p>
            <a:pPr marL="342900" marR="0" lvl="0" indent="-342900" algn="l" rtl="0">
              <a:spcBef>
                <a:spcPts val="0"/>
              </a:spcBef>
              <a:spcAft>
                <a:spcPts val="0"/>
              </a:spcAft>
              <a:buFont typeface="+mj-lt"/>
              <a:buAutoNum type="arabicPeriod"/>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$sql3=“CREATE DATABASE $</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web_lastkadai_sika</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p>
          <a:p>
            <a:pPr marL="342900" marR="0" lvl="0" indent="-342900" algn="l" rtl="0">
              <a:spcBef>
                <a:spcPts val="0"/>
              </a:spcBef>
              <a:spcAft>
                <a:spcPts val="0"/>
              </a:spcAft>
              <a:buFont typeface="+mj-lt"/>
              <a:buAutoNum type="arabicPeriod"/>
            </a:pP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342900" marR="0" lvl="0" indent="-342900" algn="l" rtl="0">
              <a:spcBef>
                <a:spcPts val="0"/>
              </a:spcBef>
              <a:spcAft>
                <a:spcPts val="0"/>
              </a:spcAft>
              <a:buFont typeface="+mj-lt"/>
              <a:buAutoNum type="arabicPeriod"/>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rPr>
              <a:t>データベース接続情報</a:t>
            </a:r>
            <a:endPar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a:p>
            <a:pPr marL="342900" marR="0" lvl="0" indent="-342900" algn="l" rtl="0">
              <a:spcBef>
                <a:spcPts val="0"/>
              </a:spcBef>
              <a:spcAft>
                <a:spcPts val="0"/>
              </a:spcAft>
              <a:buFont typeface="+mj-lt"/>
              <a:buAutoNum type="arabicPeriod"/>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dbs</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mysql:dbnamae</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web_lastkadai_inosisi</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 host=localhost”;</a:t>
            </a:r>
          </a:p>
          <a:p>
            <a:pPr marL="342900" marR="0" lvl="0" indent="-342900" algn="l" rtl="0">
              <a:spcBef>
                <a:spcPts val="0"/>
              </a:spcBef>
              <a:spcAft>
                <a:spcPts val="0"/>
              </a:spcAft>
              <a:buFont typeface="+mj-lt"/>
              <a:buAutoNum type="arabicPeriod"/>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$user = “root”;</a:t>
            </a:r>
          </a:p>
          <a:p>
            <a:pPr marL="342900" marR="0" lvl="0" indent="-342900" algn="l" rtl="0">
              <a:spcBef>
                <a:spcPts val="0"/>
              </a:spcBef>
              <a:spcAft>
                <a:spcPts val="0"/>
              </a:spcAft>
              <a:buFont typeface="+mj-lt"/>
              <a:buAutoNum type="arabicPeriod"/>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$password = “”;</a:t>
            </a:r>
          </a:p>
          <a:p>
            <a:pPr marL="342900" marR="0" lvl="0" indent="-342900" algn="l" rtl="0">
              <a:spcBef>
                <a:spcPts val="0"/>
              </a:spcBef>
              <a:spcAft>
                <a:spcPts val="0"/>
              </a:spcAft>
              <a:buFont typeface="+mj-lt"/>
              <a:buAutoNum type="arabicPeriod"/>
            </a:pP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pdo</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 = new PDO($</a:t>
            </a:r>
            <a:r>
              <a:rPr lang="en-US" altLang="ja-JP" sz="1800" dirty="0" err="1">
                <a:solidFill>
                  <a:schemeClr val="dk1"/>
                </a:solidFill>
                <a:latin typeface="HGSｺﾞｼｯｸM" panose="020B0600000000000000" pitchFamily="50" charset="-128"/>
                <a:ea typeface="HGSｺﾞｼｯｸM" panose="020B0600000000000000" pitchFamily="50" charset="-128"/>
                <a:cs typeface="Calibri"/>
                <a:sym typeface="Calibri"/>
              </a:rPr>
              <a:t>dbs</a:t>
            </a:r>
            <a:r>
              <a:rPr lang="en-US" altLang="ja-JP" sz="1800" dirty="0">
                <a:solidFill>
                  <a:schemeClr val="dk1"/>
                </a:solidFill>
                <a:latin typeface="HGSｺﾞｼｯｸM" panose="020B0600000000000000" pitchFamily="50" charset="-128"/>
                <a:ea typeface="HGSｺﾞｼｯｸM" panose="020B0600000000000000" pitchFamily="50" charset="-128"/>
                <a:cs typeface="Calibri"/>
                <a:sym typeface="Calibri"/>
              </a:rPr>
              <a:t>, $user, $password);</a:t>
            </a:r>
            <a:endParaRPr lang="ja-JP" altLang="en-US" sz="1800" dirty="0">
              <a:solidFill>
                <a:schemeClr val="dk1"/>
              </a:solidFill>
              <a:latin typeface="HGSｺﾞｼｯｸM" panose="020B0600000000000000" pitchFamily="50" charset="-128"/>
              <a:ea typeface="HGSｺﾞｼｯｸM" panose="020B0600000000000000" pitchFamily="50" charset="-128"/>
              <a:cs typeface="Calibri"/>
              <a:sym typeface="Calibri"/>
            </a:endParaRPr>
          </a:p>
        </p:txBody>
      </p:sp>
      <p:sp>
        <p:nvSpPr>
          <p:cNvPr id="331" name="Google Shape;331;p24"/>
          <p:cNvSpPr txBox="1"/>
          <p:nvPr/>
        </p:nvSpPr>
        <p:spPr>
          <a:xfrm>
            <a:off x="539552" y="1338118"/>
            <a:ext cx="367240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A23I093</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-2.php</a:t>
            </a:r>
            <a:endParaRPr sz="1800" dirty="0">
              <a:solidFill>
                <a:schemeClr val="dk1"/>
              </a:solidFill>
              <a:latin typeface="Calibri"/>
              <a:ea typeface="Calibri"/>
              <a:cs typeface="Calibri"/>
              <a:sym typeface="Calibri"/>
            </a:endParaRPr>
          </a:p>
        </p:txBody>
      </p:sp>
      <p:sp>
        <p:nvSpPr>
          <p:cNvPr id="332" name="Google Shape;332;p24"/>
          <p:cNvSpPr txBox="1"/>
          <p:nvPr/>
        </p:nvSpPr>
        <p:spPr>
          <a:xfrm>
            <a:off x="4364360" y="1709600"/>
            <a:ext cx="3888432" cy="4524275"/>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Font typeface="+mj-lt"/>
              <a:buAutoNum type="arabicPeriod" startAt="12"/>
            </a:pPr>
            <a:r>
              <a:rPr lang="en-US" sz="1800" dirty="0">
                <a:solidFill>
                  <a:schemeClr val="dk1"/>
                </a:solidFill>
                <a:latin typeface="Calibri"/>
                <a:ea typeface="Calibri"/>
                <a:cs typeface="Calibri"/>
                <a:sym typeface="Calibri"/>
              </a:rPr>
              <a:t>//</a:t>
            </a:r>
            <a:r>
              <a:rPr lang="ja-JP" altLang="en-US" sz="1800" dirty="0">
                <a:solidFill>
                  <a:schemeClr val="dk1"/>
                </a:solidFill>
                <a:latin typeface="Calibri"/>
                <a:ea typeface="Calibri"/>
                <a:cs typeface="Calibri"/>
                <a:sym typeface="Calibri"/>
              </a:rPr>
              <a:t>テーブルの作成</a:t>
            </a: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12"/>
            </a:pPr>
            <a:r>
              <a:rPr lang="en-US" altLang="ja-JP" sz="1800" dirty="0">
                <a:solidFill>
                  <a:schemeClr val="dk1"/>
                </a:solidFill>
                <a:latin typeface="Calibri"/>
                <a:ea typeface="Calibri"/>
                <a:cs typeface="Calibri"/>
                <a:sym typeface="Calibri"/>
              </a:rPr>
              <a:t>$query= “CREATE TABLE IF NOT EXISTS ‘</a:t>
            </a:r>
            <a:r>
              <a:rPr lang="en-US" altLang="ja-JP" sz="1800" dirty="0" err="1">
                <a:solidFill>
                  <a:schemeClr val="dk1"/>
                </a:solidFill>
                <a:latin typeface="Calibri"/>
                <a:ea typeface="Calibri"/>
                <a:cs typeface="Calibri"/>
                <a:sym typeface="Calibri"/>
              </a:rPr>
              <a:t>inosisi</a:t>
            </a:r>
            <a:r>
              <a:rPr lang="en-US" altLang="ja-JP" sz="1800" dirty="0">
                <a:solidFill>
                  <a:schemeClr val="dk1"/>
                </a:solidFill>
                <a:latin typeface="Calibri"/>
                <a:ea typeface="Calibri"/>
                <a:cs typeface="Calibri"/>
                <a:sym typeface="Calibri"/>
              </a:rPr>
              <a:t>_</a:t>
            </a:r>
            <a:r>
              <a:rPr lang="ja-JP" altLang="en-US" sz="1800" dirty="0">
                <a:solidFill>
                  <a:schemeClr val="dk1"/>
                </a:solidFill>
                <a:latin typeface="Calibri"/>
                <a:ea typeface="Calibri"/>
                <a:cs typeface="Calibri"/>
                <a:sym typeface="Calibri"/>
              </a:rPr>
              <a:t>北海・東北</a:t>
            </a:r>
            <a:r>
              <a:rPr lang="en-US" altLang="ja-JP"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12"/>
            </a:pPr>
            <a:r>
              <a:rPr lang="en-US" altLang="ja-JP" sz="1800" dirty="0">
                <a:solidFill>
                  <a:schemeClr val="dk1"/>
                </a:solidFill>
                <a:latin typeface="Calibri"/>
                <a:ea typeface="Calibri"/>
                <a:cs typeface="Calibri"/>
                <a:sym typeface="Calibri"/>
              </a:rPr>
              <a:t>	‘name’ VARCHAR(10),</a:t>
            </a:r>
          </a:p>
          <a:p>
            <a:pPr marL="342900" marR="0" lvl="0" indent="-342900" algn="l" rtl="0">
              <a:spcBef>
                <a:spcPts val="0"/>
              </a:spcBef>
              <a:spcAft>
                <a:spcPts val="0"/>
              </a:spcAft>
              <a:buFont typeface="+mj-lt"/>
              <a:buAutoNum type="arabicPeriod" startAt="12"/>
            </a:pPr>
            <a:r>
              <a:rPr lang="en-US" altLang="ja-JP" sz="1800" dirty="0">
                <a:solidFill>
                  <a:schemeClr val="dk1"/>
                </a:solidFill>
                <a:latin typeface="Calibri"/>
                <a:ea typeface="Calibri"/>
                <a:cs typeface="Calibri"/>
                <a:sym typeface="Calibri"/>
              </a:rPr>
              <a:t> 	‘percent’ INTEGER</a:t>
            </a:r>
          </a:p>
          <a:p>
            <a:pPr marL="342900" marR="0" lvl="0" indent="-342900" algn="l" rtl="0">
              <a:spcBef>
                <a:spcPts val="0"/>
              </a:spcBef>
              <a:spcAft>
                <a:spcPts val="0"/>
              </a:spcAft>
              <a:buFont typeface="+mj-lt"/>
              <a:buAutoNum type="arabicPeriod" startAt="12"/>
            </a:pPr>
            <a:r>
              <a:rPr lang="en-US" altLang="ja-JP"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12"/>
            </a:pP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12"/>
            </a:pPr>
            <a:r>
              <a:rPr lang="en-US" altLang="ja-JP" sz="1800" dirty="0">
                <a:solidFill>
                  <a:schemeClr val="dk1"/>
                </a:solidFill>
                <a:latin typeface="Calibri"/>
                <a:ea typeface="Calibri"/>
                <a:cs typeface="Calibri"/>
                <a:sym typeface="Calibri"/>
              </a:rPr>
              <a:t>//</a:t>
            </a:r>
            <a:r>
              <a:rPr lang="ja-JP" altLang="en-US" sz="1800" dirty="0">
                <a:solidFill>
                  <a:schemeClr val="dk1"/>
                </a:solidFill>
                <a:latin typeface="Calibri"/>
                <a:ea typeface="Calibri"/>
                <a:cs typeface="Calibri"/>
                <a:sym typeface="Calibri"/>
              </a:rPr>
              <a:t>テーブル作成</a:t>
            </a: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12"/>
            </a:pP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stmt</a:t>
            </a:r>
            <a:r>
              <a:rPr lang="en-US" altLang="ja-JP" sz="1800" dirty="0">
                <a:solidFill>
                  <a:schemeClr val="dk1"/>
                </a:solidFill>
                <a:latin typeface="Calibri"/>
                <a:ea typeface="Calibri"/>
                <a:cs typeface="Calibri"/>
                <a:sym typeface="Calibri"/>
              </a:rPr>
              <a:t> = $</a:t>
            </a:r>
            <a:r>
              <a:rPr lang="en-US" altLang="ja-JP" sz="1800" dirty="0" err="1">
                <a:solidFill>
                  <a:schemeClr val="dk1"/>
                </a:solidFill>
                <a:latin typeface="Calibri"/>
                <a:ea typeface="Calibri"/>
                <a:cs typeface="Calibri"/>
                <a:sym typeface="Calibri"/>
              </a:rPr>
              <a:t>pdo</a:t>
            </a:r>
            <a:r>
              <a:rPr lang="en-US" altLang="ja-JP" sz="1800" dirty="0">
                <a:solidFill>
                  <a:schemeClr val="dk1"/>
                </a:solidFill>
                <a:latin typeface="Calibri"/>
                <a:ea typeface="Calibri"/>
                <a:cs typeface="Calibri"/>
                <a:sym typeface="Calibri"/>
              </a:rPr>
              <a:t> -&gt;prepare($query);</a:t>
            </a:r>
          </a:p>
          <a:p>
            <a:pPr marL="342900" marR="0" lvl="0" indent="-342900" algn="l" rtl="0">
              <a:spcBef>
                <a:spcPts val="0"/>
              </a:spcBef>
              <a:spcAft>
                <a:spcPts val="0"/>
              </a:spcAft>
              <a:buFont typeface="+mj-lt"/>
              <a:buAutoNum type="arabicPeriod" startAt="12"/>
            </a:pP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stmt</a:t>
            </a:r>
            <a:r>
              <a:rPr lang="en-US" altLang="ja-JP" sz="1800" dirty="0">
                <a:solidFill>
                  <a:schemeClr val="dk1"/>
                </a:solidFill>
                <a:latin typeface="Calibri"/>
                <a:ea typeface="Calibri"/>
                <a:cs typeface="Calibri"/>
                <a:sym typeface="Calibri"/>
              </a:rPr>
              <a:t>-&gt;execute();</a:t>
            </a:r>
          </a:p>
          <a:p>
            <a:pPr marL="342900" marR="0" lvl="0" indent="-342900" algn="l" rtl="0">
              <a:spcBef>
                <a:spcPts val="0"/>
              </a:spcBef>
              <a:spcAft>
                <a:spcPts val="0"/>
              </a:spcAft>
              <a:buFont typeface="+mj-lt"/>
              <a:buAutoNum type="arabicPeriod" startAt="12"/>
            </a:pP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12"/>
            </a:pPr>
            <a:r>
              <a:rPr lang="en-US" altLang="ja-JP" sz="1800" dirty="0">
                <a:solidFill>
                  <a:schemeClr val="dk1"/>
                </a:solidFill>
                <a:latin typeface="Calibri"/>
                <a:ea typeface="Calibri"/>
                <a:cs typeface="Calibri"/>
                <a:sym typeface="Calibri"/>
              </a:rPr>
              <a:t>//</a:t>
            </a:r>
            <a:r>
              <a:rPr lang="ja-JP" altLang="en-US" sz="1800" dirty="0">
                <a:solidFill>
                  <a:schemeClr val="dk1"/>
                </a:solidFill>
                <a:latin typeface="Calibri"/>
                <a:ea typeface="Calibri"/>
                <a:cs typeface="Calibri"/>
                <a:sym typeface="Calibri"/>
              </a:rPr>
              <a:t>データの登録</a:t>
            </a: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12"/>
            </a:pPr>
            <a:r>
              <a:rPr lang="en-US" altLang="ja-JP" sz="1800" dirty="0">
                <a:solidFill>
                  <a:schemeClr val="dk1"/>
                </a:solidFill>
                <a:latin typeface="Calibri"/>
                <a:ea typeface="Calibri"/>
                <a:cs typeface="Calibri"/>
                <a:sym typeface="Calibri"/>
              </a:rPr>
              <a:t>$data = [</a:t>
            </a:r>
          </a:p>
          <a:p>
            <a:pPr marL="342900" marR="0" lvl="0" indent="-342900" algn="l" rtl="0">
              <a:spcBef>
                <a:spcPts val="0"/>
              </a:spcBef>
              <a:spcAft>
                <a:spcPts val="0"/>
              </a:spcAft>
              <a:buFont typeface="+mj-lt"/>
              <a:buAutoNum type="arabicPeriod" startAt="12"/>
            </a:pPr>
            <a:r>
              <a:rPr lang="en-US" altLang="ja-JP" sz="1800" dirty="0">
                <a:solidFill>
                  <a:schemeClr val="dk1"/>
                </a:solidFill>
                <a:latin typeface="Calibri"/>
                <a:ea typeface="Calibri"/>
                <a:cs typeface="Calibri"/>
                <a:sym typeface="Calibri"/>
              </a:rPr>
              <a:t> 	[‘</a:t>
            </a:r>
            <a:r>
              <a:rPr lang="ja-JP" altLang="en-US" sz="1800" dirty="0">
                <a:solidFill>
                  <a:schemeClr val="dk1"/>
                </a:solidFill>
                <a:latin typeface="Calibri"/>
                <a:ea typeface="Calibri"/>
                <a:cs typeface="Calibri"/>
                <a:sym typeface="Calibri"/>
              </a:rPr>
              <a:t>北海</a:t>
            </a:r>
            <a:r>
              <a:rPr lang="en-US" altLang="ja-JP" sz="1800" dirty="0">
                <a:solidFill>
                  <a:schemeClr val="dk1"/>
                </a:solidFill>
                <a:latin typeface="Calibri"/>
                <a:ea typeface="Calibri"/>
                <a:cs typeface="Calibri"/>
                <a:sym typeface="Calibri"/>
              </a:rPr>
              <a:t>’, 0],</a:t>
            </a:r>
          </a:p>
          <a:p>
            <a:pPr marL="342900" marR="0" lvl="0" indent="-342900" algn="l" rtl="0">
              <a:spcBef>
                <a:spcPts val="0"/>
              </a:spcBef>
              <a:spcAft>
                <a:spcPts val="0"/>
              </a:spcAft>
              <a:buFont typeface="+mj-lt"/>
              <a:buAutoNum type="arabicPeriod" startAt="12"/>
            </a:pPr>
            <a:r>
              <a:rPr lang="en-US" altLang="ja-JP" sz="1800" dirty="0">
                <a:solidFill>
                  <a:schemeClr val="dk1"/>
                </a:solidFill>
                <a:latin typeface="Calibri"/>
                <a:ea typeface="Calibri"/>
                <a:cs typeface="Calibri"/>
                <a:sym typeface="Calibri"/>
              </a:rPr>
              <a:t> 	[‘</a:t>
            </a:r>
            <a:r>
              <a:rPr lang="ja-JP" altLang="en-US" sz="1800" dirty="0">
                <a:solidFill>
                  <a:schemeClr val="dk1"/>
                </a:solidFill>
                <a:latin typeface="Calibri"/>
                <a:ea typeface="Calibri"/>
                <a:cs typeface="Calibri"/>
                <a:sym typeface="Calibri"/>
              </a:rPr>
              <a:t>青森</a:t>
            </a:r>
            <a:r>
              <a:rPr lang="en-US" altLang="ja-JP" sz="1800" dirty="0">
                <a:solidFill>
                  <a:schemeClr val="dk1"/>
                </a:solidFill>
                <a:latin typeface="Calibri"/>
                <a:ea typeface="Calibri"/>
                <a:cs typeface="Calibri"/>
                <a:sym typeface="Calibri"/>
              </a:rPr>
              <a:t>’, 0],</a:t>
            </a:r>
            <a:r>
              <a:rPr lang="ja-JP" altLang="en-US" sz="1800" dirty="0">
                <a:solidFill>
                  <a:schemeClr val="dk1"/>
                </a:solidFill>
                <a:latin typeface="Calibri"/>
                <a:ea typeface="Calibri"/>
                <a:cs typeface="Calibri"/>
                <a:sym typeface="Calibri"/>
              </a:rPr>
              <a:t>・・・</a:t>
            </a: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12"/>
            </a:pPr>
            <a:r>
              <a:rPr lang="en-US" altLang="ja-JP" sz="1800" dirty="0">
                <a:solidFill>
                  <a:schemeClr val="dk1"/>
                </a:solidFill>
                <a:latin typeface="Calibri"/>
                <a:ea typeface="Calibri"/>
                <a:cs typeface="Calibri"/>
                <a:sym typeface="Calibri"/>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dirty="0"/>
              <a:t>付録(プログラムリスト)3</a:t>
            </a:r>
            <a:endParaRPr dirty="0"/>
          </a:p>
        </p:txBody>
      </p:sp>
      <p:sp>
        <p:nvSpPr>
          <p:cNvPr id="338" name="Google Shape;338;p25"/>
          <p:cNvSpPr txBox="1"/>
          <p:nvPr/>
        </p:nvSpPr>
        <p:spPr>
          <a:xfrm>
            <a:off x="323528" y="1700808"/>
            <a:ext cx="3888432" cy="480127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Font typeface="+mj-lt"/>
              <a:buAutoNum type="arabicPeriod" startAt="45"/>
            </a:pPr>
            <a:r>
              <a:rPr lang="en-US" sz="1800" dirty="0">
                <a:solidFill>
                  <a:schemeClr val="dk1"/>
                </a:solidFill>
                <a:latin typeface="Calibri"/>
                <a:ea typeface="Calibri"/>
                <a:cs typeface="Calibri"/>
                <a:sym typeface="Calibri"/>
              </a:rPr>
              <a:t>Foreach ($data as $row){</a:t>
            </a:r>
          </a:p>
          <a:p>
            <a:pPr marL="342900" marR="0" lvl="0" indent="-342900" algn="l" rtl="0">
              <a:spcBef>
                <a:spcPts val="0"/>
              </a:spcBef>
              <a:spcAft>
                <a:spcPts val="0"/>
              </a:spcAft>
              <a:buFont typeface="+mj-lt"/>
              <a:buAutoNum type="arabicPeriod" startAt="45"/>
            </a:pPr>
            <a:r>
              <a:rPr lang="en-US" sz="1800" dirty="0">
                <a:solidFill>
                  <a:schemeClr val="dk1"/>
                </a:solidFill>
                <a:latin typeface="Calibri"/>
                <a:ea typeface="Calibri"/>
                <a:cs typeface="Calibri"/>
                <a:sym typeface="Calibri"/>
              </a:rPr>
              <a:t> 	$query = “INSERT INFO ‘</a:t>
            </a:r>
            <a:r>
              <a:rPr lang="en-US" sz="1800" dirty="0" err="1">
                <a:solidFill>
                  <a:schemeClr val="dk1"/>
                </a:solidFill>
                <a:latin typeface="Calibri"/>
                <a:ea typeface="Calibri"/>
                <a:cs typeface="Calibri"/>
                <a:sym typeface="Calibri"/>
              </a:rPr>
              <a:t>inosisi</a:t>
            </a:r>
            <a:r>
              <a:rPr lang="en-US" sz="1800" dirty="0">
                <a:solidFill>
                  <a:schemeClr val="dk1"/>
                </a:solidFill>
                <a:latin typeface="Calibri"/>
                <a:ea typeface="Calibri"/>
                <a:cs typeface="Calibri"/>
                <a:sym typeface="Calibri"/>
              </a:rPr>
              <a:t>_</a:t>
            </a:r>
            <a:r>
              <a:rPr lang="ja-JP" altLang="en-US" sz="1800" dirty="0">
                <a:solidFill>
                  <a:schemeClr val="dk1"/>
                </a:solidFill>
                <a:latin typeface="Calibri"/>
                <a:ea typeface="Calibri"/>
                <a:cs typeface="Calibri"/>
                <a:sym typeface="Calibri"/>
              </a:rPr>
              <a:t>北海・東北</a:t>
            </a:r>
            <a:r>
              <a:rPr lang="en-US" sz="1800" dirty="0">
                <a:solidFill>
                  <a:schemeClr val="dk1"/>
                </a:solidFill>
                <a:latin typeface="Calibri"/>
                <a:ea typeface="Calibri"/>
                <a:cs typeface="Calibri"/>
                <a:sym typeface="Calibri"/>
              </a:rPr>
              <a:t>’(‘name’, ‘percent’) VSLUES (?, ?)”;</a:t>
            </a:r>
          </a:p>
          <a:p>
            <a:pPr marL="342900" marR="0" lvl="0" indent="-342900" algn="l" rtl="0">
              <a:spcBef>
                <a:spcPts val="0"/>
              </a:spcBef>
              <a:spcAft>
                <a:spcPts val="0"/>
              </a:spcAft>
              <a:buFont typeface="+mj-lt"/>
              <a:buAutoNum type="arabicPeriod" startAt="45"/>
            </a:pP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stmt</a:t>
            </a:r>
            <a:r>
              <a:rPr lang="en-US" sz="1800" dirty="0">
                <a:solidFill>
                  <a:schemeClr val="dk1"/>
                </a:solidFill>
                <a:latin typeface="Calibri"/>
                <a:ea typeface="Calibri"/>
                <a:cs typeface="Calibri"/>
                <a:sym typeface="Calibri"/>
              </a:rPr>
              <a:t> = $</a:t>
            </a:r>
            <a:r>
              <a:rPr lang="en-US" sz="1800" dirty="0" err="1">
                <a:solidFill>
                  <a:schemeClr val="dk1"/>
                </a:solidFill>
                <a:latin typeface="Calibri"/>
                <a:ea typeface="Calibri"/>
                <a:cs typeface="Calibri"/>
                <a:sym typeface="Calibri"/>
              </a:rPr>
              <a:t>pdo</a:t>
            </a:r>
            <a:r>
              <a:rPr lang="en-US" sz="1800" dirty="0">
                <a:solidFill>
                  <a:schemeClr val="dk1"/>
                </a:solidFill>
                <a:latin typeface="Calibri"/>
                <a:ea typeface="Calibri"/>
                <a:cs typeface="Calibri"/>
                <a:sym typeface="Calibri"/>
              </a:rPr>
              <a:t>-&gt;prepare($query);</a:t>
            </a:r>
          </a:p>
          <a:p>
            <a:pPr marL="342900" marR="0" lvl="0" indent="-342900" algn="l" rtl="0">
              <a:spcBef>
                <a:spcPts val="0"/>
              </a:spcBef>
              <a:spcAft>
                <a:spcPts val="0"/>
              </a:spcAft>
              <a:buFont typeface="+mj-lt"/>
              <a:buAutoNum type="arabicPeriod" startAt="45"/>
            </a:pPr>
            <a:r>
              <a:rPr lang="en-US" sz="1800" dirty="0">
                <a:solidFill>
                  <a:schemeClr val="dk1"/>
                </a:solidFill>
                <a:latin typeface="Calibri"/>
                <a:ea typeface="Calibri"/>
                <a:cs typeface="Calibri"/>
                <a:sym typeface="Calibri"/>
              </a:rPr>
              <a:t> 	$</a:t>
            </a:r>
            <a:r>
              <a:rPr lang="en-US" sz="1800" dirty="0" err="1">
                <a:solidFill>
                  <a:schemeClr val="dk1"/>
                </a:solidFill>
                <a:latin typeface="Calibri"/>
                <a:ea typeface="Calibri"/>
                <a:cs typeface="Calibri"/>
                <a:sym typeface="Calibri"/>
              </a:rPr>
              <a:t>stmt</a:t>
            </a:r>
            <a:r>
              <a:rPr lang="en-US" sz="1800" dirty="0">
                <a:solidFill>
                  <a:schemeClr val="dk1"/>
                </a:solidFill>
                <a:latin typeface="Calibri"/>
                <a:ea typeface="Calibri"/>
                <a:cs typeface="Calibri"/>
                <a:sym typeface="Calibri"/>
              </a:rPr>
              <a:t>-&gt;execute($row);</a:t>
            </a:r>
          </a:p>
          <a:p>
            <a:pPr marL="342900" marR="0" lvl="0" indent="-342900" algn="l" rtl="0">
              <a:spcBef>
                <a:spcPts val="0"/>
              </a:spcBef>
              <a:spcAft>
                <a:spcPts val="0"/>
              </a:spcAft>
              <a:buFont typeface="+mj-lt"/>
              <a:buAutoNum type="arabicPeriod" startAt="45"/>
            </a:pPr>
            <a:r>
              <a:rPr lang="en-US"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45"/>
            </a:pP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45"/>
            </a:pPr>
            <a:r>
              <a:rPr lang="en-US" sz="1800" dirty="0">
                <a:solidFill>
                  <a:schemeClr val="dk1"/>
                </a:solidFill>
                <a:latin typeface="Calibri"/>
                <a:ea typeface="Calibri"/>
                <a:cs typeface="Calibri"/>
                <a:sym typeface="Calibri"/>
              </a:rPr>
              <a:t>//</a:t>
            </a:r>
            <a:r>
              <a:rPr lang="en-US" altLang="ja-JP" sz="1800" dirty="0">
                <a:solidFill>
                  <a:schemeClr val="dk1"/>
                </a:solidFill>
                <a:latin typeface="Calibri"/>
                <a:ea typeface="Calibri"/>
                <a:cs typeface="Calibri"/>
                <a:sym typeface="Calibri"/>
              </a:rPr>
              <a:t>(</a:t>
            </a:r>
            <a:r>
              <a:rPr lang="ja-JP" altLang="en-US" sz="1800" dirty="0">
                <a:solidFill>
                  <a:schemeClr val="dk1"/>
                </a:solidFill>
                <a:latin typeface="Calibri"/>
                <a:ea typeface="Calibri"/>
                <a:cs typeface="Calibri"/>
                <a:sym typeface="Calibri"/>
              </a:rPr>
              <a:t>関東</a:t>
            </a:r>
            <a:r>
              <a:rPr lang="en-US" altLang="ja-JP" sz="1800" dirty="0">
                <a:solidFill>
                  <a:schemeClr val="dk1"/>
                </a:solidFill>
                <a:latin typeface="Calibri"/>
                <a:ea typeface="Calibri"/>
                <a:cs typeface="Calibri"/>
                <a:sym typeface="Calibri"/>
              </a:rPr>
              <a:t>-&gt;)</a:t>
            </a:r>
            <a:r>
              <a:rPr lang="ja-JP" altLang="en-US" sz="1800" dirty="0">
                <a:solidFill>
                  <a:schemeClr val="dk1"/>
                </a:solidFill>
                <a:latin typeface="Calibri"/>
                <a:ea typeface="Calibri"/>
                <a:cs typeface="Calibri"/>
                <a:sym typeface="Calibri"/>
              </a:rPr>
              <a:t>などと続く・・・</a:t>
            </a: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45"/>
            </a:pP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640"/>
            </a:pPr>
            <a:r>
              <a:rPr lang="en-US" sz="1800" dirty="0">
                <a:solidFill>
                  <a:schemeClr val="dk1"/>
                </a:solidFill>
                <a:latin typeface="Calibri"/>
                <a:ea typeface="Calibri"/>
                <a:cs typeface="Calibri"/>
                <a:sym typeface="Calibri"/>
              </a:rPr>
              <a:t>Print “</a:t>
            </a:r>
            <a:r>
              <a:rPr lang="ja-JP" altLang="en-US" sz="1800" dirty="0">
                <a:solidFill>
                  <a:schemeClr val="dk1"/>
                </a:solidFill>
                <a:latin typeface="Calibri"/>
                <a:ea typeface="Calibri"/>
                <a:cs typeface="Calibri"/>
                <a:sym typeface="Calibri"/>
              </a:rPr>
              <a:t>データの登録が完了しました。</a:t>
            </a:r>
            <a:r>
              <a:rPr lang="en-US" altLang="ja-JP" sz="1800" dirty="0">
                <a:solidFill>
                  <a:schemeClr val="dk1"/>
                </a:solidFill>
                <a:latin typeface="Calibri"/>
                <a:ea typeface="Calibri"/>
                <a:cs typeface="Calibri"/>
                <a:sym typeface="Calibri"/>
              </a:rPr>
              <a:t>&lt;</a:t>
            </a:r>
            <a:r>
              <a:rPr lang="en-US" altLang="ja-JP" sz="1800" dirty="0" err="1">
                <a:solidFill>
                  <a:schemeClr val="dk1"/>
                </a:solidFill>
                <a:latin typeface="Calibri"/>
                <a:ea typeface="Calibri"/>
                <a:cs typeface="Calibri"/>
                <a:sym typeface="Calibri"/>
              </a:rPr>
              <a:t>br</a:t>
            </a:r>
            <a:r>
              <a:rPr lang="en-US" altLang="ja-JP" sz="1800" dirty="0">
                <a:solidFill>
                  <a:schemeClr val="dk1"/>
                </a:solidFill>
                <a:latin typeface="Calibri"/>
                <a:ea typeface="Calibri"/>
                <a:cs typeface="Calibri"/>
                <a:sym typeface="Calibri"/>
              </a:rPr>
              <a:t>&gt;\n</a:t>
            </a:r>
            <a:r>
              <a:rPr lang="en-US"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640"/>
            </a:pP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640"/>
            </a:pPr>
            <a:r>
              <a:rPr lang="en-US" sz="1800" dirty="0">
                <a:solidFill>
                  <a:schemeClr val="dk1"/>
                </a:solidFill>
                <a:latin typeface="Calibri"/>
                <a:ea typeface="Calibri"/>
                <a:cs typeface="Calibri"/>
                <a:sym typeface="Calibri"/>
              </a:rPr>
              <a:t>Print “&lt;form action=\”A23I093</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-3</a:t>
            </a:r>
            <a:r>
              <a:rPr lang="en-US" sz="1800" dirty="0">
                <a:solidFill>
                  <a:schemeClr val="dk1"/>
                </a:solidFill>
                <a:latin typeface="Calibri"/>
                <a:ea typeface="Calibri"/>
                <a:cs typeface="Calibri"/>
                <a:sym typeface="Calibri"/>
              </a:rPr>
              <a:t>\”&gt;”</a:t>
            </a:r>
            <a:r>
              <a:rPr lang="ja-JP" altLang="en-US" sz="1800" dirty="0">
                <a:solidFill>
                  <a:schemeClr val="dk1"/>
                </a:solidFill>
                <a:latin typeface="Calibri"/>
                <a:ea typeface="Calibri"/>
                <a:cs typeface="Calibri"/>
                <a:sym typeface="Calibri"/>
              </a:rPr>
              <a:t>・・・</a:t>
            </a: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643"/>
            </a:pPr>
            <a:r>
              <a:rPr lang="en-US" sz="1800" dirty="0">
                <a:solidFill>
                  <a:schemeClr val="dk1"/>
                </a:solidFill>
                <a:latin typeface="Calibri"/>
                <a:ea typeface="Calibri"/>
                <a:cs typeface="Calibri"/>
                <a:sym typeface="Calibri"/>
              </a:rPr>
              <a:t>Print “&lt;/form&gt;”;</a:t>
            </a:r>
            <a:endParaRPr sz="1800" dirty="0">
              <a:solidFill>
                <a:schemeClr val="dk1"/>
              </a:solidFill>
              <a:latin typeface="Calibri"/>
              <a:ea typeface="Calibri"/>
              <a:cs typeface="Calibri"/>
              <a:sym typeface="Calibri"/>
            </a:endParaRPr>
          </a:p>
        </p:txBody>
      </p:sp>
      <p:sp>
        <p:nvSpPr>
          <p:cNvPr id="340" name="Google Shape;340;p25"/>
          <p:cNvSpPr txBox="1"/>
          <p:nvPr/>
        </p:nvSpPr>
        <p:spPr>
          <a:xfrm>
            <a:off x="4364360" y="1700808"/>
            <a:ext cx="3888432" cy="480127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Font typeface="+mj-lt"/>
              <a:buAutoNum type="arabicPeriod"/>
            </a:pPr>
            <a:r>
              <a:rPr lang="en-US" sz="1800" dirty="0">
                <a:solidFill>
                  <a:schemeClr val="dk1"/>
                </a:solidFill>
                <a:latin typeface="Calibri"/>
                <a:ea typeface="Calibri"/>
                <a:cs typeface="Calibri"/>
                <a:sym typeface="Calibri"/>
              </a:rPr>
              <a:t>&lt;?</a:t>
            </a:r>
            <a:r>
              <a:rPr lang="en-US" sz="1800" dirty="0" err="1">
                <a:solidFill>
                  <a:schemeClr val="dk1"/>
                </a:solidFill>
                <a:latin typeface="Calibri"/>
                <a:ea typeface="Calibri"/>
                <a:cs typeface="Calibri"/>
                <a:sym typeface="Calibri"/>
              </a:rPr>
              <a:t>php</a:t>
            </a: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10"/>
            </a:pPr>
            <a:r>
              <a:rPr lang="en-US" sz="1800" dirty="0">
                <a:solidFill>
                  <a:schemeClr val="dk1"/>
                </a:solidFill>
                <a:latin typeface="Calibri"/>
                <a:ea typeface="Calibri"/>
                <a:cs typeface="Calibri"/>
                <a:sym typeface="Calibri"/>
              </a:rPr>
              <a:t>$</a:t>
            </a:r>
            <a:r>
              <a:rPr lang="en-US" sz="1800" dirty="0" err="1">
                <a:solidFill>
                  <a:schemeClr val="dk1"/>
                </a:solidFill>
                <a:latin typeface="Calibri"/>
                <a:ea typeface="Calibri"/>
                <a:cs typeface="Calibri"/>
                <a:sym typeface="Calibri"/>
              </a:rPr>
              <a:t>animal_list</a:t>
            </a:r>
            <a:r>
              <a:rPr lang="en-US" sz="1800" dirty="0">
                <a:solidFill>
                  <a:schemeClr val="dk1"/>
                </a:solidFill>
                <a:latin typeface="Calibri"/>
                <a:ea typeface="Calibri"/>
                <a:cs typeface="Calibri"/>
                <a:sym typeface="Calibri"/>
              </a:rPr>
              <a:t>[0] = “</a:t>
            </a:r>
            <a:r>
              <a:rPr lang="ja-JP" altLang="en-US" sz="1800" dirty="0">
                <a:solidFill>
                  <a:schemeClr val="dk1"/>
                </a:solidFill>
                <a:latin typeface="Calibri"/>
                <a:ea typeface="Calibri"/>
                <a:cs typeface="Calibri"/>
                <a:sym typeface="Calibri"/>
              </a:rPr>
              <a:t>猪の分布</a:t>
            </a:r>
            <a:r>
              <a:rPr lang="en-US"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10"/>
            </a:pPr>
            <a:r>
              <a:rPr lang="en-US" sz="1800" dirty="0">
                <a:solidFill>
                  <a:schemeClr val="dk1"/>
                </a:solidFill>
                <a:latin typeface="Calibri"/>
                <a:ea typeface="Calibri"/>
                <a:cs typeface="Calibri"/>
                <a:sym typeface="Calibri"/>
              </a:rPr>
              <a:t>$</a:t>
            </a:r>
            <a:r>
              <a:rPr lang="en-US" sz="1800" dirty="0" err="1">
                <a:solidFill>
                  <a:schemeClr val="dk1"/>
                </a:solidFill>
                <a:latin typeface="Calibri"/>
                <a:ea typeface="Calibri"/>
                <a:cs typeface="Calibri"/>
                <a:sym typeface="Calibri"/>
              </a:rPr>
              <a:t>snimal_list</a:t>
            </a:r>
            <a:r>
              <a:rPr lang="en-US" sz="1800" dirty="0">
                <a:solidFill>
                  <a:schemeClr val="dk1"/>
                </a:solidFill>
                <a:latin typeface="Calibri"/>
                <a:ea typeface="Calibri"/>
                <a:cs typeface="Calibri"/>
                <a:sym typeface="Calibri"/>
              </a:rPr>
              <a:t>[1] = “</a:t>
            </a:r>
            <a:r>
              <a:rPr lang="ja-JP" altLang="en-US" sz="1800" dirty="0">
                <a:solidFill>
                  <a:schemeClr val="dk1"/>
                </a:solidFill>
                <a:latin typeface="Calibri"/>
                <a:ea typeface="Calibri"/>
                <a:cs typeface="Calibri"/>
                <a:sym typeface="Calibri"/>
              </a:rPr>
              <a:t>熊類の分布</a:t>
            </a:r>
            <a:r>
              <a:rPr lang="en-US" sz="1800" dirty="0">
                <a:solidFill>
                  <a:schemeClr val="dk1"/>
                </a:solidFill>
                <a:latin typeface="Calibri"/>
                <a:ea typeface="Calibri"/>
                <a:cs typeface="Calibri"/>
                <a:sym typeface="Calibri"/>
              </a:rPr>
              <a:t>”;</a:t>
            </a:r>
            <a:r>
              <a:rPr lang="en-US" altLang="ja-JP"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10"/>
            </a:pP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15"/>
            </a:pPr>
            <a:r>
              <a:rPr lang="en-US" sz="1800" dirty="0">
                <a:solidFill>
                  <a:schemeClr val="dk1"/>
                </a:solidFill>
                <a:latin typeface="Calibri"/>
                <a:ea typeface="Calibri"/>
                <a:cs typeface="Calibri"/>
                <a:sym typeface="Calibri"/>
              </a:rPr>
              <a:t>Foreach($</a:t>
            </a:r>
            <a:r>
              <a:rPr lang="en-US" sz="1800" dirty="0" err="1">
                <a:solidFill>
                  <a:schemeClr val="dk1"/>
                </a:solidFill>
                <a:latin typeface="Calibri"/>
                <a:ea typeface="Calibri"/>
                <a:cs typeface="Calibri"/>
                <a:sym typeface="Calibri"/>
              </a:rPr>
              <a:t>animal_list</a:t>
            </a:r>
            <a:r>
              <a:rPr lang="en-US" sz="1800" dirty="0">
                <a:solidFill>
                  <a:schemeClr val="dk1"/>
                </a:solidFill>
                <a:latin typeface="Calibri"/>
                <a:ea typeface="Calibri"/>
                <a:cs typeface="Calibri"/>
                <a:sym typeface="Calibri"/>
              </a:rPr>
              <a:t> as $id =&gt; $value){</a:t>
            </a:r>
          </a:p>
          <a:p>
            <a:pPr marL="342900" marR="0" lvl="0" indent="-342900" algn="l" rtl="0">
              <a:spcBef>
                <a:spcPts val="0"/>
              </a:spcBef>
              <a:spcAft>
                <a:spcPts val="0"/>
              </a:spcAft>
              <a:buFont typeface="+mj-lt"/>
              <a:buAutoNum type="arabicPeriod" startAt="15"/>
            </a:pPr>
            <a:r>
              <a:rPr lang="en-US" sz="1800" dirty="0">
                <a:solidFill>
                  <a:schemeClr val="dk1"/>
                </a:solidFill>
                <a:latin typeface="Calibri"/>
                <a:ea typeface="Calibri"/>
                <a:cs typeface="Calibri"/>
                <a:sym typeface="Calibri"/>
              </a:rPr>
              <a:t> 	</a:t>
            </a:r>
            <a:r>
              <a:rPr lang="en-US" altLang="ja-JP" sz="1800" dirty="0">
                <a:solidFill>
                  <a:schemeClr val="dk1"/>
                </a:solidFill>
                <a:latin typeface="Calibri"/>
                <a:ea typeface="Calibri"/>
                <a:cs typeface="Calibri"/>
                <a:sym typeface="Calibri"/>
              </a:rPr>
              <a:t>if($value == “</a:t>
            </a:r>
            <a:r>
              <a:rPr lang="ja-JP" altLang="en-US" sz="1800" dirty="0">
                <a:solidFill>
                  <a:schemeClr val="dk1"/>
                </a:solidFill>
                <a:latin typeface="Calibri"/>
                <a:ea typeface="Calibri"/>
                <a:cs typeface="Calibri"/>
                <a:sym typeface="Calibri"/>
              </a:rPr>
              <a:t>猪の分布</a:t>
            </a:r>
            <a:r>
              <a:rPr lang="en-US" altLang="ja-JP"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15"/>
            </a:pPr>
            <a:r>
              <a:rPr lang="en-US" sz="1800" dirty="0">
                <a:solidFill>
                  <a:schemeClr val="dk1"/>
                </a:solidFill>
                <a:latin typeface="Calibri"/>
                <a:ea typeface="Calibri"/>
                <a:cs typeface="Calibri"/>
                <a:sym typeface="Calibri"/>
              </a:rPr>
              <a:t> 		print “&lt;form action</a:t>
            </a:r>
            <a:r>
              <a:rPr lang="en-US" altLang="ja-JP" sz="1800" dirty="0">
                <a:solidFill>
                  <a:schemeClr val="dk1"/>
                </a:solidFill>
                <a:latin typeface="Calibri"/>
                <a:ea typeface="Calibri"/>
                <a:cs typeface="Calibri"/>
                <a:sym typeface="Calibri"/>
              </a:rPr>
              <a:t>…</a:t>
            </a:r>
            <a:r>
              <a:rPr lang="en-US" sz="1800" dirty="0">
                <a:solidFill>
                  <a:schemeClr val="dk1"/>
                </a:solidFill>
                <a:latin typeface="Calibri"/>
                <a:ea typeface="Calibri"/>
                <a:cs typeface="Calibri"/>
                <a:sym typeface="Calibri"/>
              </a:rPr>
              <a:t>&gt;”</a:t>
            </a:r>
            <a:r>
              <a:rPr lang="ja-JP" altLang="en-US" sz="1800" dirty="0">
                <a:solidFill>
                  <a:schemeClr val="dk1"/>
                </a:solidFill>
                <a:latin typeface="Calibri"/>
                <a:ea typeface="Calibri"/>
                <a:cs typeface="Calibri"/>
                <a:sym typeface="Calibri"/>
              </a:rPr>
              <a:t>；</a:t>
            </a: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19"/>
            </a:pPr>
            <a:r>
              <a:rPr lang="en-US" sz="1800" dirty="0">
                <a:solidFill>
                  <a:schemeClr val="dk1"/>
                </a:solidFill>
                <a:latin typeface="Calibri"/>
                <a:ea typeface="Calibri"/>
                <a:cs typeface="Calibri"/>
                <a:sym typeface="Calibri"/>
              </a:rPr>
              <a:t> 		Print “&lt;/form&gt;”;</a:t>
            </a:r>
          </a:p>
          <a:p>
            <a:pPr marL="342900" marR="0" lvl="0" indent="-342900" algn="l" rtl="0">
              <a:spcBef>
                <a:spcPts val="0"/>
              </a:spcBef>
              <a:spcAft>
                <a:spcPts val="0"/>
              </a:spcAft>
              <a:buFont typeface="+mj-lt"/>
              <a:buAutoNum type="arabicPeriod" startAt="19"/>
            </a:pPr>
            <a:r>
              <a:rPr lang="en-US" sz="1800" dirty="0">
                <a:solidFill>
                  <a:schemeClr val="dk1"/>
                </a:solidFill>
                <a:latin typeface="Calibri"/>
                <a:ea typeface="Calibri"/>
                <a:cs typeface="Calibri"/>
                <a:sym typeface="Calibri"/>
              </a:rPr>
              <a:t> 	}elseif($value == “</a:t>
            </a:r>
            <a:r>
              <a:rPr lang="ja-JP" altLang="en-US" sz="1800" dirty="0">
                <a:solidFill>
                  <a:schemeClr val="dk1"/>
                </a:solidFill>
                <a:latin typeface="Calibri"/>
                <a:ea typeface="Calibri"/>
                <a:cs typeface="Calibri"/>
                <a:sym typeface="Calibri"/>
              </a:rPr>
              <a:t>熊類の分布</a:t>
            </a:r>
            <a:r>
              <a:rPr lang="en-US"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19"/>
            </a:pP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animal_list</a:t>
            </a:r>
            <a:r>
              <a:rPr lang="ja-JP" altLang="en-US" sz="1800" dirty="0">
                <a:solidFill>
                  <a:schemeClr val="dk1"/>
                </a:solidFill>
                <a:latin typeface="Calibri"/>
                <a:ea typeface="Calibri"/>
                <a:cs typeface="Calibri"/>
                <a:sym typeface="Calibri"/>
              </a:rPr>
              <a:t>の数</a:t>
            </a:r>
            <a:r>
              <a:rPr lang="en-US" altLang="ja-JP" sz="1800" dirty="0">
                <a:solidFill>
                  <a:schemeClr val="dk1"/>
                </a:solidFill>
                <a:latin typeface="Calibri"/>
                <a:ea typeface="Calibri"/>
                <a:cs typeface="Calibri"/>
                <a:sym typeface="Calibri"/>
              </a:rPr>
              <a:t>elseif</a:t>
            </a:r>
            <a:r>
              <a:rPr lang="ja-JP" altLang="en-US" sz="1800" dirty="0">
                <a:solidFill>
                  <a:schemeClr val="dk1"/>
                </a:solidFill>
                <a:latin typeface="Calibri"/>
                <a:ea typeface="Calibri"/>
                <a:cs typeface="Calibri"/>
                <a:sym typeface="Calibri"/>
              </a:rPr>
              <a:t>を作る。</a:t>
            </a: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32"/>
            </a:pPr>
            <a:r>
              <a:rPr lang="ja-JP" altLang="en-US" sz="1800" dirty="0">
                <a:solidFill>
                  <a:schemeClr val="dk1"/>
                </a:solidFill>
                <a:latin typeface="Calibri"/>
                <a:ea typeface="Calibri"/>
                <a:cs typeface="Calibri"/>
                <a:sym typeface="Calibri"/>
              </a:rPr>
              <a:t>　</a:t>
            </a:r>
            <a:r>
              <a:rPr lang="en-US" altLang="ja-JP" sz="1800" dirty="0">
                <a:solidFill>
                  <a:schemeClr val="dk1"/>
                </a:solidFill>
                <a:latin typeface="Calibri"/>
                <a:ea typeface="Calibri"/>
                <a:cs typeface="Calibri"/>
                <a:sym typeface="Calibri"/>
              </a:rPr>
              <a:t>	}else{print “</a:t>
            </a:r>
            <a:r>
              <a:rPr lang="en-US" altLang="ja-JP" sz="1800" dirty="0" err="1">
                <a:solidFill>
                  <a:schemeClr val="dk1"/>
                </a:solidFill>
                <a:latin typeface="Calibri"/>
                <a:ea typeface="Calibri"/>
                <a:cs typeface="Calibri"/>
                <a:sym typeface="Calibri"/>
              </a:rPr>
              <a:t>errar</a:t>
            </a:r>
            <a:r>
              <a:rPr lang="en-US" altLang="ja-JP"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32"/>
            </a:pPr>
            <a:r>
              <a:rPr lang="en-US" altLang="ja-JP" sz="1800" dirty="0">
                <a:solidFill>
                  <a:schemeClr val="dk1"/>
                </a:solidFill>
                <a:latin typeface="Calibri"/>
                <a:ea typeface="Calibri"/>
                <a:cs typeface="Calibri"/>
                <a:sym typeface="Calibri"/>
              </a:rPr>
              <a:t> 	}print “&lt;</a:t>
            </a:r>
            <a:r>
              <a:rPr lang="en-US" altLang="ja-JP" sz="1800" dirty="0" err="1">
                <a:solidFill>
                  <a:schemeClr val="dk1"/>
                </a:solidFill>
                <a:latin typeface="Calibri"/>
                <a:ea typeface="Calibri"/>
                <a:cs typeface="Calibri"/>
                <a:sym typeface="Calibri"/>
              </a:rPr>
              <a:t>br</a:t>
            </a:r>
            <a:r>
              <a:rPr lang="en-US" altLang="ja-JP" sz="1800" dirty="0">
                <a:solidFill>
                  <a:schemeClr val="dk1"/>
                </a:solidFill>
                <a:latin typeface="Calibri"/>
                <a:ea typeface="Calibri"/>
                <a:cs typeface="Calibri"/>
                <a:sym typeface="Calibri"/>
              </a:rPr>
              <a:t>&gt;\n”;</a:t>
            </a:r>
          </a:p>
          <a:p>
            <a:pPr marL="342900" marR="0" lvl="0" indent="-342900" algn="l" rtl="0">
              <a:spcBef>
                <a:spcPts val="0"/>
              </a:spcBef>
              <a:spcAft>
                <a:spcPts val="0"/>
              </a:spcAft>
              <a:buFont typeface="+mj-lt"/>
              <a:buAutoNum type="arabicPeriod" startAt="32"/>
            </a:pPr>
            <a:r>
              <a:rPr lang="en-US" altLang="ja-JP"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32"/>
            </a:pPr>
            <a:r>
              <a:rPr lang="en-US" altLang="ja-JP" sz="1800" dirty="0">
                <a:solidFill>
                  <a:schemeClr val="dk1"/>
                </a:solidFill>
                <a:latin typeface="Calibri"/>
                <a:ea typeface="Calibri"/>
                <a:cs typeface="Calibri"/>
                <a:sym typeface="Calibri"/>
              </a:rPr>
              <a:t>?&gt;</a:t>
            </a:r>
          </a:p>
        </p:txBody>
      </p:sp>
      <p:sp>
        <p:nvSpPr>
          <p:cNvPr id="2" name="Google Shape;323;p23">
            <a:extLst>
              <a:ext uri="{FF2B5EF4-FFF2-40B4-BE49-F238E27FC236}">
                <a16:creationId xmlns:a16="http://schemas.microsoft.com/office/drawing/2014/main" id="{3247E70C-D3D8-4A71-6680-8370634D95E8}"/>
              </a:ext>
            </a:extLst>
          </p:cNvPr>
          <p:cNvSpPr txBox="1"/>
          <p:nvPr/>
        </p:nvSpPr>
        <p:spPr>
          <a:xfrm>
            <a:off x="539552" y="1338118"/>
            <a:ext cx="367240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A23I093</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-2.php(</a:t>
            </a:r>
            <a:r>
              <a:rPr lang="ja-JP" altLang="en-US" sz="1800" dirty="0">
                <a:solidFill>
                  <a:schemeClr val="dk1"/>
                </a:solidFill>
                <a:latin typeface="Calibri"/>
                <a:ea typeface="Calibri"/>
                <a:cs typeface="Calibri"/>
                <a:sym typeface="Calibri"/>
              </a:rPr>
              <a:t>続き</a:t>
            </a:r>
            <a:r>
              <a:rPr lang="en-US" altLang="ja-JP" sz="1800" dirty="0">
                <a:solidFill>
                  <a:schemeClr val="dk1"/>
                </a:solidFill>
                <a:latin typeface="Calibri"/>
                <a:ea typeface="Calibri"/>
                <a:cs typeface="Calibri"/>
                <a:sym typeface="Calibri"/>
              </a:rPr>
              <a:t>)</a:t>
            </a:r>
            <a:endParaRPr sz="1800" dirty="0">
              <a:solidFill>
                <a:schemeClr val="dk1"/>
              </a:solidFill>
              <a:latin typeface="Calibri"/>
              <a:ea typeface="Calibri"/>
              <a:cs typeface="Calibri"/>
              <a:sym typeface="Calibri"/>
            </a:endParaRPr>
          </a:p>
        </p:txBody>
      </p:sp>
      <p:sp>
        <p:nvSpPr>
          <p:cNvPr id="3" name="Google Shape;323;p23">
            <a:extLst>
              <a:ext uri="{FF2B5EF4-FFF2-40B4-BE49-F238E27FC236}">
                <a16:creationId xmlns:a16="http://schemas.microsoft.com/office/drawing/2014/main" id="{67B41926-0161-0234-790F-C8976EBA1DFF}"/>
              </a:ext>
            </a:extLst>
          </p:cNvPr>
          <p:cNvSpPr txBox="1"/>
          <p:nvPr/>
        </p:nvSpPr>
        <p:spPr>
          <a:xfrm>
            <a:off x="4580384" y="1331476"/>
            <a:ext cx="367240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A23I093</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-3.php</a:t>
            </a:r>
            <a:endParaRPr sz="1800" dirty="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ja-JP" dirty="0"/>
              <a:t>付録(プログラムリスト)</a:t>
            </a:r>
            <a:r>
              <a:rPr lang="en-US" altLang="ja-JP" dirty="0"/>
              <a:t>4</a:t>
            </a:r>
            <a:endParaRPr dirty="0"/>
          </a:p>
        </p:txBody>
      </p:sp>
      <p:sp>
        <p:nvSpPr>
          <p:cNvPr id="338" name="Google Shape;338;p25"/>
          <p:cNvSpPr txBox="1"/>
          <p:nvPr/>
        </p:nvSpPr>
        <p:spPr>
          <a:xfrm>
            <a:off x="323528" y="1700808"/>
            <a:ext cx="3888432" cy="5078273"/>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Font typeface="+mj-lt"/>
              <a:buAutoNum type="arabicPeriod" startAt="5"/>
            </a:pPr>
            <a:r>
              <a:rPr lang="en-US" sz="1800" dirty="0">
                <a:solidFill>
                  <a:schemeClr val="dk1"/>
                </a:solidFill>
                <a:latin typeface="Calibri"/>
                <a:ea typeface="Calibri"/>
                <a:cs typeface="Calibri"/>
                <a:sym typeface="Calibri"/>
              </a:rPr>
              <a:t>&lt;?</a:t>
            </a:r>
            <a:r>
              <a:rPr lang="en-US" sz="1800" dirty="0" err="1">
                <a:solidFill>
                  <a:schemeClr val="dk1"/>
                </a:solidFill>
                <a:latin typeface="Calibri"/>
                <a:ea typeface="Calibri"/>
                <a:cs typeface="Calibri"/>
                <a:sym typeface="Calibri"/>
              </a:rPr>
              <a:t>php</a:t>
            </a: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10"/>
            </a:pPr>
            <a:r>
              <a:rPr lang="en-US" sz="1800" dirty="0">
                <a:solidFill>
                  <a:schemeClr val="dk1"/>
                </a:solidFill>
                <a:latin typeface="Calibri"/>
                <a:ea typeface="Calibri"/>
                <a:cs typeface="Calibri"/>
                <a:sym typeface="Calibri"/>
              </a:rPr>
              <a:t>$</a:t>
            </a:r>
            <a:r>
              <a:rPr lang="en-US" sz="1800" dirty="0" err="1">
                <a:solidFill>
                  <a:schemeClr val="dk1"/>
                </a:solidFill>
                <a:latin typeface="Calibri"/>
                <a:ea typeface="Calibri"/>
                <a:cs typeface="Calibri"/>
                <a:sym typeface="Calibri"/>
              </a:rPr>
              <a:t>tihou_table</a:t>
            </a:r>
            <a:r>
              <a:rPr lang="en-US" sz="1800" dirty="0">
                <a:solidFill>
                  <a:schemeClr val="dk1"/>
                </a:solidFill>
                <a:latin typeface="Calibri"/>
                <a:ea typeface="Calibri"/>
                <a:cs typeface="Calibri"/>
                <a:sym typeface="Calibri"/>
              </a:rPr>
              <a:t>[0]= “</a:t>
            </a:r>
            <a:r>
              <a:rPr lang="en-US" sz="1800" dirty="0" err="1">
                <a:solidFill>
                  <a:schemeClr val="dk1"/>
                </a:solidFill>
                <a:latin typeface="Calibri"/>
                <a:ea typeface="Calibri"/>
                <a:cs typeface="Calibri"/>
                <a:sym typeface="Calibri"/>
              </a:rPr>
              <a:t>inosisi</a:t>
            </a:r>
            <a:r>
              <a:rPr lang="en-US" sz="1800" dirty="0">
                <a:solidFill>
                  <a:schemeClr val="dk1"/>
                </a:solidFill>
                <a:latin typeface="Calibri"/>
                <a:ea typeface="Calibri"/>
                <a:cs typeface="Calibri"/>
                <a:sym typeface="Calibri"/>
              </a:rPr>
              <a:t>_</a:t>
            </a:r>
            <a:r>
              <a:rPr lang="ja-JP" altLang="en-US" sz="1800" dirty="0">
                <a:solidFill>
                  <a:schemeClr val="dk1"/>
                </a:solidFill>
                <a:latin typeface="Calibri"/>
                <a:ea typeface="Calibri"/>
                <a:cs typeface="Calibri"/>
                <a:sym typeface="Calibri"/>
              </a:rPr>
              <a:t>北海・東北</a:t>
            </a:r>
            <a:r>
              <a:rPr lang="en-US" sz="1800" dirty="0">
                <a:solidFill>
                  <a:schemeClr val="dk1"/>
                </a:solidFill>
                <a:latin typeface="Calibri"/>
                <a:ea typeface="Calibri"/>
                <a:cs typeface="Calibri"/>
                <a:sym typeface="Calibri"/>
              </a:rPr>
              <a:t>”;</a:t>
            </a:r>
          </a:p>
          <a:p>
            <a:pPr marR="0" lvl="0" algn="l" rtl="0">
              <a:spcBef>
                <a:spcPts val="0"/>
              </a:spcBef>
              <a:spcAft>
                <a:spcPts val="0"/>
              </a:spcAft>
            </a:pPr>
            <a:r>
              <a:rPr lang="ja-JP" altLang="en-US" sz="1800" dirty="0">
                <a:solidFill>
                  <a:schemeClr val="dk1"/>
                </a:solidFill>
                <a:latin typeface="Calibri"/>
                <a:ea typeface="Calibri"/>
                <a:cs typeface="Calibri"/>
                <a:sym typeface="Calibri"/>
              </a:rPr>
              <a:t>・・・テーブルの数作る。</a:t>
            </a:r>
            <a:endParaRPr lang="en-US" altLang="ja-JP" sz="1800" dirty="0">
              <a:solidFill>
                <a:schemeClr val="dk1"/>
              </a:solidFill>
              <a:latin typeface="Calibri"/>
              <a:ea typeface="Calibri"/>
              <a:cs typeface="Calibri"/>
              <a:sym typeface="Calibri"/>
            </a:endParaRPr>
          </a:p>
          <a:p>
            <a:pPr marR="0" lvl="0" algn="l" rtl="0">
              <a:spcBef>
                <a:spcPts val="0"/>
              </a:spcBef>
              <a:spcAft>
                <a:spcPts val="0"/>
              </a:spcAft>
            </a:pPr>
            <a:endParaRPr lang="en-US"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20"/>
            </a:pPr>
            <a:r>
              <a:rPr lang="en-US" sz="1800" dirty="0">
                <a:solidFill>
                  <a:schemeClr val="dk1"/>
                </a:solidFill>
                <a:latin typeface="Calibri"/>
                <a:ea typeface="Calibri"/>
                <a:cs typeface="Calibri"/>
                <a:sym typeface="Calibri"/>
              </a:rPr>
              <a:t>Foreach($</a:t>
            </a:r>
            <a:r>
              <a:rPr lang="en-US" sz="1800" dirty="0" err="1">
                <a:solidFill>
                  <a:schemeClr val="dk1"/>
                </a:solidFill>
                <a:latin typeface="Calibri"/>
                <a:ea typeface="Calibri"/>
                <a:cs typeface="Calibri"/>
                <a:sym typeface="Calibri"/>
              </a:rPr>
              <a:t>tihou_tabkle</a:t>
            </a:r>
            <a:r>
              <a:rPr lang="en-US" sz="1800" dirty="0">
                <a:solidFill>
                  <a:schemeClr val="dk1"/>
                </a:solidFill>
                <a:latin typeface="Calibri"/>
                <a:ea typeface="Calibri"/>
                <a:cs typeface="Calibri"/>
                <a:sym typeface="Calibri"/>
              </a:rPr>
              <a:t> as $id =&gt;$value){</a:t>
            </a:r>
          </a:p>
          <a:p>
            <a:pPr marL="342900" marR="0" lvl="0" indent="-342900" algn="l" rtl="0">
              <a:spcBef>
                <a:spcPts val="0"/>
              </a:spcBef>
              <a:spcAft>
                <a:spcPts val="0"/>
              </a:spcAft>
              <a:buFont typeface="+mj-lt"/>
              <a:buAutoNum type="arabicPeriod" startAt="20"/>
            </a:pPr>
            <a:r>
              <a:rPr lang="en-US" sz="1800" dirty="0">
                <a:solidFill>
                  <a:schemeClr val="dk1"/>
                </a:solidFill>
                <a:latin typeface="Calibri"/>
                <a:ea typeface="Calibri"/>
                <a:cs typeface="Calibri"/>
                <a:sym typeface="Calibri"/>
              </a:rPr>
              <a:t> 	print “&lt;input type=\”radio\” name=\”table\” value=\”{$value}\””</a:t>
            </a:r>
          </a:p>
          <a:p>
            <a:pPr marL="342900" marR="0" lvl="0" indent="-342900" algn="l" rtl="0">
              <a:spcBef>
                <a:spcPts val="0"/>
              </a:spcBef>
              <a:spcAft>
                <a:spcPts val="0"/>
              </a:spcAft>
              <a:buFont typeface="+mj-lt"/>
              <a:buAutoNum type="arabicPeriod" startAt="20"/>
            </a:pPr>
            <a:r>
              <a:rPr lang="en-US" sz="1800" dirty="0">
                <a:solidFill>
                  <a:schemeClr val="dk1"/>
                </a:solidFill>
                <a:latin typeface="Calibri"/>
                <a:ea typeface="Calibri"/>
                <a:cs typeface="Calibri"/>
                <a:sym typeface="Calibri"/>
              </a:rPr>
              <a:t> 	if($id == 0){</a:t>
            </a:r>
          </a:p>
          <a:p>
            <a:pPr marL="342900" marR="0" lvl="0" indent="-342900" algn="l" rtl="0">
              <a:spcBef>
                <a:spcPts val="0"/>
              </a:spcBef>
              <a:spcAft>
                <a:spcPts val="0"/>
              </a:spcAft>
              <a:buFont typeface="+mj-lt"/>
              <a:buAutoNum type="arabicPeriod" startAt="20"/>
            </a:pPr>
            <a:r>
              <a:rPr lang="en-US" sz="1800" dirty="0">
                <a:solidFill>
                  <a:schemeClr val="dk1"/>
                </a:solidFill>
                <a:latin typeface="Calibri"/>
                <a:ea typeface="Calibri"/>
                <a:cs typeface="Calibri"/>
                <a:sym typeface="Calibri"/>
              </a:rPr>
              <a:t> 		print “checked”;</a:t>
            </a:r>
          </a:p>
          <a:p>
            <a:pPr marL="342900" marR="0" lvl="0" indent="-342900" algn="l" rtl="0">
              <a:spcBef>
                <a:spcPts val="0"/>
              </a:spcBef>
              <a:spcAft>
                <a:spcPts val="0"/>
              </a:spcAft>
              <a:buFont typeface="+mj-lt"/>
              <a:buAutoNum type="arabicPeriod" startAt="20"/>
            </a:pPr>
            <a:r>
              <a:rPr lang="en-US" sz="1800" dirty="0">
                <a:solidFill>
                  <a:schemeClr val="dk1"/>
                </a:solidFill>
                <a:latin typeface="Calibri"/>
                <a:ea typeface="Calibri"/>
                <a:cs typeface="Calibri"/>
                <a:sym typeface="Calibri"/>
              </a:rPr>
              <a:t> 	}print “/&gt;”</a:t>
            </a:r>
          </a:p>
          <a:p>
            <a:pPr marL="342900" marR="0" lvl="0" indent="-342900" algn="l" rtl="0">
              <a:spcBef>
                <a:spcPts val="0"/>
              </a:spcBef>
              <a:spcAft>
                <a:spcPts val="0"/>
              </a:spcAft>
              <a:buFont typeface="+mj-lt"/>
              <a:buAutoNum type="arabicPeriod" startAt="20"/>
            </a:pPr>
            <a:r>
              <a:rPr lang="en-US" sz="1800" dirty="0">
                <a:solidFill>
                  <a:schemeClr val="dk1"/>
                </a:solidFill>
                <a:latin typeface="Calibri"/>
                <a:ea typeface="Calibri"/>
                <a:cs typeface="Calibri"/>
                <a:sym typeface="Calibri"/>
              </a:rPr>
              <a:t> 	print “{$value]”;</a:t>
            </a:r>
          </a:p>
          <a:p>
            <a:pPr marL="342900" marR="0" lvl="0" indent="-342900" algn="l" rtl="0">
              <a:spcBef>
                <a:spcPts val="0"/>
              </a:spcBef>
              <a:spcAft>
                <a:spcPts val="0"/>
              </a:spcAft>
              <a:buFont typeface="+mj-lt"/>
              <a:buAutoNum type="arabicPeriod" startAt="20"/>
            </a:pPr>
            <a:r>
              <a:rPr lang="en-US"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20"/>
            </a:pPr>
            <a:r>
              <a:rPr lang="en-US" sz="1800" dirty="0">
                <a:solidFill>
                  <a:schemeClr val="dk1"/>
                </a:solidFill>
                <a:latin typeface="Calibri"/>
                <a:ea typeface="Calibri"/>
                <a:cs typeface="Calibri"/>
                <a:sym typeface="Calibri"/>
              </a:rPr>
              <a:t>Print “&lt;input type =\”submit\” value = \”</a:t>
            </a:r>
            <a:r>
              <a:rPr lang="ja-JP" altLang="en-US" sz="1800" dirty="0">
                <a:solidFill>
                  <a:schemeClr val="dk1"/>
                </a:solidFill>
                <a:latin typeface="Calibri"/>
                <a:ea typeface="Calibri"/>
                <a:cs typeface="Calibri"/>
                <a:sym typeface="Calibri"/>
              </a:rPr>
              <a:t>送信</a:t>
            </a:r>
            <a:r>
              <a:rPr lang="en-US" sz="1800" dirty="0">
                <a:solidFill>
                  <a:schemeClr val="dk1"/>
                </a:solidFill>
                <a:latin typeface="Calibri"/>
                <a:ea typeface="Calibri"/>
                <a:cs typeface="Calibri"/>
                <a:sym typeface="Calibri"/>
              </a:rPr>
              <a:t>\”/&gt;”;</a:t>
            </a:r>
          </a:p>
          <a:p>
            <a:pPr marL="342900" marR="0" lvl="0" indent="-342900" algn="l" rtl="0">
              <a:spcBef>
                <a:spcPts val="0"/>
              </a:spcBef>
              <a:spcAft>
                <a:spcPts val="0"/>
              </a:spcAft>
              <a:buFont typeface="+mj-lt"/>
              <a:buAutoNum type="arabicPeriod" startAt="20"/>
            </a:pPr>
            <a:r>
              <a:rPr lang="en-US" sz="1800" dirty="0">
                <a:solidFill>
                  <a:schemeClr val="dk1"/>
                </a:solidFill>
                <a:latin typeface="Calibri"/>
                <a:ea typeface="Calibri"/>
                <a:cs typeface="Calibri"/>
                <a:sym typeface="Calibri"/>
              </a:rPr>
              <a:t>Print “&lt;/form&gt;”;</a:t>
            </a:r>
            <a:endParaRPr sz="1800" dirty="0">
              <a:solidFill>
                <a:schemeClr val="dk1"/>
              </a:solidFill>
              <a:latin typeface="Calibri"/>
              <a:ea typeface="Calibri"/>
              <a:cs typeface="Calibri"/>
              <a:sym typeface="Calibri"/>
            </a:endParaRPr>
          </a:p>
        </p:txBody>
      </p:sp>
      <p:sp>
        <p:nvSpPr>
          <p:cNvPr id="340" name="Google Shape;340;p25"/>
          <p:cNvSpPr txBox="1"/>
          <p:nvPr/>
        </p:nvSpPr>
        <p:spPr>
          <a:xfrm>
            <a:off x="4364360" y="1700808"/>
            <a:ext cx="3888432" cy="4801274"/>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342900" marR="0" lvl="0" indent="-342900" algn="l" rtl="0">
              <a:spcBef>
                <a:spcPts val="0"/>
              </a:spcBef>
              <a:spcAft>
                <a:spcPts val="0"/>
              </a:spcAft>
              <a:buFont typeface="+mj-lt"/>
              <a:buAutoNum type="arabicPeriod" startAt="31"/>
            </a:pP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pdo</a:t>
            </a:r>
            <a:r>
              <a:rPr lang="en-US" altLang="ja-JP" sz="1800" dirty="0">
                <a:solidFill>
                  <a:schemeClr val="dk1"/>
                </a:solidFill>
                <a:latin typeface="Calibri"/>
                <a:ea typeface="Calibri"/>
                <a:cs typeface="Calibri"/>
                <a:sym typeface="Calibri"/>
              </a:rPr>
              <a:t> = ‘</a:t>
            </a:r>
            <a:r>
              <a:rPr lang="en-US" altLang="ja-JP" sz="1800" dirty="0" err="1">
                <a:solidFill>
                  <a:schemeClr val="dk1"/>
                </a:solidFill>
                <a:latin typeface="Calibri"/>
                <a:ea typeface="Calibri"/>
                <a:cs typeface="Calibri"/>
                <a:sym typeface="Calibri"/>
              </a:rPr>
              <a:t>mysql:dbname</a:t>
            </a: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web_lastkadi_inosisi</a:t>
            </a:r>
            <a:r>
              <a:rPr lang="en-US" altLang="ja-JP" sz="1800" dirty="0">
                <a:solidFill>
                  <a:schemeClr val="dk1"/>
                </a:solidFill>
                <a:latin typeface="Calibri"/>
                <a:ea typeface="Calibri"/>
                <a:cs typeface="Calibri"/>
                <a:sym typeface="Calibri"/>
              </a:rPr>
              <a:t>; host=localhost’;</a:t>
            </a:r>
          </a:p>
          <a:p>
            <a:pPr marL="342900" marR="0" lvl="0" indent="-342900" algn="l" rtl="0">
              <a:spcBef>
                <a:spcPts val="0"/>
              </a:spcBef>
              <a:spcAft>
                <a:spcPts val="0"/>
              </a:spcAft>
              <a:buFont typeface="+mj-lt"/>
              <a:buAutoNum type="arabicPeriod" startAt="31"/>
            </a:pPr>
            <a:r>
              <a:rPr lang="en-US" altLang="ja-JP" sz="1800" dirty="0">
                <a:solidFill>
                  <a:schemeClr val="dk1"/>
                </a:solidFill>
                <a:latin typeface="Calibri"/>
                <a:ea typeface="Calibri"/>
                <a:cs typeface="Calibri"/>
                <a:sym typeface="Calibri"/>
              </a:rPr>
              <a:t>$user</a:t>
            </a:r>
            <a:r>
              <a:rPr lang="ja-JP" altLang="en-US" sz="1800" dirty="0">
                <a:solidFill>
                  <a:schemeClr val="dk1"/>
                </a:solidFill>
                <a:latin typeface="Calibri"/>
                <a:ea typeface="Calibri"/>
                <a:cs typeface="Calibri"/>
                <a:sym typeface="Calibri"/>
              </a:rPr>
              <a:t>＝</a:t>
            </a:r>
            <a:r>
              <a:rPr lang="en-US" altLang="ja-JP" sz="1800" dirty="0">
                <a:solidFill>
                  <a:schemeClr val="dk1"/>
                </a:solidFill>
                <a:latin typeface="Calibri"/>
                <a:ea typeface="Calibri"/>
                <a:cs typeface="Calibri"/>
                <a:sym typeface="Calibri"/>
              </a:rPr>
              <a:t>’root’;</a:t>
            </a:r>
          </a:p>
          <a:p>
            <a:pPr marL="342900" marR="0" lvl="0" indent="-342900" algn="l" rtl="0">
              <a:spcBef>
                <a:spcPts val="0"/>
              </a:spcBef>
              <a:spcAft>
                <a:spcPts val="0"/>
              </a:spcAft>
              <a:buFont typeface="+mj-lt"/>
              <a:buAutoNum type="arabicPeriod" startAt="31"/>
            </a:pPr>
            <a:r>
              <a:rPr lang="en-US" altLang="ja-JP" sz="1800" dirty="0">
                <a:solidFill>
                  <a:schemeClr val="dk1"/>
                </a:solidFill>
                <a:latin typeface="Calibri"/>
                <a:ea typeface="Calibri"/>
                <a:cs typeface="Calibri"/>
                <a:sym typeface="Calibri"/>
              </a:rPr>
              <a:t>$password = “”;</a:t>
            </a:r>
          </a:p>
          <a:p>
            <a:pPr marL="342900" marR="0" lvl="0" indent="-342900" algn="l" rtl="0">
              <a:spcBef>
                <a:spcPts val="0"/>
              </a:spcBef>
              <a:spcAft>
                <a:spcPts val="0"/>
              </a:spcAft>
              <a:buFont typeface="+mj-lt"/>
              <a:buAutoNum type="arabicPeriod" startAt="31"/>
            </a:pPr>
            <a:r>
              <a:rPr lang="en-US" altLang="ja-JP" sz="1800" dirty="0">
                <a:solidFill>
                  <a:schemeClr val="dk1"/>
                </a:solidFill>
                <a:latin typeface="Calibri"/>
                <a:ea typeface="Calibri"/>
                <a:cs typeface="Calibri"/>
                <a:sym typeface="Calibri"/>
              </a:rPr>
              <a:t>Try{</a:t>
            </a:r>
          </a:p>
          <a:p>
            <a:pPr marL="342900" marR="0" lvl="0" indent="-342900" algn="l" rtl="0">
              <a:spcBef>
                <a:spcPts val="0"/>
              </a:spcBef>
              <a:spcAft>
                <a:spcPts val="0"/>
              </a:spcAft>
              <a:buFont typeface="+mj-lt"/>
              <a:buAutoNum type="arabicPeriod" startAt="31"/>
            </a:pPr>
            <a:r>
              <a:rPr lang="en-US" altLang="ja-JP" sz="1800" dirty="0">
                <a:solidFill>
                  <a:schemeClr val="dk1"/>
                </a:solidFill>
                <a:latin typeface="Calibri"/>
                <a:ea typeface="Calibri"/>
                <a:cs typeface="Calibri"/>
                <a:sym typeface="Calibri"/>
              </a:rPr>
              <a:t> 	$</a:t>
            </a:r>
            <a:r>
              <a:rPr lang="en-US" altLang="ja-JP" sz="1800" dirty="0" err="1">
                <a:solidFill>
                  <a:schemeClr val="dk1"/>
                </a:solidFill>
                <a:latin typeface="Calibri"/>
                <a:ea typeface="Calibri"/>
                <a:cs typeface="Calibri"/>
                <a:sym typeface="Calibri"/>
              </a:rPr>
              <a:t>pdo</a:t>
            </a:r>
            <a:r>
              <a:rPr lang="en-US" altLang="ja-JP" sz="1800" dirty="0">
                <a:solidFill>
                  <a:schemeClr val="dk1"/>
                </a:solidFill>
                <a:latin typeface="Calibri"/>
                <a:ea typeface="Calibri"/>
                <a:cs typeface="Calibri"/>
                <a:sym typeface="Calibri"/>
              </a:rPr>
              <a:t> = new PDO($</a:t>
            </a:r>
            <a:r>
              <a:rPr lang="en-US" altLang="ja-JP" sz="1800" dirty="0" err="1">
                <a:solidFill>
                  <a:schemeClr val="dk1"/>
                </a:solidFill>
                <a:latin typeface="Calibri"/>
                <a:ea typeface="Calibri"/>
                <a:cs typeface="Calibri"/>
                <a:sym typeface="Calibri"/>
              </a:rPr>
              <a:t>pdo</a:t>
            </a:r>
            <a:r>
              <a:rPr lang="en-US" altLang="ja-JP" sz="1800" dirty="0">
                <a:solidFill>
                  <a:schemeClr val="dk1"/>
                </a:solidFill>
                <a:latin typeface="Calibri"/>
                <a:ea typeface="Calibri"/>
                <a:cs typeface="Calibri"/>
                <a:sym typeface="Calibri"/>
              </a:rPr>
              <a:t>, )}…</a:t>
            </a:r>
          </a:p>
          <a:p>
            <a:pPr marR="0" lvl="0" algn="l" rtl="0">
              <a:spcBef>
                <a:spcPts val="0"/>
              </a:spcBef>
              <a:spcAft>
                <a:spcPts val="0"/>
              </a:spcAft>
            </a:pPr>
            <a:r>
              <a:rPr lang="ja-JP" altLang="en-US" sz="1800" dirty="0">
                <a:solidFill>
                  <a:schemeClr val="dk1"/>
                </a:solidFill>
                <a:latin typeface="Calibri"/>
                <a:ea typeface="Calibri"/>
                <a:cs typeface="Calibri"/>
                <a:sym typeface="Calibri"/>
              </a:rPr>
              <a:t>↑表の表示をする</a:t>
            </a:r>
            <a:r>
              <a:rPr lang="en-US" altLang="ja-JP" sz="1800" dirty="0" err="1">
                <a:solidFill>
                  <a:schemeClr val="dk1"/>
                </a:solidFill>
                <a:latin typeface="Calibri"/>
                <a:ea typeface="Calibri"/>
                <a:cs typeface="Calibri"/>
                <a:sym typeface="Calibri"/>
              </a:rPr>
              <a:t>php</a:t>
            </a:r>
            <a:endParaRPr lang="en-US" altLang="ja-JP" sz="1800" dirty="0">
              <a:solidFill>
                <a:schemeClr val="dk1"/>
              </a:solidFill>
              <a:latin typeface="Calibri"/>
              <a:ea typeface="Calibri"/>
              <a:cs typeface="Calibri"/>
              <a:sym typeface="Calibri"/>
            </a:endParaRPr>
          </a:p>
          <a:p>
            <a:pPr marR="0" lvl="0" algn="l" rtl="0">
              <a:spcBef>
                <a:spcPts val="0"/>
              </a:spcBef>
              <a:spcAft>
                <a:spcPts val="0"/>
              </a:spcAft>
            </a:pP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86"/>
            </a:pP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eatch</a:t>
            </a:r>
            <a:r>
              <a:rPr lang="en-US" altLang="ja-JP" sz="1800" dirty="0">
                <a:solidFill>
                  <a:schemeClr val="dk1"/>
                </a:solidFill>
                <a:latin typeface="Calibri"/>
                <a:ea typeface="Calibri"/>
                <a:cs typeface="Calibri"/>
                <a:sym typeface="Calibri"/>
              </a:rPr>
              <a:t> (</a:t>
            </a:r>
            <a:r>
              <a:rPr lang="en-US" altLang="ja-JP" sz="1800" dirty="0" err="1">
                <a:solidFill>
                  <a:schemeClr val="dk1"/>
                </a:solidFill>
                <a:latin typeface="Calibri"/>
                <a:ea typeface="Calibri"/>
                <a:cs typeface="Calibri"/>
                <a:sym typeface="Calibri"/>
              </a:rPr>
              <a:t>PDOException</a:t>
            </a:r>
            <a:r>
              <a:rPr lang="en-US" altLang="ja-JP" sz="1800" dirty="0">
                <a:solidFill>
                  <a:schemeClr val="dk1"/>
                </a:solidFill>
                <a:latin typeface="Calibri"/>
                <a:ea typeface="Calibri"/>
                <a:cs typeface="Calibri"/>
                <a:sym typeface="Calibri"/>
              </a:rPr>
              <a:t> $e){</a:t>
            </a:r>
          </a:p>
          <a:p>
            <a:pPr marL="342900" marR="0" lvl="0" indent="-342900" algn="l" rtl="0">
              <a:spcBef>
                <a:spcPts val="0"/>
              </a:spcBef>
              <a:spcAft>
                <a:spcPts val="0"/>
              </a:spcAft>
              <a:buFont typeface="+mj-lt"/>
              <a:buAutoNum type="arabicPeriod" startAt="86"/>
            </a:pPr>
            <a:r>
              <a:rPr lang="en-US" altLang="ja-JP" sz="1800" dirty="0">
                <a:solidFill>
                  <a:schemeClr val="dk1"/>
                </a:solidFill>
                <a:latin typeface="Calibri"/>
                <a:ea typeface="Calibri"/>
                <a:cs typeface="Calibri"/>
                <a:sym typeface="Calibri"/>
              </a:rPr>
              <a:t> 	echo “Error: “ .$e-&gt;</a:t>
            </a:r>
            <a:r>
              <a:rPr lang="en-US" altLang="ja-JP" sz="1800" dirty="0" err="1">
                <a:solidFill>
                  <a:schemeClr val="dk1"/>
                </a:solidFill>
                <a:latin typeface="Calibri"/>
                <a:ea typeface="Calibri"/>
                <a:cs typeface="Calibri"/>
                <a:sym typeface="Calibri"/>
              </a:rPr>
              <a:t>getmessage</a:t>
            </a:r>
            <a:r>
              <a:rPr lang="en-US" altLang="ja-JP"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86"/>
            </a:pPr>
            <a:r>
              <a:rPr lang="en-US" altLang="ja-JP" sz="1800" dirty="0">
                <a:solidFill>
                  <a:schemeClr val="dk1"/>
                </a:solidFill>
                <a:latin typeface="Calibri"/>
                <a:ea typeface="Calibri"/>
                <a:cs typeface="Calibri"/>
                <a:sym typeface="Calibri"/>
              </a:rPr>
              <a:t>}</a:t>
            </a:r>
          </a:p>
          <a:p>
            <a:pPr marL="342900" marR="0" lvl="0" indent="-342900" algn="l" rtl="0">
              <a:spcBef>
                <a:spcPts val="0"/>
              </a:spcBef>
              <a:spcAft>
                <a:spcPts val="0"/>
              </a:spcAft>
              <a:buFont typeface="+mj-lt"/>
              <a:buAutoNum type="arabicPeriod" startAt="86"/>
            </a:pPr>
            <a:r>
              <a:rPr lang="en-US" altLang="ja-JP" sz="1800" dirty="0">
                <a:solidFill>
                  <a:schemeClr val="dk1"/>
                </a:solidFill>
                <a:latin typeface="Calibri"/>
                <a:ea typeface="Calibri"/>
                <a:cs typeface="Calibri"/>
                <a:sym typeface="Calibri"/>
              </a:rPr>
              <a:t>Print “&lt;form action=\”A23I093</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-3.php\”&gt;”</a:t>
            </a:r>
            <a:r>
              <a:rPr lang="ja-JP" altLang="en-US" sz="1800" dirty="0">
                <a:solidFill>
                  <a:schemeClr val="dk1"/>
                </a:solidFill>
                <a:latin typeface="Calibri"/>
                <a:ea typeface="Calibri"/>
                <a:cs typeface="Calibri"/>
                <a:sym typeface="Calibri"/>
              </a:rPr>
              <a:t>・・・</a:t>
            </a:r>
            <a:endParaRPr lang="en-US" altLang="ja-JP" sz="1800" dirty="0">
              <a:solidFill>
                <a:schemeClr val="dk1"/>
              </a:solidFill>
              <a:latin typeface="Calibri"/>
              <a:ea typeface="Calibri"/>
              <a:cs typeface="Calibri"/>
              <a:sym typeface="Calibri"/>
            </a:endParaRPr>
          </a:p>
          <a:p>
            <a:pPr marL="342900" marR="0" lvl="0" indent="-342900" algn="l" rtl="0">
              <a:spcBef>
                <a:spcPts val="0"/>
              </a:spcBef>
              <a:spcAft>
                <a:spcPts val="0"/>
              </a:spcAft>
              <a:buFont typeface="+mj-lt"/>
              <a:buAutoNum type="arabicPeriod" startAt="91"/>
            </a:pPr>
            <a:r>
              <a:rPr lang="en-US" altLang="ja-JP" sz="1800" dirty="0">
                <a:solidFill>
                  <a:schemeClr val="dk1"/>
                </a:solidFill>
                <a:latin typeface="Calibri"/>
                <a:ea typeface="Calibri"/>
                <a:cs typeface="Calibri"/>
                <a:sym typeface="Calibri"/>
              </a:rPr>
              <a:t>Print “&lt;/form&gt;”;</a:t>
            </a:r>
          </a:p>
          <a:p>
            <a:pPr marL="342900" marR="0" lvl="0" indent="-342900" algn="l" rtl="0">
              <a:spcBef>
                <a:spcPts val="0"/>
              </a:spcBef>
              <a:spcAft>
                <a:spcPts val="0"/>
              </a:spcAft>
              <a:buFont typeface="+mj-lt"/>
              <a:buAutoNum type="arabicPeriod" startAt="91"/>
            </a:pPr>
            <a:r>
              <a:rPr lang="en-US" altLang="ja-JP" sz="1800">
                <a:solidFill>
                  <a:schemeClr val="dk1"/>
                </a:solidFill>
                <a:latin typeface="Calibri"/>
                <a:ea typeface="Calibri"/>
                <a:cs typeface="Calibri"/>
                <a:sym typeface="Calibri"/>
              </a:rPr>
              <a:t>?&gt;</a:t>
            </a:r>
          </a:p>
        </p:txBody>
      </p:sp>
      <p:sp>
        <p:nvSpPr>
          <p:cNvPr id="2" name="Google Shape;323;p23">
            <a:extLst>
              <a:ext uri="{FF2B5EF4-FFF2-40B4-BE49-F238E27FC236}">
                <a16:creationId xmlns:a16="http://schemas.microsoft.com/office/drawing/2014/main" id="{3247E70C-D3D8-4A71-6680-8370634D95E8}"/>
              </a:ext>
            </a:extLst>
          </p:cNvPr>
          <p:cNvSpPr txBox="1"/>
          <p:nvPr/>
        </p:nvSpPr>
        <p:spPr>
          <a:xfrm>
            <a:off x="539552" y="1338118"/>
            <a:ext cx="367240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A23I093</a:t>
            </a:r>
            <a:r>
              <a:rPr lang="ja-JP" altLang="en-US" sz="1800" dirty="0">
                <a:solidFill>
                  <a:schemeClr val="dk1"/>
                </a:solidFill>
                <a:latin typeface="Calibri"/>
                <a:ea typeface="Calibri"/>
                <a:cs typeface="Calibri"/>
                <a:sym typeface="Calibri"/>
              </a:rPr>
              <a:t>最終課題</a:t>
            </a:r>
            <a:r>
              <a:rPr lang="en-US" altLang="ja-JP" sz="1800" dirty="0">
                <a:solidFill>
                  <a:schemeClr val="dk1"/>
                </a:solidFill>
                <a:latin typeface="Calibri"/>
                <a:ea typeface="Calibri"/>
                <a:cs typeface="Calibri"/>
                <a:sym typeface="Calibri"/>
              </a:rPr>
              <a:t>-</a:t>
            </a:r>
            <a:r>
              <a:rPr lang="en-US" altLang="ja-JP" sz="1800" dirty="0" err="1">
                <a:solidFill>
                  <a:schemeClr val="dk1"/>
                </a:solidFill>
                <a:latin typeface="Calibri"/>
                <a:ea typeface="Calibri"/>
                <a:cs typeface="Calibri"/>
                <a:sym typeface="Calibri"/>
              </a:rPr>
              <a:t>inosisi.php</a:t>
            </a:r>
            <a:endParaRPr sz="1800"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50481131"/>
      </p:ext>
    </p:extLst>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450</TotalTime>
  <Words>3042</Words>
  <Application>Microsoft Office PowerPoint</Application>
  <PresentationFormat>画面に合わせる (4:3)</PresentationFormat>
  <Paragraphs>270</Paragraphs>
  <Slides>21</Slides>
  <Notes>21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21</vt:i4>
      </vt:variant>
    </vt:vector>
  </HeadingPairs>
  <TitlesOfParts>
    <vt:vector size="26" baseType="lpstr">
      <vt:lpstr>HGSｺﾞｼｯｸM</vt:lpstr>
      <vt:lpstr>ＭＳ Ｐゴシック</vt:lpstr>
      <vt:lpstr>Arial</vt:lpstr>
      <vt:lpstr>Calibri</vt:lpstr>
      <vt:lpstr>Office ​​テーマ</vt:lpstr>
      <vt:lpstr>WebプログラミングII最終課題</vt:lpstr>
      <vt:lpstr>1. プログラムの内容</vt:lpstr>
      <vt:lpstr>2. プログラムの動作</vt:lpstr>
      <vt:lpstr>3. Webページのデザイン</vt:lpstr>
      <vt:lpstr>3. Webページのデザイン</vt:lpstr>
      <vt:lpstr>4. プログラムの説明</vt:lpstr>
      <vt:lpstr>4. プログラムの説明</vt:lpstr>
      <vt:lpstr>PowerPoint プレゼンテーション</vt:lpstr>
      <vt:lpstr>4.4　プログラムとデータベースとの関係</vt:lpstr>
      <vt:lpstr>5. データベースの仕様</vt:lpstr>
      <vt:lpstr>5. データベースの仕様</vt:lpstr>
      <vt:lpstr>7. 実行結果(1)</vt:lpstr>
      <vt:lpstr>7. 実行結果(2)</vt:lpstr>
      <vt:lpstr>7. 実行結果(3)</vt:lpstr>
      <vt:lpstr>8. 実行結果(想定と違う場合)</vt:lpstr>
      <vt:lpstr>9.アピールポイント</vt:lpstr>
      <vt:lpstr>１0.予定と実際の相違点</vt:lpstr>
      <vt:lpstr>付録(プログラムリスト)1</vt:lpstr>
      <vt:lpstr>付録(プログラムリスト)2</vt:lpstr>
      <vt:lpstr>付録(プログラムリスト)3</vt:lpstr>
      <vt:lpstr>付録(プログラムリスト)4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WebプログラミングII最終課題</dc:title>
  <dc:creator>shiina</dc:creator>
  <cp:lastModifiedBy>student</cp:lastModifiedBy>
  <cp:revision>12</cp:revision>
  <dcterms:created xsi:type="dcterms:W3CDTF">2015-07-02T09:09:40Z</dcterms:created>
  <dcterms:modified xsi:type="dcterms:W3CDTF">2024-08-06T01:19:28Z</dcterms:modified>
</cp:coreProperties>
</file>